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309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308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</p:sldIdLst>
  <p:sldSz cx="9144000" cy="5143500" type="screen16x9"/>
  <p:notesSz cx="6858000" cy="9144000"/>
  <p:defaultTextStyle>
    <a:defPPr>
      <a:defRPr lang="en-L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07"/>
    <p:restoredTop sz="84149"/>
  </p:normalViewPr>
  <p:slideViewPr>
    <p:cSldViewPr snapToGrid="0" snapToObjects="1">
      <p:cViewPr>
        <p:scale>
          <a:sx n="168" d="100"/>
          <a:sy n="168" d="100"/>
        </p:scale>
        <p:origin x="11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Welcome everyone and explain the goal: understand what LLMs do, then learn how to use them safely in software work.</a:t>
            </a:r>
          </a:p>
          <a:p>
            <a:r>
              <a:rPr dirty="0"/>
              <a:t>• This workshop starts with the model itself. It then adds prompts, tools, reusable skills, and engineering controls.</a:t>
            </a:r>
          </a:p>
          <a:p>
            <a:r>
              <a:rPr dirty="0"/>
              <a:t>• Set expectations: participants do not need machine-learning experience. The examples build from simple ideas.</a:t>
            </a:r>
          </a:p>
          <a:p>
            <a:r>
              <a:rPr dirty="0"/>
              <a:t>• By the end, participants should be able to explain why an answer can sound confident and still be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Walk through all eight parts so participants understand the path.</a:t>
            </a:r>
          </a:p>
          <a:p>
            <a:r>
              <a:rPr dirty="0"/>
              <a:t>• Parts 1 and 2 explain the model and let participants run one locally.</a:t>
            </a:r>
          </a:p>
          <a:p>
            <a:r>
              <a:rPr dirty="0"/>
              <a:t>• Parts 3 to 5 show how to guide the model, connect tools, and reuse workflows.</a:t>
            </a:r>
          </a:p>
          <a:p>
            <a:r>
              <a:rPr dirty="0"/>
              <a:t>• Parts 6 and 7 cover agents, retrieval, and the engineering controls needed for real systems.</a:t>
            </a:r>
          </a:p>
          <a:p>
            <a:r>
              <a:rPr dirty="0"/>
              <a:t>• The final part gives resources for continued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AI is the broad name for software that performs tasks which normally require human judgment or perception.</a:t>
            </a:r>
          </a:p>
          <a:p>
            <a:r>
              <a:rPr dirty="0"/>
              <a:t>• Examples include </a:t>
            </a:r>
            <a:r>
              <a:rPr dirty="0" err="1"/>
              <a:t>recognising</a:t>
            </a:r>
            <a:r>
              <a:rPr dirty="0"/>
              <a:t> a face, recommending a product, planning a route, or generating text.</a:t>
            </a:r>
          </a:p>
          <a:p>
            <a:r>
              <a:rPr dirty="0"/>
              <a:t>• AI does not mean that the machine thinks like a person. It means the system produces useful </a:t>
            </a:r>
            <a:r>
              <a:rPr dirty="0" err="1"/>
              <a:t>behaviour</a:t>
            </a:r>
            <a:r>
              <a:rPr dirty="0"/>
              <a:t> for a task.</a:t>
            </a:r>
          </a:p>
          <a:p>
            <a:r>
              <a:rPr dirty="0"/>
              <a:t>• Some AI systems follow hand-written rules. Others learn patterns from data.</a:t>
            </a:r>
          </a:p>
          <a:p>
            <a:r>
              <a:rPr dirty="0"/>
              <a:t>• Use a familiar example: a navigation app chooses a route using map data, traffic information, and an </a:t>
            </a:r>
            <a:r>
              <a:rPr dirty="0" err="1"/>
              <a:t>optimisation</a:t>
            </a:r>
            <a:r>
              <a:rPr dirty="0"/>
              <a:t> method.</a:t>
            </a:r>
          </a:p>
          <a:p>
            <a:endParaRPr dirty="0"/>
          </a:p>
          <a:p>
            <a:r>
              <a:rPr dirty="0"/>
              <a:t>Icon source: </a:t>
            </a:r>
            <a:r>
              <a:rPr dirty="0" err="1"/>
              <a:t>Lucide</a:t>
            </a:r>
            <a:r>
              <a:rPr dirty="0"/>
              <a:t> Icons (ISC License), https://</a:t>
            </a:r>
            <a:r>
              <a:rPr dirty="0" err="1"/>
              <a:t>lucide.dev</a:t>
            </a:r>
            <a:r>
              <a:rPr dirty="0"/>
              <a:t>/icons/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AI is the outer category. It includes any system designed to perform tasks associated with human intelligence.</a:t>
            </a:r>
          </a:p>
          <a:p>
            <a:r>
              <a:rPr dirty="0"/>
              <a:t>• Example of AI outside modern machine learning: a rule-based chess program can examine legal moves and choose one using programmed rules.</a:t>
            </a:r>
          </a:p>
          <a:p>
            <a:r>
              <a:rPr dirty="0"/>
              <a:t>• Machine learning is a way to build AI by learning patterns from examples instead of writing every rule manually.</a:t>
            </a:r>
          </a:p>
          <a:p>
            <a:r>
              <a:rPr dirty="0"/>
              <a:t>• Example of machine learning: train a spam filter on messages labelled spam or not spam. It learns patterns and predicts the label for a new message.</a:t>
            </a:r>
          </a:p>
          <a:p>
            <a:r>
              <a:rPr dirty="0"/>
              <a:t>• Deep learning is a type of machine learning that uses neural networks with many layers. Each layer transforms the data and learns increasingly useful features.</a:t>
            </a:r>
          </a:p>
          <a:p>
            <a:r>
              <a:rPr dirty="0"/>
              <a:t>• Example of deep learning: early layers in an image model may react to edges, while later layers combine them into shapes and objects such as a bicycle.</a:t>
            </a:r>
          </a:p>
          <a:p>
            <a:r>
              <a:rPr dirty="0"/>
              <a:t>• Generative AI is usually built with deep learning and creates new content that resembles patterns in its training data.</a:t>
            </a:r>
          </a:p>
          <a:p>
            <a:r>
              <a:rPr dirty="0"/>
              <a:t>• Examples of generative AI include writing an email, producing an image from a description, generating speech, or suggesting code.</a:t>
            </a:r>
          </a:p>
          <a:p>
            <a:r>
              <a:rPr dirty="0"/>
              <a:t>• </a:t>
            </a:r>
            <a:r>
              <a:rPr dirty="0" err="1"/>
              <a:t>Emphasise</a:t>
            </a:r>
            <a:r>
              <a:rPr dirty="0"/>
              <a:t> the nesting: all generative AI shown here is deep learning, but most deep-learning systems are not generative. A fraud classifier predicts a label; it does not create new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Start with generative AI from the previous slide: it is the broad category for systems that create new content.</a:t>
            </a:r>
          </a:p>
          <a:p>
            <a:r>
              <a:rPr dirty="0"/>
              <a:t>• A large language model, or LLM, is a generative model trained mainly on text. It reads and produces tokens, which are small pieces of text.</a:t>
            </a:r>
          </a:p>
          <a:p>
            <a:r>
              <a:rPr dirty="0"/>
              <a:t>• Example of an LLM task: continue 'The deployment failed because...' with a likely explanation, or answer a question using the text placed in its context.</a:t>
            </a:r>
          </a:p>
          <a:p>
            <a:r>
              <a:rPr dirty="0"/>
              <a:t>• GPT stands for Generative Pretrained Transformer. Generative means it produces content. Pretrained means it first learns from a large dataset. Transformer names the neural-network architecture. GPT refers to a family of LLMs built this way.</a:t>
            </a:r>
          </a:p>
          <a:p>
            <a:r>
              <a:rPr dirty="0"/>
              <a:t>• Example: different GPT model versions can have different sizes and capabilities, but they use the same broad next-token prediction idea.</a:t>
            </a:r>
          </a:p>
          <a:p>
            <a:r>
              <a:rPr dirty="0"/>
              <a:t>• ChatGPT is a product, not just a raw model. It provides the chat interface and may add system instructions, tools, file handling, safety controls, and other application features around one or more models.</a:t>
            </a:r>
          </a:p>
          <a:p>
            <a:r>
              <a:rPr dirty="0"/>
              <a:t>• Example: a raw GPT model receives text and returns text. ChatGPT can also manage a conversation, accept a file, call an available tool, and display the result.</a:t>
            </a:r>
          </a:p>
          <a:p>
            <a:r>
              <a:rPr dirty="0"/>
              <a:t>• Clarify the diagram: it shows the relationship conceptually. ChatGPT uses GPT models, but a product is not literally a smaller model category inside GPT.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An LLM cannot read text directly. The tokenizer first splits text into tokens and converts each token into an ID.</a:t>
            </a:r>
          </a:p>
          <a:p>
            <a:r>
              <a:rPr dirty="0"/>
              <a:t>• A token can be a whole word, part of a word, punctuation, or a space. Common text may use fewer tokens than unusual names or code.</a:t>
            </a:r>
          </a:p>
          <a:p>
            <a:r>
              <a:rPr dirty="0"/>
              <a:t>• In the example, 'learning' becomes 'learn' and '</a:t>
            </a:r>
            <a:r>
              <a:rPr dirty="0" err="1"/>
              <a:t>ing</a:t>
            </a:r>
            <a:r>
              <a:rPr dirty="0"/>
              <a:t>'. Another tokenizer may split the same word differently.</a:t>
            </a:r>
          </a:p>
          <a:p>
            <a:r>
              <a:rPr dirty="0"/>
              <a:t>• Token count matters because model limits and API costs are usually measured in tokens, not words.</a:t>
            </a:r>
          </a:p>
          <a:p>
            <a:r>
              <a:rPr dirty="0"/>
              <a:t>• Example: a long JSON document may use many tokens because punctuation, field names, and repeated values all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230A3-2CF7-1483-3E89-92ABBFD71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E8AFAD-D145-1F18-8554-7F82C7CBF6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1E6ED5-4307-A6B6-F3CC-19488DE021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After </a:t>
            </a:r>
            <a:r>
              <a:rPr dirty="0" err="1"/>
              <a:t>tokenisation</a:t>
            </a:r>
            <a:r>
              <a:rPr dirty="0"/>
              <a:t>, the model turns every token ID into a vector: a list of numbers.</a:t>
            </a:r>
          </a:p>
          <a:p>
            <a:r>
              <a:rPr dirty="0"/>
              <a:t>• The numbers are learned representations. They let the model calculate relationships and transform information mathematically.</a:t>
            </a:r>
          </a:p>
          <a:p>
            <a:r>
              <a:rPr dirty="0"/>
              <a:t>• Do not assign a simple human label to every number. Meaning is distributed across many dimensions.</a:t>
            </a:r>
          </a:p>
          <a:p>
            <a:r>
              <a:rPr dirty="0"/>
              <a:t>• Example: the representation of 'bank' changes with context. 'River bank' and 'bank account' use the same word but surrounding tokens push the representation toward different meanings.</a:t>
            </a:r>
          </a:p>
          <a:p>
            <a:r>
              <a:rPr dirty="0"/>
              <a:t>• The model then uses all current token representations to predict what should follow the sentence.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1870B-5D5F-21FF-7D8C-01C0E537456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739640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Weights are the learned numbers stored in the model file. Training adjusts them by showing the model many examples and measuring prediction errors.</a:t>
            </a:r>
          </a:p>
          <a:p>
            <a:r>
              <a:rPr dirty="0"/>
              <a:t>• During inference, which means normal model use, the model applies those fixed weights to the token vectors layer after layer.</a:t>
            </a:r>
          </a:p>
          <a:p>
            <a:r>
              <a:rPr dirty="0"/>
              <a:t>• Each layer produces new vectors that contain more information about the surrounding context.</a:t>
            </a:r>
          </a:p>
          <a:p>
            <a:r>
              <a:rPr dirty="0"/>
              <a:t>• Example: the vector for 'it' can absorb information from earlier words and come to represent the object that 'it' refers to.</a:t>
            </a:r>
          </a:p>
          <a:p>
            <a:r>
              <a:rPr dirty="0"/>
              <a:t>• The model is not searching a database of complete answers. It is calculating a new continuation from tokens, vectors, and weights.</a:t>
            </a:r>
            <a:endParaRPr lang="en-US" dirty="0"/>
          </a:p>
          <a:p>
            <a:r>
              <a:rPr lang="en-LT" dirty="0"/>
              <a:t>However, the formula itself is a way more complex, more detailed explanation couold be found here: </a:t>
            </a:r>
            <a:r>
              <a:rPr lang="en-GB" dirty="0"/>
              <a:t>https://</a:t>
            </a:r>
            <a:r>
              <a:rPr lang="en-GB" dirty="0" err="1"/>
              <a:t>www.youtube.com</a:t>
            </a:r>
            <a:r>
              <a:rPr lang="en-GB" dirty="0"/>
              <a:t>/</a:t>
            </a:r>
            <a:r>
              <a:rPr lang="en-GB" dirty="0" err="1"/>
              <a:t>watch?v</a:t>
            </a:r>
            <a:r>
              <a:rPr lang="en-GB" dirty="0"/>
              <a:t>=zxQyTK8quyY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The final layers convert the current representation into a score for every possible next token.</a:t>
            </a:r>
          </a:p>
          <a:p>
            <a:r>
              <a:rPr dirty="0"/>
              <a:t>• A </a:t>
            </a:r>
            <a:r>
              <a:rPr dirty="0" err="1"/>
              <a:t>softmax</a:t>
            </a:r>
            <a:r>
              <a:rPr dirty="0"/>
              <a:t> calculation turns those scores into probabilities that add up to 100 percent.</a:t>
            </a:r>
          </a:p>
          <a:p>
            <a:r>
              <a:rPr dirty="0"/>
              <a:t>• In this example, 'car' has the highest probability, but the model may choose another likely token depending on its sampling settings.</a:t>
            </a:r>
          </a:p>
          <a:p>
            <a:r>
              <a:rPr dirty="0"/>
              <a:t>• Temperature controls how strongly generation </a:t>
            </a:r>
            <a:r>
              <a:rPr dirty="0" err="1"/>
              <a:t>favours</a:t>
            </a:r>
            <a:r>
              <a:rPr dirty="0"/>
              <a:t> the highest-probability choices. Lower temperature is usually more predictable; higher temperature allows more variation.</a:t>
            </a:r>
          </a:p>
          <a:p>
            <a:r>
              <a:rPr dirty="0"/>
              <a:t>• After choosing one token, the model adds it to the context and repeats the whole process. That repetition produces sentences one token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• </a:t>
            </a:r>
            <a:r>
              <a:rPr lang="en-GB" sz="1200" b="0" i="0" kern="1200" dirty="0">
                <a:effectLst/>
              </a:rPr>
              <a:t>"Attention Is All You Need" is a 2017 research paper on machine learning authored by eight scientists and engineers working at Google. The paper introduced a new deep learning architecture known as the transformer, based on the attention mechanism proposed in 2014 by </a:t>
            </a:r>
            <a:r>
              <a:rPr lang="en-GB" sz="1200" b="0" i="0" kern="1200" dirty="0" err="1">
                <a:effectLst/>
              </a:rPr>
              <a:t>Bahdanau</a:t>
            </a:r>
            <a:r>
              <a:rPr lang="en-GB" sz="1200" b="0" i="0" kern="1200" dirty="0">
                <a:effectLst/>
              </a:rPr>
              <a:t> et al.</a:t>
            </a:r>
            <a:r>
              <a:rPr lang="en-GB" dirty="0"/>
              <a:t>  </a:t>
            </a:r>
            <a:endParaRPr lang="en-US" dirty="0"/>
          </a:p>
          <a:p>
            <a:r>
              <a:rPr dirty="0"/>
              <a:t>• Attention lets each token representation use information from other relevant tokens in the same context.</a:t>
            </a:r>
          </a:p>
          <a:p>
            <a:r>
              <a:rPr dirty="0"/>
              <a:t>• Example: in 'The animal did not cross the road because it was tired', the representation of 'it' needs information from earlier words to capture the likely meaning.</a:t>
            </a:r>
          </a:p>
          <a:p>
            <a:r>
              <a:rPr dirty="0"/>
              <a:t>• The Transformer is the full architecture. It combines attention with other learned transformations and repeats them across many layers.</a:t>
            </a:r>
          </a:p>
          <a:p>
            <a:r>
              <a:rPr dirty="0"/>
              <a:t>• GPT is an autoregressive LLM. Autoregressive means it predicts the next token using the tokens that came before, adds the new token, and predicts again.</a:t>
            </a:r>
          </a:p>
          <a:p>
            <a:r>
              <a:rPr dirty="0"/>
              <a:t>• The model does not plan an entire paragraph first and then reveal it. Generation happens step by step, even when the final answer looks carefully written.</a:t>
            </a:r>
          </a:p>
          <a:p>
            <a:endParaRPr dirty="0"/>
          </a:p>
          <a:p>
            <a:r>
              <a:rPr dirty="0"/>
              <a:t>• Source: https://</a:t>
            </a:r>
            <a:r>
              <a:rPr dirty="0" err="1"/>
              <a:t>arxiv.org</a:t>
            </a:r>
            <a:r>
              <a:rPr dirty="0"/>
              <a:t>/abs/1706.03762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The context window is the maximum number of tokens the model can process in one request.</a:t>
            </a:r>
          </a:p>
          <a:p>
            <a:r>
              <a:rPr dirty="0"/>
              <a:t>• Think of it as the model's working desk. Only the material placed on the desk for this request is available while it answers.</a:t>
            </a:r>
          </a:p>
          <a:p>
            <a:r>
              <a:rPr dirty="0"/>
              <a:t>• The context may contain the system prompt, current question, selected earlier messages, tool descriptions, retrieved documents, and space for generated output.</a:t>
            </a:r>
          </a:p>
          <a:p>
            <a:r>
              <a:rPr dirty="0"/>
              <a:t>• Example: if the limit is reached, an application may remove old messages or </a:t>
            </a:r>
            <a:r>
              <a:rPr dirty="0" err="1"/>
              <a:t>summarise</a:t>
            </a:r>
            <a:r>
              <a:rPr dirty="0"/>
              <a:t> them before sending the next request.</a:t>
            </a:r>
          </a:p>
          <a:p>
            <a:r>
              <a:rPr dirty="0"/>
              <a:t>• A long chat does not guarantee perfect memory. The application decides which previous information to send again, and </a:t>
            </a:r>
            <a:r>
              <a:rPr dirty="0" err="1"/>
              <a:t>summarisation</a:t>
            </a:r>
            <a:r>
              <a:rPr dirty="0"/>
              <a:t> can lose detail.</a:t>
            </a:r>
          </a:p>
          <a:p>
            <a:endParaRPr dirty="0"/>
          </a:p>
          <a:p>
            <a:r>
              <a:rPr dirty="0"/>
              <a:t>• Source: https://</a:t>
            </a:r>
            <a:r>
              <a:rPr dirty="0" err="1"/>
              <a:t>platform.openai.com</a:t>
            </a:r>
            <a:r>
              <a:rPr dirty="0"/>
              <a:t>/docs/</a:t>
            </a:r>
            <a:r>
              <a:rPr dirty="0" err="1"/>
              <a:t>concepts#context-window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Hallucination means the model produces unsupported or incorrect information in a fluent form. Confidence is a writing style, not a certificate of truth.</a:t>
            </a:r>
          </a:p>
          <a:p>
            <a:r>
              <a:rPr dirty="0"/>
              <a:t>• Example: ask for a function from a library that does not exist. The model may invent a plausible function name because it fits the text pattern.</a:t>
            </a:r>
          </a:p>
          <a:p>
            <a:r>
              <a:rPr dirty="0"/>
              <a:t>• Prompting works because the prompt changes the context from which the model predicts its answer.</a:t>
            </a:r>
          </a:p>
          <a:p>
            <a:r>
              <a:rPr dirty="0"/>
              <a:t>• Example: adding the database type, expected traffic, and failure requirements produces a more relevant architecture answer than asking only 'Which database should I use?'.</a:t>
            </a:r>
          </a:p>
          <a:p>
            <a:r>
              <a:rPr dirty="0"/>
              <a:t>• No memory by default means a model call only knows the input supplied with that call. An application can create memory by storing information and adding selected parts to later requests.</a:t>
            </a:r>
          </a:p>
          <a:p>
            <a:r>
              <a:rPr dirty="0"/>
              <a:t>• Example: saving a user's preferred language in a database and adding it to the next prompt is application memory, not a permanent change inside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dirty="0"/>
              <a:t>• A model contains billions of weights. Precision describes how many bits are used to store each weight.</a:t>
            </a:r>
          </a:p>
          <a:p>
            <a:pPr marL="171450" indent="-171450">
              <a:buFontTx/>
              <a:buChar char="-"/>
            </a:pPr>
            <a:r>
              <a:rPr dirty="0"/>
              <a:t>• FP32 uses four bytes per weight and preserves more numeric detail. FP16 uses two bytes and is common for efficient model execution.</a:t>
            </a:r>
          </a:p>
          <a:p>
            <a:pPr marL="171450" indent="-171450">
              <a:buFontTx/>
              <a:buChar char="-"/>
            </a:pPr>
            <a:r>
              <a:rPr dirty="0"/>
              <a:t>• INT8 and INT4 are </a:t>
            </a:r>
            <a:r>
              <a:rPr dirty="0" err="1"/>
              <a:t>quantised</a:t>
            </a:r>
            <a:r>
              <a:rPr dirty="0"/>
              <a:t> formats. </a:t>
            </a:r>
            <a:r>
              <a:rPr dirty="0" err="1"/>
              <a:t>Quantisation</a:t>
            </a:r>
            <a:r>
              <a:rPr dirty="0"/>
              <a:t> stores a simplified approximation of the original weights using fewer bits.</a:t>
            </a:r>
          </a:p>
          <a:p>
            <a:pPr marL="171450" indent="-171450">
              <a:buFontTx/>
              <a:buChar char="-"/>
            </a:pPr>
            <a:r>
              <a:rPr dirty="0"/>
              <a:t>• Example: eight billion weights at two bytes each require about sixteen gigabytes before file-format overhead.</a:t>
            </a:r>
          </a:p>
          <a:p>
            <a:pPr marL="171450" indent="-171450">
              <a:buFontTx/>
              <a:buChar char="-"/>
            </a:pPr>
            <a:r>
              <a:rPr dirty="0"/>
              <a:t>• Lower precision usually reduces memory use and can improve speed. It may also reduce accuracy or change output quality, especially with aggressive </a:t>
            </a:r>
            <a:r>
              <a:rPr dirty="0" err="1"/>
              <a:t>quantisation</a:t>
            </a:r>
            <a:r>
              <a:rPr dirty="0"/>
              <a:t>.</a:t>
            </a:r>
          </a:p>
          <a:p>
            <a:pPr marL="171450" indent="-171450">
              <a:buFontTx/>
              <a:buChar char="-"/>
            </a:pPr>
            <a:r>
              <a:rPr dirty="0"/>
              <a:t>• Use an image analogy: fewer </a:t>
            </a:r>
            <a:r>
              <a:rPr dirty="0" err="1"/>
              <a:t>colour</a:t>
            </a:r>
            <a:r>
              <a:rPr dirty="0"/>
              <a:t> levels make a file smaller, but too much reduction can remove useful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Transition from theory to practice: participants will now run a model without a chat product around it.</a:t>
            </a:r>
          </a:p>
          <a:p>
            <a:r>
              <a:rPr dirty="0"/>
              <a:t>• The goal is to see the raw relationship between a prompt, a local model, and the generated answer.</a:t>
            </a:r>
          </a:p>
          <a:p>
            <a:r>
              <a:rPr dirty="0"/>
              <a:t>• Running locally also makes model size, download time, memory use, and hardware limits more concrete.</a:t>
            </a:r>
          </a:p>
          <a:p>
            <a:endParaRPr dirty="0"/>
          </a:p>
          <a:p>
            <a:r>
              <a:rPr dirty="0"/>
              <a:t>Icon source: </a:t>
            </a:r>
            <a:r>
              <a:rPr dirty="0" err="1"/>
              <a:t>Lucide</a:t>
            </a:r>
            <a:r>
              <a:rPr dirty="0"/>
              <a:t> Icons (ISC License), https://</a:t>
            </a:r>
            <a:r>
              <a:rPr dirty="0" err="1"/>
              <a:t>lucide.dev</a:t>
            </a:r>
            <a:r>
              <a:rPr dirty="0"/>
              <a:t>/icons/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Docker Model Runner lets Docker Desktop download and run supported AI models through Docker commands.</a:t>
            </a:r>
          </a:p>
          <a:p>
            <a:r>
              <a:rPr dirty="0"/>
              <a:t>• A model image contains model weights and the files needed to serve the model. It is similar to pulling a container image, although the contents and runtime are different.</a:t>
            </a:r>
          </a:p>
          <a:p>
            <a:r>
              <a:rPr dirty="0"/>
              <a:t>• The first pull needs internet access because the weights may be several gigabytes. Later prompts can run locally when the model is already downloaded.</a:t>
            </a:r>
          </a:p>
          <a:p>
            <a:r>
              <a:rPr dirty="0"/>
              <a:t>• Local execution means prompt data is processed on the machine by the local runtime. Remind participants to check their </a:t>
            </a:r>
            <a:r>
              <a:rPr dirty="0" err="1"/>
              <a:t>organisation's</a:t>
            </a:r>
            <a:r>
              <a:rPr dirty="0"/>
              <a:t> policies before using sensitive data anywhere.</a:t>
            </a:r>
          </a:p>
          <a:p>
            <a:r>
              <a:rPr dirty="0"/>
              <a:t>• Example command flow: pull the model, start it, send a small prompt, then watch local CPU, GPU, and memory use.</a:t>
            </a:r>
          </a:p>
          <a:p>
            <a:endParaRPr dirty="0"/>
          </a:p>
          <a:p>
            <a:r>
              <a:rPr dirty="0"/>
              <a:t>• Source: https://</a:t>
            </a:r>
            <a:r>
              <a:rPr dirty="0" err="1"/>
              <a:t>docs.docker.com</a:t>
            </a:r>
            <a:r>
              <a:rPr dirty="0"/>
              <a:t>/ai/model-runner/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Ask participants to clone the repository and switch to the practice branch.</a:t>
            </a:r>
          </a:p>
          <a:p>
            <a:r>
              <a:rPr dirty="0"/>
              <a:t>• Explain each command briefly: clone creates a local copy, fetch updates remote branch information, and switch changes the working branch.</a:t>
            </a:r>
          </a:p>
          <a:p>
            <a:r>
              <a:rPr dirty="0"/>
              <a:t>• A successful result is simple: the model starts, accepts one prompt, and returns text.</a:t>
            </a:r>
          </a:p>
          <a:p>
            <a:r>
              <a:rPr dirty="0"/>
              <a:t>• Help with installation or hardware problems first. Prompt quality comes in the next section.</a:t>
            </a:r>
          </a:p>
          <a:p>
            <a:r>
              <a:rPr dirty="0"/>
              <a:t>• If a participant finishes early, ask them to try the same prompt twice and compare the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Introduce prompting as input design. A prompt supplies instructions and information that guide the model's continuation.</a:t>
            </a:r>
          </a:p>
          <a:p>
            <a:r>
              <a:rPr dirty="0"/>
              <a:t>• Good prompting does not unlock hidden intelligence. It reduces ambiguity and makes the expected result easier to predict.</a:t>
            </a:r>
          </a:p>
          <a:p>
            <a:r>
              <a:rPr dirty="0"/>
              <a:t>• The five techniques are role, visible working steps, examples, output format, and system instructions.</a:t>
            </a:r>
          </a:p>
          <a:p>
            <a:r>
              <a:rPr dirty="0"/>
              <a:t>• Each technique solves a different problem, so participants should learn when it helps instead of adding every technique to every prompt.</a:t>
            </a:r>
          </a:p>
          <a:p>
            <a:endParaRPr dirty="0"/>
          </a:p>
          <a:p>
            <a:r>
              <a:rPr dirty="0"/>
              <a:t>Icon source: </a:t>
            </a:r>
            <a:r>
              <a:rPr dirty="0" err="1"/>
              <a:t>Lucide</a:t>
            </a:r>
            <a:r>
              <a:rPr dirty="0"/>
              <a:t> Icons (ISC License), https://</a:t>
            </a:r>
            <a:r>
              <a:rPr dirty="0" err="1"/>
              <a:t>lucide.dev</a:t>
            </a:r>
            <a:r>
              <a:rPr dirty="0"/>
              <a:t>/icons/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Use one mental model for the whole section: context shapes the next token, and repeated next-token choices shape the answer.</a:t>
            </a:r>
          </a:p>
          <a:p>
            <a:r>
              <a:rPr dirty="0"/>
              <a:t>• Role prompting steers tone, priorities, and assumptions. Example: a security engineer role makes security concerns more prominent.</a:t>
            </a:r>
          </a:p>
          <a:p>
            <a:r>
              <a:rPr dirty="0"/>
              <a:t>• Structured reasoning asks for an explicit plan, calculation, or final check. Example: show the calculation before giving the total.</a:t>
            </a:r>
          </a:p>
          <a:p>
            <a:r>
              <a:rPr dirty="0"/>
              <a:t>• Few-shot prompting supplies examples. Example: two sample review comments teach the desired labels and tone.</a:t>
            </a:r>
          </a:p>
          <a:p>
            <a:r>
              <a:rPr dirty="0"/>
              <a:t>• These techniques can improve consistency, but none of them prove that the answer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A role tells the model which perspective should be prominent in the answer.</a:t>
            </a:r>
          </a:p>
          <a:p>
            <a:r>
              <a:rPr dirty="0"/>
              <a:t>• The security engineer focuses on hashing, input handling, and attack paths. The UX designer focuses on user friction and recovery flows.</a:t>
            </a:r>
          </a:p>
          <a:p>
            <a:r>
              <a:rPr dirty="0"/>
              <a:t>• Both perspectives can be useful because the task has several valid concerns.</a:t>
            </a:r>
          </a:p>
          <a:p>
            <a:r>
              <a:rPr dirty="0"/>
              <a:t>• A role does not add private knowledge or guarantee expertise. The model can still miss a vulnerability or repeat outdated advice.</a:t>
            </a:r>
          </a:p>
          <a:p>
            <a:r>
              <a:rPr dirty="0"/>
              <a:t>• Use roles when perspective matters. For a simple factual task such as converting units, a role usually adds noise rather than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For a difficult task, ask for a short plan, the necessary calculation, or a final verification step.</a:t>
            </a:r>
          </a:p>
          <a:p>
            <a:r>
              <a:rPr dirty="0"/>
              <a:t>• Visible steps help the reviewer find where an error entered the answer.</a:t>
            </a:r>
          </a:p>
          <a:p>
            <a:r>
              <a:rPr dirty="0"/>
              <a:t>• In the apple example, write the calculation as 10 minus 2 minus 2 plus 5 minus 1. The result is 10.</a:t>
            </a:r>
          </a:p>
          <a:p>
            <a:r>
              <a:rPr dirty="0"/>
              <a:t>• The explanation can still be wrong. A neat calculation is evidence to inspect, not proof to trust.</a:t>
            </a:r>
          </a:p>
          <a:p>
            <a:r>
              <a:rPr dirty="0"/>
              <a:t>• For code or architecture, ask for assumptions and a short trade-off check instead of demanding a long private chain of thought.</a:t>
            </a:r>
          </a:p>
          <a:p>
            <a:endParaRPr dirty="0"/>
          </a:p>
          <a:p>
            <a:r>
              <a:rPr dirty="0"/>
              <a:t>• Source: https://</a:t>
            </a:r>
            <a:r>
              <a:rPr dirty="0" err="1"/>
              <a:t>platform.openai.com</a:t>
            </a:r>
            <a:r>
              <a:rPr dirty="0"/>
              <a:t>/docs/guides/reasoning-best-practices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Few-shot means giving the model a small number of examples before the real task.</a:t>
            </a:r>
          </a:p>
          <a:p>
            <a:r>
              <a:rPr dirty="0"/>
              <a:t>• The examples demonstrate the desired structure more clearly than abstract instructions alone.</a:t>
            </a:r>
          </a:p>
          <a:p>
            <a:r>
              <a:rPr dirty="0"/>
              <a:t>• Here, the examples teach three things: a severity label, a concise explanation, and an actionable suggestion.</a:t>
            </a:r>
          </a:p>
          <a:p>
            <a:r>
              <a:rPr dirty="0"/>
              <a:t>• Choose examples that resemble the real input. Include an edge case when the edge case matters to the output.</a:t>
            </a:r>
          </a:p>
          <a:p>
            <a:r>
              <a:rPr dirty="0"/>
              <a:t>• Poor examples also teach poor </a:t>
            </a:r>
            <a:r>
              <a:rPr dirty="0" err="1"/>
              <a:t>behaviour</a:t>
            </a:r>
            <a:r>
              <a:rPr dirty="0"/>
              <a:t>. If examples contradict the written instruction, the model may imitate the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Output format control defines the structure that the answer must follow.</a:t>
            </a:r>
          </a:p>
          <a:p>
            <a:r>
              <a:rPr dirty="0"/>
              <a:t>• JSON is useful when software must parse the result. Tables are useful for comparison. Numbered steps are useful for a human procedure.</a:t>
            </a:r>
          </a:p>
          <a:p>
            <a:r>
              <a:rPr dirty="0"/>
              <a:t>• The example defines exact field names and allowed severity values so the result behaves more like an interface.</a:t>
            </a:r>
          </a:p>
          <a:p>
            <a:r>
              <a:rPr dirty="0"/>
              <a:t>• The model may still return invalid JSON, omit a field, or place unexpected text around the object.</a:t>
            </a:r>
          </a:p>
          <a:p>
            <a:r>
              <a:rPr dirty="0"/>
              <a:t>• Treat model output as untrusted external input. Parse it, validate field types and allowed values, and reject invalid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The system prompt contains application-level instructions sent before the user's message.</a:t>
            </a:r>
          </a:p>
          <a:p>
            <a:r>
              <a:rPr dirty="0"/>
              <a:t>• The user prompt contains the current request. The application normally sends both to the model in the same context.</a:t>
            </a:r>
          </a:p>
          <a:p>
            <a:r>
              <a:rPr dirty="0"/>
              <a:t>• System prompt A asks for teaching </a:t>
            </a:r>
            <a:r>
              <a:rPr dirty="0" err="1"/>
              <a:t>behaviour</a:t>
            </a:r>
            <a:r>
              <a:rPr dirty="0"/>
              <a:t>. System prompt B asks for terse review </a:t>
            </a:r>
            <a:r>
              <a:rPr dirty="0" err="1"/>
              <a:t>behaviour</a:t>
            </a:r>
            <a:r>
              <a:rPr dirty="0"/>
              <a:t>. The same user question therefore produces different styles.</a:t>
            </a:r>
          </a:p>
          <a:p>
            <a:r>
              <a:rPr dirty="0"/>
              <a:t>• A system prompt has higher instructional priority in many model APIs, but it cannot guarantee compliance or replace validation.</a:t>
            </a:r>
          </a:p>
          <a:p>
            <a:r>
              <a:rPr dirty="0"/>
              <a:t>• It is not permanent model memory. The application must send the instructions again in later requests or sessions when it wants the same </a:t>
            </a:r>
            <a:r>
              <a:rPr dirty="0" err="1"/>
              <a:t>behaviour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Ask participants to try one technique at a time before combining them.</a:t>
            </a:r>
          </a:p>
          <a:p>
            <a:r>
              <a:rPr dirty="0"/>
              <a:t>• Keep the task identical so the effect of each change is easier to see.</a:t>
            </a:r>
          </a:p>
          <a:p>
            <a:r>
              <a:rPr dirty="0"/>
              <a:t>• Compare usefulness, consistency, factual quality, and whether code could parse the result.</a:t>
            </a:r>
          </a:p>
          <a:p>
            <a:r>
              <a:rPr dirty="0"/>
              <a:t>• Remind participants to save interesting failures. A failed prompt often teaches more than a lucky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Step 1 establishes the default answer. Without a baseline, there is nothing useful to compare.</a:t>
            </a:r>
          </a:p>
          <a:p>
            <a:r>
              <a:rPr dirty="0"/>
              <a:t>• Step 2 adds a role and checks whether the model changes emphasis or depth.</a:t>
            </a:r>
          </a:p>
          <a:p>
            <a:r>
              <a:rPr dirty="0"/>
              <a:t>• Step 3 asks for a short plan and a final trade-off check. This exposes useful working steps without requesting private hidden reasoning.</a:t>
            </a:r>
          </a:p>
          <a:p>
            <a:r>
              <a:rPr dirty="0"/>
              <a:t>• Step 4 adds a JSON structure. Check whether the output is valid and contains every required field.</a:t>
            </a:r>
          </a:p>
          <a:p>
            <a:r>
              <a:rPr dirty="0"/>
              <a:t>• Step 5 moves stable application rules into the system prompt and leaves the changing question in the user prompt.</a:t>
            </a:r>
          </a:p>
          <a:p>
            <a:r>
              <a:rPr dirty="0"/>
              <a:t>• After every step, ask what improved and what remained unreliable. More prompt text is not automatically better. Sometimes it is just more text wearing a 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Review the solution as one reasonable implementation rather than the only correct prompt.</a:t>
            </a:r>
          </a:p>
          <a:p>
            <a:r>
              <a:rPr dirty="0"/>
              <a:t>• Ask which change produced the largest improvement and whether that improvement was consistent across repeated runs.</a:t>
            </a:r>
          </a:p>
          <a:p>
            <a:r>
              <a:rPr dirty="0"/>
              <a:t>• Check that structured output is parsed and validated by code.</a:t>
            </a:r>
          </a:p>
          <a:p>
            <a:r>
              <a:rPr dirty="0"/>
              <a:t>• Discuss what the application should do when the model returns invalid data or ignores an instruction.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Transition from guiding the model with text to giving the application access to external capabilities.</a:t>
            </a:r>
          </a:p>
          <a:p>
            <a:r>
              <a:rPr dirty="0"/>
              <a:t>• A raw model can only generate output from its current context. It cannot independently open a database, send an email, or check live weather.</a:t>
            </a:r>
          </a:p>
          <a:p>
            <a:r>
              <a:rPr dirty="0"/>
              <a:t>• MCP provides a standard way for an AI application to expose approved tools and data to the model.</a:t>
            </a:r>
          </a:p>
          <a:p>
            <a:endParaRPr dirty="0"/>
          </a:p>
          <a:p>
            <a:r>
              <a:rPr dirty="0"/>
              <a:t>Icon source: </a:t>
            </a:r>
            <a:r>
              <a:rPr dirty="0" err="1"/>
              <a:t>Lucide</a:t>
            </a:r>
            <a:r>
              <a:rPr dirty="0"/>
              <a:t> Icons (ISC License), https://</a:t>
            </a:r>
            <a:r>
              <a:rPr dirty="0" err="1"/>
              <a:t>lucide.dev</a:t>
            </a:r>
            <a:r>
              <a:rPr dirty="0"/>
              <a:t>/icons/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MCP stands for Model Context Protocol. It is an open standard for connecting AI applications to tools and data sources.</a:t>
            </a:r>
          </a:p>
          <a:p>
            <a:r>
              <a:rPr dirty="0"/>
              <a:t>• The model does not directly connect to a database or service. The host application manages the connection and executes approved operations.</a:t>
            </a:r>
          </a:p>
          <a:p>
            <a:r>
              <a:rPr dirty="0"/>
              <a:t>• An MCP server describes its available tools, required inputs, and returned results in a standard form.</a:t>
            </a:r>
          </a:p>
          <a:p>
            <a:r>
              <a:rPr dirty="0"/>
              <a:t>• Example: a weather server may expose a </a:t>
            </a:r>
            <a:r>
              <a:rPr dirty="0" err="1"/>
              <a:t>get_weather</a:t>
            </a:r>
            <a:r>
              <a:rPr dirty="0"/>
              <a:t> tool that accepts a city and returns current conditions.</a:t>
            </a:r>
          </a:p>
          <a:p>
            <a:r>
              <a:rPr dirty="0"/>
              <a:t>• A useful analogy is a common adapter: applications and servers agree on one connection pattern instead of inventing a new integration for every pair.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A tool can represent a complete system, one API operation, a database query, or a small local function.</a:t>
            </a:r>
          </a:p>
          <a:p>
            <a:r>
              <a:rPr dirty="0"/>
              <a:t>• Example: '</a:t>
            </a:r>
            <a:r>
              <a:rPr dirty="0" err="1"/>
              <a:t>find_customer</a:t>
            </a:r>
            <a:r>
              <a:rPr dirty="0"/>
              <a:t>' may search a CRM, while '</a:t>
            </a:r>
            <a:r>
              <a:rPr dirty="0" err="1"/>
              <a:t>send_email</a:t>
            </a:r>
            <a:r>
              <a:rPr dirty="0"/>
              <a:t>' may call a separate mail service.</a:t>
            </a:r>
          </a:p>
          <a:p>
            <a:r>
              <a:rPr dirty="0"/>
              <a:t>• The model needs a clear name and description so it can choose the right tool. It also needs a schema that defines valid arguments.</a:t>
            </a:r>
          </a:p>
          <a:p>
            <a:r>
              <a:rPr dirty="0"/>
              <a:t>• Without a standard, every host and every tool provider needs custom discovery, input mapping, result handling, and error handling.</a:t>
            </a:r>
          </a:p>
          <a:p>
            <a:r>
              <a:rPr dirty="0"/>
              <a:t>• Tools can provide live or private data and reduce unsupported guesses, but only when the returned data is correct and the model uses it properly.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The host is the application the user interacts with, such as an IDE or desktop assistant.</a:t>
            </a:r>
          </a:p>
          <a:p>
            <a:r>
              <a:rPr dirty="0"/>
              <a:t>• The MCP client lives inside the host and manages connections to MCP servers.</a:t>
            </a:r>
          </a:p>
          <a:p>
            <a:r>
              <a:rPr dirty="0"/>
              <a:t>• An MCP server exposes tools, resources, or prompts from one service or data source.</a:t>
            </a:r>
          </a:p>
          <a:p>
            <a:r>
              <a:rPr dirty="0"/>
              <a:t>• The model sees tool descriptions and may request a call. The host checks the request, runs the tool through the client, and returns the result to the model.</a:t>
            </a:r>
          </a:p>
          <a:p>
            <a:r>
              <a:rPr dirty="0"/>
              <a:t>• Example: an IDE host connects to a GitHub MCP server. The model requests issue details, but the application performs the actual GitHub operation.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Walk through the sales-report request from left to right.</a:t>
            </a:r>
          </a:p>
          <a:p>
            <a:r>
              <a:rPr dirty="0"/>
              <a:t>• The model first needs sales data. It requests the reporting tool with a time range or other required arguments.</a:t>
            </a:r>
          </a:p>
          <a:p>
            <a:r>
              <a:rPr dirty="0"/>
              <a:t>• The application runs the tool and adds the returned data to the context.</a:t>
            </a:r>
          </a:p>
          <a:p>
            <a:r>
              <a:rPr dirty="0"/>
              <a:t>• The model creates the report, then may request a recipient lookup or email tool.</a:t>
            </a:r>
          </a:p>
          <a:p>
            <a:r>
              <a:rPr dirty="0"/>
              <a:t>• Sensitive actions such as sending email should require clear permissions and, when appropriate, user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Ask participants to connect the MCP server and inspect the list of exposed tools before calling anything.</a:t>
            </a:r>
          </a:p>
          <a:p>
            <a:r>
              <a:rPr dirty="0"/>
              <a:t>• Read the tool description and input schema together. Participants should understand what the model sees.</a:t>
            </a:r>
          </a:p>
          <a:p>
            <a:r>
              <a:rPr dirty="0"/>
              <a:t>• Success means they can verify that a tool call occurred and inspect the arguments and returned result.</a:t>
            </a:r>
          </a:p>
          <a:p>
            <a:r>
              <a:rPr dirty="0"/>
              <a:t>• A natural-language answer alone does not prove the model used the tool. Models are perfectly capable of confidently role-playing a weather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The user asks for current weather and explicitly says not to guess.</a:t>
            </a:r>
          </a:p>
          <a:p>
            <a:r>
              <a:rPr dirty="0"/>
              <a:t>• The model reads the available tool description and requests the weather tool with Kaunas as the argument.</a:t>
            </a:r>
          </a:p>
          <a:p>
            <a:r>
              <a:rPr dirty="0"/>
              <a:t>• The host sends the request to the weather MCP service. The service calls its weather data source and returns structured data.</a:t>
            </a:r>
          </a:p>
          <a:p>
            <a:r>
              <a:rPr dirty="0"/>
              <a:t>• The host adds the tool result to the model context, and the model turns it into a clear answer.</a:t>
            </a:r>
          </a:p>
          <a:p>
            <a:r>
              <a:rPr dirty="0"/>
              <a:t>• If the service fails, the correct </a:t>
            </a:r>
            <a:r>
              <a:rPr dirty="0" err="1"/>
              <a:t>behaviour</a:t>
            </a:r>
            <a:r>
              <a:rPr dirty="0"/>
              <a:t> is to report that current weather could not be retrieved, not to invent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Review the server definition, input validation, response format, and error handling.</a:t>
            </a:r>
          </a:p>
          <a:p>
            <a:r>
              <a:rPr dirty="0"/>
              <a:t>• Show how a vague tool description can cause the model to choose the wrong tool or pass poor arguments.</a:t>
            </a:r>
          </a:p>
          <a:p>
            <a:r>
              <a:rPr dirty="0"/>
              <a:t>• Discuss permissions: expose only the operations needed for the task. Read access does not magically need delete access, despite software's occasional enthusiasm for drama.</a:t>
            </a:r>
          </a:p>
          <a:p>
            <a:r>
              <a:rPr dirty="0"/>
              <a:t>• Ask how the host should display tool failures and whether any calls require user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Introduce skills as reusable instructions for a task that follows a repeatable process.</a:t>
            </a:r>
          </a:p>
          <a:p>
            <a:r>
              <a:rPr dirty="0"/>
              <a:t>• A skill can contain the workflow, templates, examples, schemas, and checks needed to complete that task.</a:t>
            </a:r>
          </a:p>
          <a:p>
            <a:r>
              <a:rPr dirty="0"/>
              <a:t>• The goal is consistency: define the process once, then reuse it instead of rewriting a long prompt every time.</a:t>
            </a:r>
          </a:p>
          <a:p>
            <a:endParaRPr dirty="0"/>
          </a:p>
          <a:p>
            <a:r>
              <a:rPr dirty="0"/>
              <a:t>Icon source: </a:t>
            </a:r>
            <a:r>
              <a:rPr dirty="0" err="1"/>
              <a:t>Lucide</a:t>
            </a:r>
            <a:r>
              <a:rPr dirty="0"/>
              <a:t> Icons (ISC License), https://</a:t>
            </a:r>
            <a:r>
              <a:rPr dirty="0" err="1"/>
              <a:t>lucide.dev</a:t>
            </a:r>
            <a:r>
              <a:rPr dirty="0"/>
              <a:t>/icons/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A skill is a reusable package that tells the model how to perform a specific job.</a:t>
            </a:r>
          </a:p>
          <a:p>
            <a:r>
              <a:rPr dirty="0"/>
              <a:t>• The name and description help the application or model </a:t>
            </a:r>
            <a:r>
              <a:rPr dirty="0" err="1"/>
              <a:t>recognise</a:t>
            </a:r>
            <a:r>
              <a:rPr dirty="0"/>
              <a:t> when the skill is relevant.</a:t>
            </a:r>
          </a:p>
          <a:p>
            <a:r>
              <a:rPr dirty="0"/>
              <a:t>• Workflow instructions define the steps. Supporting resources provide templates, examples, rules, or tool access.</a:t>
            </a:r>
          </a:p>
          <a:p>
            <a:r>
              <a:rPr dirty="0"/>
              <a:t>• Example: a meeting-summary skill can define how to separate discussion, decisions, and actions.</a:t>
            </a:r>
          </a:p>
          <a:p>
            <a:r>
              <a:rPr dirty="0"/>
              <a:t>• The skill can also state what must never be invented, such as an owner or deadline that was not present in the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Consistency means repeated requests produce the same required sections and checks, even when different people start them.</a:t>
            </a:r>
          </a:p>
          <a:p>
            <a:r>
              <a:rPr dirty="0"/>
              <a:t>• Example: every code review can check security, error handling, tests, and edge cases in the same order.</a:t>
            </a:r>
          </a:p>
          <a:p>
            <a:r>
              <a:rPr dirty="0"/>
              <a:t>• Sharing the playbook turns informal team knowledge into written instructions that others can inspect and improve.</a:t>
            </a:r>
          </a:p>
          <a:p>
            <a:r>
              <a:rPr dirty="0"/>
              <a:t>• Example: a senior engineer's release checklist becomes available to the whole team instead of living only in that person's memory.</a:t>
            </a:r>
          </a:p>
          <a:p>
            <a:r>
              <a:rPr dirty="0"/>
              <a:t>• Reuse across surfaces means the same workflow can support different chats, coding agents, or models, although each environment may need small adjustments.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The description states the job in plain language and helps identify when the skill applies.</a:t>
            </a:r>
          </a:p>
          <a:p>
            <a:r>
              <a:rPr dirty="0"/>
              <a:t>• Required inputs prevent the workflow from starting without necessary material. Here, the skill needs meeting notes or a transcript.</a:t>
            </a:r>
          </a:p>
          <a:p>
            <a:r>
              <a:rPr dirty="0"/>
              <a:t>• Instructions describe the order of work: identify topics, extract decisions, then extract actions and owners.</a:t>
            </a:r>
          </a:p>
          <a:p>
            <a:r>
              <a:rPr dirty="0"/>
              <a:t>• The output format gives the result a stable structure that people and software can use.</a:t>
            </a:r>
          </a:p>
          <a:p>
            <a:r>
              <a:rPr dirty="0"/>
              <a:t>• Final checks catch common mistakes. Here, they prevent invented decisions or deadlines and check that known action owners are included.</a:t>
            </a:r>
          </a:p>
          <a:p>
            <a:r>
              <a:rPr dirty="0"/>
              <a:t>• Use this example to show that a skill should contain operational guidance, not a motivational essay about the majestic beauty of meeting summaries.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Ask participants to inspect the skill structure before running it.</a:t>
            </a:r>
          </a:p>
          <a:p>
            <a:r>
              <a:rPr dirty="0"/>
              <a:t>• They should identify the trigger description, required inputs, workflow, output format, and final checks.</a:t>
            </a:r>
          </a:p>
          <a:p>
            <a:r>
              <a:rPr dirty="0"/>
              <a:t>• Test one request that should use the skill and one unrelated request that should not.</a:t>
            </a:r>
          </a:p>
          <a:p>
            <a:r>
              <a:rPr dirty="0"/>
              <a:t>• Compare the outputs and note whether the skill improves consistency without removing useful judgment.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Without the skill, the model relies mainly on the current prompt and its general training.</a:t>
            </a:r>
          </a:p>
          <a:p>
            <a:r>
              <a:rPr dirty="0"/>
              <a:t>• With the skill, the model loads a defined code-review process and expected output format.</a:t>
            </a:r>
          </a:p>
          <a:p>
            <a:r>
              <a:rPr dirty="0"/>
              <a:t>• Compare coverage: did both versions find the same bugs, security issues, and missing tests?</a:t>
            </a:r>
          </a:p>
          <a:p>
            <a:r>
              <a:rPr dirty="0"/>
              <a:t>• Compare format: did the skill produce a result that is easier to review or automate?</a:t>
            </a:r>
          </a:p>
          <a:p>
            <a:r>
              <a:rPr dirty="0"/>
              <a:t>• A skill improves the process, but the model can still miss an issue. Human review and tests remain necessary.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Introduce agents and RAG as application patterns built around a model.</a:t>
            </a:r>
          </a:p>
          <a:p>
            <a:r>
              <a:rPr dirty="0"/>
              <a:t>• Agents combine model decisions with tools and a control loop.</a:t>
            </a:r>
          </a:p>
          <a:p>
            <a:r>
              <a:rPr dirty="0"/>
              <a:t>• RAG retrieves relevant information and adds it to the model context before generation.</a:t>
            </a:r>
          </a:p>
          <a:p>
            <a:r>
              <a:rPr dirty="0"/>
              <a:t>• Both patterns depend on application code for data access, permissions, retries, logging, and failure handling.</a:t>
            </a:r>
          </a:p>
          <a:p>
            <a:endParaRPr dirty="0"/>
          </a:p>
          <a:p>
            <a:r>
              <a:rPr dirty="0"/>
              <a:t>Icon source: </a:t>
            </a:r>
            <a:r>
              <a:rPr dirty="0" err="1"/>
              <a:t>Lucide</a:t>
            </a:r>
            <a:r>
              <a:rPr dirty="0"/>
              <a:t> Icons (ISC License), https://</a:t>
            </a:r>
            <a:r>
              <a:rPr dirty="0" err="1"/>
              <a:t>lucide.dev</a:t>
            </a:r>
            <a:r>
              <a:rPr dirty="0"/>
              <a:t>/icons/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EE1E7-172B-95A6-BC1E-EF77B227D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E68163-8D72-6ED6-BBA4-660B51BAE9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CC14A4-07DA-0AC2-ED04-70CBC3D87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FFFFFF"/>
                </a:solidFill>
              </a:rPr>
              <a:t>Agentic AI is an advanced form of artificial intelligence focused on autonomous decision-making and action</a:t>
            </a:r>
            <a:endParaRPr lang="en-LT" sz="1200" dirty="0">
              <a:solidFill>
                <a:srgbClr val="FFFFFF"/>
              </a:solidFill>
            </a:endParaRPr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79E55A-4BF8-5570-FF2D-D28A1CF2BB4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800321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An agent is a loop in which a model chooses an action, receives the result, and chooses what to do next.</a:t>
            </a:r>
          </a:p>
          <a:p>
            <a:r>
              <a:rPr dirty="0"/>
              <a:t>• Example: a coding agent reads a failing test, opens the relevant file, proposes a patch, runs the test, and stops when the test passes or a limit is reached.</a:t>
            </a:r>
          </a:p>
          <a:p>
            <a:r>
              <a:rPr dirty="0"/>
              <a:t>• The model chooses actions, but application code performs them. This separation is important for security and reliability.</a:t>
            </a:r>
          </a:p>
          <a:p>
            <a:r>
              <a:rPr dirty="0"/>
              <a:t>• The application controls available tools, permissions, approval steps, retry limits, stop conditions, and logs.</a:t>
            </a:r>
          </a:p>
          <a:p>
            <a:r>
              <a:rPr dirty="0"/>
              <a:t>• An agent is not an independent digital employee. It is a probabilistic decision component inside a software-controlled loop.</a:t>
            </a:r>
          </a:p>
          <a:p>
            <a:endParaRPr dirty="0"/>
          </a:p>
          <a:p>
            <a:r>
              <a:rPr dirty="0"/>
              <a:t>• Source: https://</a:t>
            </a:r>
            <a:r>
              <a:rPr dirty="0" err="1"/>
              <a:t>openai.com</a:t>
            </a:r>
            <a:r>
              <a:rPr dirty="0"/>
              <a:t>/business/guides-and-resources/a-practical-guide-to-building-ai-agents/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RAG stands for retrieval-augmented generation. Retrieval finds relevant information; generation uses that information to create the answer.</a:t>
            </a:r>
          </a:p>
          <a:p>
            <a:r>
              <a:rPr dirty="0"/>
              <a:t>• Example: a user asks about company leave policy. The application retrieves relevant policy paragraphs and places them in the prompt.</a:t>
            </a:r>
          </a:p>
          <a:p>
            <a:r>
              <a:rPr dirty="0"/>
              <a:t>• Chunking splits documents into searchable pieces. Retrieval selects a small number of pieces that appear relevant to the question.</a:t>
            </a:r>
          </a:p>
          <a:p>
            <a:r>
              <a:rPr dirty="0"/>
              <a:t>• The model then answers from those pieces and can cite them when traceability matters.</a:t>
            </a:r>
          </a:p>
          <a:p>
            <a:r>
              <a:rPr dirty="0"/>
              <a:t>• RAG has two main failure points: retrieval may miss the right text, and generation may misread or ignore retrieved text.</a:t>
            </a:r>
          </a:p>
          <a:p>
            <a:r>
              <a:rPr dirty="0"/>
              <a:t>• Evaluate retrieval quality separately from answer quality. A perfect answer is impossible when the correct source never entered the context.</a:t>
            </a:r>
          </a:p>
          <a:p>
            <a:endParaRPr dirty="0"/>
          </a:p>
          <a:p>
            <a:r>
              <a:rPr dirty="0"/>
              <a:t>• Source: https://</a:t>
            </a:r>
            <a:r>
              <a:rPr dirty="0" err="1"/>
              <a:t>arxiv.org</a:t>
            </a:r>
            <a:r>
              <a:rPr dirty="0"/>
              <a:t>/abs/2005.11401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SDLC means software development lifecycle: planning, design, coding, testing, deployment, and maintenance.</a:t>
            </a:r>
          </a:p>
          <a:p>
            <a:r>
              <a:rPr dirty="0"/>
              <a:t>• AI can help in every stage. It may </a:t>
            </a:r>
            <a:r>
              <a:rPr dirty="0" err="1"/>
              <a:t>summarise</a:t>
            </a:r>
            <a:r>
              <a:rPr dirty="0"/>
              <a:t> requirements, suggest code, create tests, review changes, or explain incidents.</a:t>
            </a:r>
          </a:p>
          <a:p>
            <a:r>
              <a:rPr dirty="0"/>
              <a:t>• The speed increase changes the amount of output a team can produce. It does not transfer responsibility away from the team.</a:t>
            </a:r>
          </a:p>
          <a:p>
            <a:r>
              <a:rPr dirty="0"/>
              <a:t>• Use the next slides to focus on review habits and controls rather than a list of shiny tools that will be renamed by next Tuesday.</a:t>
            </a:r>
          </a:p>
          <a:p>
            <a:endParaRPr dirty="0"/>
          </a:p>
          <a:p>
            <a:r>
              <a:rPr dirty="0"/>
              <a:t>Icon source: </a:t>
            </a:r>
            <a:r>
              <a:rPr dirty="0" err="1"/>
              <a:t>Lucide</a:t>
            </a:r>
            <a:r>
              <a:rPr dirty="0"/>
              <a:t> Icons (ISC License), https://</a:t>
            </a:r>
            <a:r>
              <a:rPr dirty="0" err="1"/>
              <a:t>lucide.dev</a:t>
            </a:r>
            <a:r>
              <a:rPr dirty="0"/>
              <a:t>/icons/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Review generated code as if it came from an unfamiliar contributor. Read it, understand it, and test it.</a:t>
            </a:r>
          </a:p>
          <a:p>
            <a:r>
              <a:rPr dirty="0"/>
              <a:t>• Validate structured output because a model can return missing fields, wrong types, or unexpected values.</a:t>
            </a:r>
          </a:p>
          <a:p>
            <a:r>
              <a:rPr dirty="0"/>
              <a:t>• Verify important claims with tests, logs, or trusted sources. Asking the model to check itself can help, but it is not independent verification.</a:t>
            </a:r>
          </a:p>
          <a:p>
            <a:r>
              <a:rPr dirty="0"/>
              <a:t>• Design for failure by asking what happens when the model is wrong, unavailable, slow, or inconsistent.</a:t>
            </a:r>
          </a:p>
          <a:p>
            <a:r>
              <a:rPr dirty="0"/>
              <a:t>• Example: before allowing a model to update production data, restrict the allowed operation, validate arguments, require approval, and keep an audit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Compilation proves that code follows language rules. It does not prove correct business </a:t>
            </a:r>
            <a:r>
              <a:rPr dirty="0" err="1"/>
              <a:t>behaviour</a:t>
            </a:r>
            <a:r>
              <a:rPr dirty="0"/>
              <a:t> or safe data handling.</a:t>
            </a:r>
          </a:p>
          <a:p>
            <a:r>
              <a:rPr dirty="0"/>
              <a:t>• Check edge cases such as empty input, null values, large values, duplicates, and concurrency.</a:t>
            </a:r>
          </a:p>
          <a:p>
            <a:r>
              <a:rPr dirty="0"/>
              <a:t>• Check security-sensitive paths such as authentication, </a:t>
            </a:r>
            <a:r>
              <a:rPr dirty="0" err="1"/>
              <a:t>authorisation</a:t>
            </a:r>
            <a:r>
              <a:rPr dirty="0"/>
              <a:t>, injection, secret handling, and logging.</a:t>
            </a:r>
          </a:p>
          <a:p>
            <a:r>
              <a:rPr dirty="0"/>
              <a:t>• Check error handling: timeouts, failed dependencies, partial updates, and retries.</a:t>
            </a:r>
          </a:p>
          <a:p>
            <a:r>
              <a:rPr dirty="0"/>
              <a:t>• Example: an AI-generated database function may work for one record but fail under concurrent updates because it forgot the transaction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Designing context is an engineering skill because model </a:t>
            </a:r>
            <a:r>
              <a:rPr dirty="0" err="1"/>
              <a:t>behaviour</a:t>
            </a:r>
            <a:r>
              <a:rPr dirty="0"/>
              <a:t> depends on instructions, supplied data, examples, and constraints.</a:t>
            </a:r>
          </a:p>
          <a:p>
            <a:r>
              <a:rPr dirty="0"/>
              <a:t>• AI can produce a first draft quickly. That makes review discipline more important because mistakes can also be produced quickly and at scale.</a:t>
            </a:r>
          </a:p>
          <a:p>
            <a:r>
              <a:rPr dirty="0"/>
              <a:t>• Fundamentals still compound: testing, security, data modelling, transactions, distributed-system </a:t>
            </a:r>
            <a:r>
              <a:rPr dirty="0" err="1"/>
              <a:t>behaviour</a:t>
            </a:r>
            <a:r>
              <a:rPr dirty="0"/>
              <a:t>, and clear communication remain valuable.</a:t>
            </a:r>
          </a:p>
          <a:p>
            <a:r>
              <a:rPr dirty="0"/>
              <a:t>• Example: generating a service may take minutes, but understanding failure modes determines whether the service is safe to ship.</a:t>
            </a:r>
          </a:p>
          <a:p>
            <a:r>
              <a:rPr dirty="0"/>
              <a:t>• The strongest engineers will combine domain knowledge with the ability to design and verify AI-assisted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Introduce the final section as a short list of resources participants can actually use after the workshop.</a:t>
            </a:r>
          </a:p>
          <a:p>
            <a:r>
              <a:rPr dirty="0"/>
              <a:t>• Encourage them to choose one resource based on their next practical task.</a:t>
            </a:r>
          </a:p>
          <a:p>
            <a:r>
              <a:rPr dirty="0"/>
              <a:t>• One completed experiment is more useful than twenty-seven browser tabs performing a convincing imitation of progress.</a:t>
            </a:r>
          </a:p>
          <a:p>
            <a:endParaRPr dirty="0"/>
          </a:p>
          <a:p>
            <a:r>
              <a:rPr dirty="0"/>
              <a:t>Icon source: </a:t>
            </a:r>
            <a:r>
              <a:rPr dirty="0" err="1"/>
              <a:t>Lucide</a:t>
            </a:r>
            <a:r>
              <a:rPr dirty="0"/>
              <a:t> Icons (ISC License), https://</a:t>
            </a:r>
            <a:r>
              <a:rPr dirty="0" err="1"/>
              <a:t>lucide.dev</a:t>
            </a:r>
            <a:r>
              <a:rPr dirty="0"/>
              <a:t>/icons/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Docker Model Runner documentation is the next step for trying different local models and understanding runtime options.</a:t>
            </a:r>
          </a:p>
          <a:p>
            <a:r>
              <a:rPr dirty="0"/>
              <a:t>• Prompt-engineering guides provide patterns and examples. Compare advice across model providers because </a:t>
            </a:r>
            <a:r>
              <a:rPr dirty="0" err="1"/>
              <a:t>behaviour</a:t>
            </a:r>
            <a:r>
              <a:rPr dirty="0"/>
              <a:t> can differ.</a:t>
            </a:r>
          </a:p>
          <a:p>
            <a:r>
              <a:rPr dirty="0"/>
              <a:t>• The mathematics resources explain vectors, attention, and model training in greater depth.</a:t>
            </a:r>
          </a:p>
          <a:p>
            <a:r>
              <a:rPr dirty="0"/>
              <a:t>• Agent tutorials are useful when participants already understand tools and context. Focus on the control loop and failure handling, not only framework syntax.</a:t>
            </a:r>
          </a:p>
          <a:p>
            <a:r>
              <a:rPr dirty="0"/>
              <a:t>• Suggested small project: run one local model, connect one safe tool, require structured output, and test the failure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Hugging Face is a broad platform for finding models, datasets, demos, and documentation. Example: compare model size, </a:t>
            </a:r>
            <a:r>
              <a:rPr dirty="0" err="1"/>
              <a:t>licence</a:t>
            </a:r>
            <a:r>
              <a:rPr dirty="0"/>
              <a:t>, and intended use before downloading one.</a:t>
            </a:r>
          </a:p>
          <a:p>
            <a:r>
              <a:rPr dirty="0"/>
              <a:t>• Matt Pocock's resources show reusable developer workflows for planning, implementation, testing, and review across coding agents.</a:t>
            </a:r>
          </a:p>
          <a:p>
            <a:r>
              <a:rPr dirty="0"/>
              <a:t>• The GPT mathematics video explains decoder-only Transformers visually. Recommend it to participants who want to understand the calculations behind the diagrams in this workshop.</a:t>
            </a:r>
          </a:p>
          <a:p>
            <a:r>
              <a:rPr dirty="0"/>
              <a:t>• Windsurf and Devin Desktop represent AI-first coding environments. Use them as examples of products that combine models, repository context, tools, and workflow controls.</a:t>
            </a:r>
          </a:p>
          <a:p>
            <a:r>
              <a:rPr dirty="0"/>
              <a:t>• Remind participants to evaluate tools against their </a:t>
            </a:r>
            <a:r>
              <a:rPr dirty="0" err="1"/>
              <a:t>organisation's</a:t>
            </a:r>
            <a:r>
              <a:rPr dirty="0"/>
              <a:t> security rules and data policies before using private code or data.</a:t>
            </a:r>
          </a:p>
          <a:p>
            <a:endParaRPr dirty="0"/>
          </a:p>
          <a:p>
            <a:r>
              <a:rPr dirty="0"/>
              <a:t>• Sources:</a:t>
            </a:r>
          </a:p>
          <a:p>
            <a:r>
              <a:rPr dirty="0"/>
              <a:t>  - https://</a:t>
            </a:r>
            <a:r>
              <a:rPr dirty="0" err="1"/>
              <a:t>huggingface.co</a:t>
            </a:r>
            <a:endParaRPr dirty="0"/>
          </a:p>
          <a:p>
            <a:r>
              <a:rPr dirty="0"/>
              <a:t>  - https://</a:t>
            </a:r>
            <a:r>
              <a:rPr dirty="0" err="1"/>
              <a:t>www.youtube.com</a:t>
            </a:r>
            <a:r>
              <a:rPr dirty="0"/>
              <a:t>/</a:t>
            </a:r>
            <a:r>
              <a:rPr dirty="0" err="1"/>
              <a:t>watch?v</a:t>
            </a:r>
            <a:r>
              <a:rPr dirty="0"/>
              <a:t>=M6mYodf0dJM</a:t>
            </a:r>
          </a:p>
          <a:p>
            <a:r>
              <a:rPr dirty="0"/>
              <a:t>  - https://</a:t>
            </a:r>
            <a:r>
              <a:rPr dirty="0" err="1"/>
              <a:t>www.aihero.dev</a:t>
            </a:r>
            <a:r>
              <a:rPr dirty="0"/>
              <a:t>/skills</a:t>
            </a:r>
          </a:p>
          <a:p>
            <a:r>
              <a:rPr dirty="0"/>
              <a:t>  - https://</a:t>
            </a:r>
            <a:r>
              <a:rPr dirty="0" err="1"/>
              <a:t>www.youtube.com</a:t>
            </a:r>
            <a:r>
              <a:rPr dirty="0"/>
              <a:t>/</a:t>
            </a:r>
            <a:r>
              <a:rPr dirty="0" err="1"/>
              <a:t>watch?v</a:t>
            </a:r>
            <a:r>
              <a:rPr dirty="0"/>
              <a:t>=bQ5BoolX9Ag</a:t>
            </a:r>
          </a:p>
          <a:p>
            <a:r>
              <a:rPr dirty="0"/>
              <a:t>  - https://</a:t>
            </a:r>
            <a:r>
              <a:rPr dirty="0" err="1"/>
              <a:t>windsurf.com</a:t>
            </a:r>
            <a:endParaRPr dirty="0"/>
          </a:p>
          <a:p>
            <a:r>
              <a:rPr dirty="0"/>
              <a:t>Icon source: </a:t>
            </a:r>
            <a:r>
              <a:rPr dirty="0" err="1"/>
              <a:t>Lucide</a:t>
            </a:r>
            <a:r>
              <a:rPr dirty="0"/>
              <a:t> Icons (ISC License), https://</a:t>
            </a:r>
            <a:r>
              <a:rPr dirty="0" err="1"/>
              <a:t>lucide.dev</a:t>
            </a:r>
            <a:r>
              <a:rPr dirty="0"/>
              <a:t>/icons/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First takeaway: context shapes continuation. This connects prompting, system instructions, tool results, retrieved documents, and chat history.</a:t>
            </a:r>
          </a:p>
          <a:p>
            <a:r>
              <a:rPr dirty="0"/>
              <a:t>• Example: supplying current API documentation changes the likely answer because those facts now appear in the model's working context.</a:t>
            </a:r>
          </a:p>
          <a:p>
            <a:r>
              <a:rPr dirty="0"/>
              <a:t>• Second takeaway: AI increases speed, while engineering practices control the risk created by that speed.</a:t>
            </a:r>
          </a:p>
          <a:p>
            <a:r>
              <a:rPr dirty="0"/>
              <a:t>• Example: generated code becomes useful only after review, tests, validation, and safe deployment controls.</a:t>
            </a:r>
          </a:p>
          <a:p>
            <a:r>
              <a:rPr dirty="0"/>
              <a:t>• Ask each participant to name one technique they will try and one verification step they will keep.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Invite questions about both concepts and practical setup.</a:t>
            </a:r>
          </a:p>
          <a:p>
            <a:r>
              <a:rPr dirty="0"/>
              <a:t>• If the room is quiet, ask: Which part still feels least intuitive: token prediction, context windows, MCP, skills, agents, or RAG?</a:t>
            </a:r>
          </a:p>
          <a:p>
            <a:r>
              <a:rPr dirty="0"/>
              <a:t>• Ask where participants expect the greatest risk in their own work and which control would reduce it.</a:t>
            </a:r>
          </a:p>
          <a:p>
            <a:r>
              <a:rPr dirty="0"/>
              <a:t>• Close by reminding them that products will change, but clear context, verification, limited permissions, and safe failure handling remain useful.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7807FF1-0697-4762-9AB7-5CD5BCE7FCD6}"/>
              </a:ext>
            </a:extLst>
          </p:cNvPr>
          <p:cNvSpPr>
            <a:spLocks noGrp="1"/>
          </p:cNvSpPr>
          <p:nvPr/>
        </p:nvSpPr>
        <p:spPr>
          <a:xfrm>
            <a:off x="5669280" y="-1097280"/>
            <a:ext cx="5029200" cy="5029200"/>
          </a:xfrm>
          <a:prstGeom prst="ellipse">
            <a:avLst/>
          </a:prstGeom>
          <a:solidFill>
            <a:srgbClr val="0C2D52">
              <a:alpha val="65000"/>
            </a:srgbClr>
          </a:solidFill>
          <a:ln w="12700">
            <a:solidFill>
              <a:srgbClr val="0C2D5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E58D2CF-098F-4D97-ACA5-C2E68ADA1C2C}"/>
              </a:ext>
            </a:extLst>
          </p:cNvPr>
          <p:cNvSpPr>
            <a:spLocks noGrp="1"/>
          </p:cNvSpPr>
          <p:nvPr/>
        </p:nvSpPr>
        <p:spPr>
          <a:xfrm>
            <a:off x="6583680" y="-365760"/>
            <a:ext cx="3474720" cy="3474720"/>
          </a:xfrm>
          <a:prstGeom prst="ellipse">
            <a:avLst/>
          </a:prstGeom>
          <a:solidFill>
            <a:srgbClr val="112F58">
              <a:alpha val="50000"/>
            </a:srgbClr>
          </a:solidFill>
          <a:ln w="12700">
            <a:solidFill>
              <a:srgbClr val="112F58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640080"/>
            <a:ext cx="1097280" cy="109728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B9E96D-7EE9-4032-A8F4-82DC44E24EA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lvl="0" indent="0" algn="ctr">
              <a:buNone/>
            </a:pPr>
            <a:r>
              <a:rPr sz="38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Click to edit Master text styles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8D95D02-40B9-4FAE-8B62-9C26A8CB6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lvl="0" indent="0" algn="ctr">
              <a:buNone/>
            </a:pPr>
            <a:r>
              <a:rPr sz="1600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Click to edit Master text styles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F9FA1758-BE2D-490E-80E5-1EBB301B6E95}"/>
              </a:ext>
            </a:extLst>
          </p:cNvPr>
          <p:cNvSpPr>
            <a:spLocks noGrp="1"/>
          </p:cNvSpPr>
          <p:nvPr/>
        </p:nvSpPr>
        <p:spPr>
          <a:xfrm>
            <a:off x="457200" y="4709160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9A471C6B-BE35-4047-9565-D544EAB9395C}"/>
              </a:ext>
            </a:extLst>
          </p:cNvPr>
          <p:cNvSpPr>
            <a:spLocks noGrp="1"/>
          </p:cNvSpPr>
          <p:nvPr/>
        </p:nvSpPr>
        <p:spPr>
          <a:xfrm>
            <a:off x="658368" y="4709160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7F5ECA68-CE8A-4A86-98E3-08D6F5F12AE0}"/>
              </a:ext>
            </a:extLst>
          </p:cNvPr>
          <p:cNvSpPr>
            <a:spLocks noGrp="1"/>
          </p:cNvSpPr>
          <p:nvPr/>
        </p:nvSpPr>
        <p:spPr>
          <a:xfrm>
            <a:off x="859536" y="4709160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6C5DF68-A2F6-4F50-AC58-1B80BCA0BC1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02920" y="347472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lvl="0" indent="0">
              <a:buNone/>
            </a:pPr>
            <a:r>
              <a: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Click to edit Master text styles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110F79A-CCB2-440A-AF76-CB3DBF74186C}"/>
              </a:ext>
            </a:extLst>
          </p:cNvPr>
          <p:cNvSpPr>
            <a:spLocks noGrp="1"/>
          </p:cNvSpPr>
          <p:nvPr/>
        </p:nvSpPr>
        <p:spPr>
          <a:xfrm>
            <a:off x="457200" y="1097280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2A728F2-C9F6-4A35-B8EB-CF3D8F10E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lvl="0" indent="0" algn="ctr">
              <a:buNone/>
            </a:pPr>
            <a:r>
              <a:rPr sz="2200" b="1">
                <a:solidFill>
                  <a:srgbClr val="07111F"/>
                </a:solidFill>
                <a:latin typeface="Trebuchet MS"/>
                <a:ea typeface="Trebuchet MS"/>
                <a:cs typeface="Trebuchet MS"/>
              </a:rPr>
              <a:t>Click to edit Master text styles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87BE4A4-7DBA-4542-BB23-615E57B0885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207008" y="1124712"/>
            <a:ext cx="713232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lvl="0" indent="0">
              <a:buNone/>
            </a:pPr>
            <a:r>
              <a:rPr sz="17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Click to edit Master text styles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086EAF5-26FE-4819-B592-76A6C5EFA15A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207008" y="1435608"/>
            <a:ext cx="713232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lvl="0" indent="0">
              <a:buNone/>
            </a:pPr>
            <a:r>
              <a:rPr sz="11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Click to edit Master text styles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F2A22E3-23BB-41E9-8FFF-37FDD477D2B5}"/>
              </a:ext>
            </a:extLst>
          </p:cNvPr>
          <p:cNvSpPr>
            <a:spLocks noGrp="1"/>
          </p:cNvSpPr>
          <p:nvPr/>
        </p:nvSpPr>
        <p:spPr>
          <a:xfrm>
            <a:off x="457200" y="1984248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CF2DC7D-3825-4B6C-BBCF-8FED1C60FE64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57200" y="1984248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lvl="0" indent="0" algn="ctr">
              <a:buNone/>
            </a:pPr>
            <a:r>
              <a:rPr sz="2200" b="1">
                <a:solidFill>
                  <a:srgbClr val="07111F"/>
                </a:solidFill>
                <a:latin typeface="Trebuchet MS"/>
                <a:ea typeface="Trebuchet MS"/>
                <a:cs typeface="Trebuchet MS"/>
              </a:rPr>
              <a:t>Click to edit Master text styles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6301752-FA6A-486A-AAC9-8B9B35C3D279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1207008" y="2011680"/>
            <a:ext cx="713232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lvl="0" indent="0">
              <a:buNone/>
            </a:pPr>
            <a:r>
              <a:rPr sz="17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Click to edit Master text styles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F966FA2-03C8-4B8C-A07B-4CCCFD2A3F22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1207008" y="2322576"/>
            <a:ext cx="713232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lvl="0" indent="0">
              <a:buNone/>
            </a:pPr>
            <a:r>
              <a:rPr sz="11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Click to edit Master text styles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AA9385C-D6D1-45D8-9908-84B4C09758F4}"/>
              </a:ext>
            </a:extLst>
          </p:cNvPr>
          <p:cNvSpPr>
            <a:spLocks noGrp="1"/>
          </p:cNvSpPr>
          <p:nvPr/>
        </p:nvSpPr>
        <p:spPr>
          <a:xfrm>
            <a:off x="457200" y="2871216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E80FBF8-55C7-483D-AB98-235668626217}"/>
              </a:ext>
            </a:extLst>
          </p:cNvPr>
          <p:cNvSpPr>
            <a:spLocks noGrp="1"/>
          </p:cNvSpPr>
          <p:nvPr>
            <p:ph type="body" idx="7"/>
          </p:nvPr>
        </p:nvSpPr>
        <p:spPr>
          <a:xfrm>
            <a:off x="457200" y="2871216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lvl="0" indent="0" algn="ctr">
              <a:buNone/>
            </a:pPr>
            <a:r>
              <a:rPr sz="2200" b="1">
                <a:solidFill>
                  <a:srgbClr val="07111F"/>
                </a:solidFill>
                <a:latin typeface="Trebuchet MS"/>
                <a:ea typeface="Trebuchet MS"/>
                <a:cs typeface="Trebuchet MS"/>
              </a:rPr>
              <a:t>Click to edit Master text styles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65958B9-5E41-4159-A89B-EFA1FE78A5B6}"/>
              </a:ext>
            </a:extLst>
          </p:cNvPr>
          <p:cNvSpPr>
            <a:spLocks noGrp="1"/>
          </p:cNvSpPr>
          <p:nvPr>
            <p:ph type="body" idx="8"/>
          </p:nvPr>
        </p:nvSpPr>
        <p:spPr>
          <a:xfrm>
            <a:off x="1207008" y="2898648"/>
            <a:ext cx="713232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lvl="0" indent="0">
              <a:buNone/>
            </a:pPr>
            <a:r>
              <a:rPr sz="17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Click to edit Master text styles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EAB1EBA-7749-43CA-9E1F-F90124775296}"/>
              </a:ext>
            </a:extLst>
          </p:cNvPr>
          <p:cNvSpPr>
            <a:spLocks noGrp="1"/>
          </p:cNvSpPr>
          <p:nvPr>
            <p:ph type="body" idx="9"/>
          </p:nvPr>
        </p:nvSpPr>
        <p:spPr>
          <a:xfrm>
            <a:off x="1207008" y="3209544"/>
            <a:ext cx="713232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lvl="0" indent="0">
              <a:buNone/>
            </a:pPr>
            <a:r>
              <a:rPr sz="11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Click to edit Master text styles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1C578B1-9914-4B3C-B093-3BF25CEBB8DD}"/>
              </a:ext>
            </a:extLst>
          </p:cNvPr>
          <p:cNvSpPr>
            <a:spLocks noGrp="1"/>
          </p:cNvSpPr>
          <p:nvPr/>
        </p:nvSpPr>
        <p:spPr>
          <a:xfrm>
            <a:off x="457200" y="3758184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2B76D1B-486A-4C8E-B902-7E9252A40BC6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7200" y="3758184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lvl="0" indent="0" algn="ctr">
              <a:buNone/>
            </a:pPr>
            <a:r>
              <a:rPr sz="2200" b="1">
                <a:solidFill>
                  <a:srgbClr val="07111F"/>
                </a:solidFill>
                <a:latin typeface="Trebuchet MS"/>
                <a:ea typeface="Trebuchet MS"/>
                <a:cs typeface="Trebuchet MS"/>
              </a:rPr>
              <a:t>Click to edit Master text styles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BA1FCEF-00B3-4CC3-A5B0-1F4C790552DA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207008" y="3785616"/>
            <a:ext cx="713232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lvl="0" indent="0">
              <a:buNone/>
            </a:pPr>
            <a:r>
              <a:rPr sz="17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Click to edit Master text styles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7C71593-49BA-4832-A289-E910D0AAFDF8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1207008" y="4096512"/>
            <a:ext cx="713232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lvl="0" indent="0">
              <a:buNone/>
            </a:pPr>
            <a:r>
              <a:rPr sz="11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Click to edit Master text styles</a:t>
            </a:r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FBAEB56-83FA-46D9-828C-0CEC91594BF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474720" y="182880"/>
            <a:ext cx="5486400" cy="4572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lvl="0" indent="0" algn="r">
              <a:buNone/>
            </a:pPr>
            <a:r>
              <a:rPr sz="23000" b="1">
                <a:solidFill>
                  <a:srgbClr val="0B1E34"/>
                </a:solidFill>
                <a:latin typeface="Trebuchet MS"/>
                <a:ea typeface="Trebuchet MS"/>
                <a:cs typeface="Trebuchet MS"/>
              </a:rPr>
              <a:t>Click to edit Master text styles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001E1DD-2EEB-4269-86B1-63D6C8E4C2E3}"/>
              </a:ext>
            </a:extLst>
          </p:cNvPr>
          <p:cNvSpPr>
            <a:spLocks noGrp="1"/>
          </p:cNvSpPr>
          <p:nvPr/>
        </p:nvSpPr>
        <p:spPr>
          <a:xfrm>
            <a:off x="502920" y="64008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0A2C50"/>
          </a:solidFill>
          <a:ln w="12700">
            <a:solidFill>
              <a:srgbClr val="0A2C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64785AF-2533-48C3-A54F-03F64D59A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2920" y="640080"/>
            <a:ext cx="128016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lvl="0" indent="0" algn="ctr">
              <a:buNone/>
            </a:pPr>
            <a:r>
              <a:rPr sz="1100" b="1" spc="300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Click to edit Master text styles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0620818-11D6-439C-AC3C-1AE3B0A150B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02920" y="1234440"/>
            <a:ext cx="777240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lvl="0" indent="0">
              <a:buNone/>
            </a:pPr>
            <a:r>
              <a:rPr sz="46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Click to edit Master text styles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9FA0F12-12C2-47E3-B2D2-B1380CA9E38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02920" y="2423160"/>
            <a:ext cx="64008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lvl="0" indent="0">
              <a:buNone/>
            </a:pPr>
            <a:r>
              <a:rPr sz="15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Click to edit Master text styles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C549161-8205-4223-9CC6-541606377A65}"/>
              </a:ext>
            </a:extLst>
          </p:cNvPr>
          <p:cNvSpPr>
            <a:spLocks noGrp="1"/>
          </p:cNvSpPr>
          <p:nvPr/>
        </p:nvSpPr>
        <p:spPr>
          <a:xfrm>
            <a:off x="457200" y="3703320"/>
            <a:ext cx="868680" cy="868680"/>
          </a:xfrm>
          <a:prstGeom prst="ellipse">
            <a:avLst/>
          </a:prstGeom>
          <a:solidFill>
            <a:srgbClr val="0A2C50"/>
          </a:solidFill>
          <a:ln w="12700">
            <a:solidFill>
              <a:srgbClr val="0A2C5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3758184"/>
            <a:ext cx="758952" cy="758952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idea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FAC322-464C-4011-AFAE-7ACEB546E72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90550" y="447675"/>
            <a:ext cx="8096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lvl="0">
              <a:buNone/>
              <a:def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defRPr>
            </a:pPr>
            <a:r>
              <a: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Click to edit Master text styles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06ED32-52D4-4E6C-A542-AF15410FD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0" y="1571625"/>
            <a:ext cx="8001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lvl="0">
              <a:buNone/>
              <a:defRPr sz="2700" b="1">
                <a:solidFill>
                  <a:srgbClr val="38BDF8"/>
                </a:solidFill>
                <a:latin typeface="Trebuchet MS"/>
                <a:ea typeface="Trebuchet MS"/>
                <a:cs typeface="Trebuchet MS"/>
              </a:defRPr>
            </a:pPr>
            <a:r>
              <a:rPr sz="2700" b="1">
                <a:solidFill>
                  <a:srgbClr val="38BDF8"/>
                </a:solidFill>
                <a:latin typeface="Trebuchet MS"/>
                <a:ea typeface="Trebuchet MS"/>
                <a:cs typeface="Trebuchet MS"/>
              </a:rP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DB9B5-E35F-4DCD-8DFA-A301D196660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90550" y="2209800"/>
            <a:ext cx="7905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lvl="0">
              <a:buNone/>
              <a:defRPr sz="2400" b="0">
                <a:solidFill>
                  <a:srgbClr val="F0F6FC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Click to edit Master text styles</a:t>
            </a:r>
          </a:p>
          <a:p>
            <a:pPr lvl="1">
              <a:buNone/>
              <a:defRPr sz="2400" b="0">
                <a:solidFill>
                  <a:srgbClr val="F0F6FC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Second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944B0A-312F-45DF-AB62-C15EB9D3686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90550" y="3705225"/>
            <a:ext cx="7905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lvl="0">
              <a:buNone/>
              <a:defRPr sz="1800" b="0">
                <a:solidFill>
                  <a:srgbClr val="6B8FA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Click to edit Master text styles</a:t>
            </a:r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oints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7A03F04-AF0E-4741-ADEF-FEF11CCE81F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90550" y="447675"/>
            <a:ext cx="8096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lvl="0">
              <a:buNone/>
              <a:def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defRPr>
            </a:pPr>
            <a:r>
              <a: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Click to edit Master text styles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79C686-1CD6-4A36-A085-47BB0A54E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0" y="1343025"/>
            <a:ext cx="8096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lvl="0">
              <a:buNone/>
              <a:defRPr sz="2100" b="1">
                <a:solidFill>
                  <a:srgbClr val="38BDF8"/>
                </a:solidFill>
                <a:latin typeface="Trebuchet MS"/>
                <a:ea typeface="Trebuchet MS"/>
                <a:cs typeface="Trebuchet MS"/>
              </a:defRPr>
            </a:pPr>
            <a:r>
              <a:rPr sz="2100" b="1">
                <a:solidFill>
                  <a:srgbClr val="38BDF8"/>
                </a:solidFill>
                <a:latin typeface="Trebuchet MS"/>
                <a:ea typeface="Trebuchet MS"/>
                <a:cs typeface="Trebuchet MS"/>
              </a:rP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20B205-1E65-48EE-B429-52EF976BA4D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90550" y="1752600"/>
            <a:ext cx="80962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lvl="0">
              <a:buNone/>
              <a:defRPr sz="1800" b="0">
                <a:solidFill>
                  <a:srgbClr val="F0F6FC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FB173A-DC75-4264-B436-BF2FFFE6D95F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90550" y="2419350"/>
            <a:ext cx="8096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lvl="0">
              <a:buNone/>
              <a:defRPr sz="2100" b="1">
                <a:solidFill>
                  <a:srgbClr val="34D399"/>
                </a:solidFill>
                <a:latin typeface="Trebuchet MS"/>
                <a:ea typeface="Trebuchet MS"/>
                <a:cs typeface="Trebuchet MS"/>
              </a:defRPr>
            </a:pPr>
            <a:r>
              <a:rPr sz="2100" b="1">
                <a:solidFill>
                  <a:srgbClr val="34D399"/>
                </a:solidFill>
                <a:latin typeface="Trebuchet MS"/>
                <a:ea typeface="Trebuchet MS"/>
                <a:cs typeface="Trebuchet MS"/>
              </a:rPr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1CFC1C-0A54-46AD-A3A4-B3CB61B3E1F2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590550" y="2828925"/>
            <a:ext cx="80962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lvl="0">
              <a:buNone/>
              <a:defRPr sz="1800" b="0">
                <a:solidFill>
                  <a:srgbClr val="F0F6FC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30C14B-8246-49B5-B5FC-21FFE2F45ACC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590550" y="3495675"/>
            <a:ext cx="8096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lvl="0">
              <a:buNone/>
              <a:defRPr sz="2100" b="1">
                <a:solidFill>
                  <a:srgbClr val="FBBF24"/>
                </a:solidFill>
                <a:latin typeface="Trebuchet MS"/>
                <a:ea typeface="Trebuchet MS"/>
                <a:cs typeface="Trebuchet MS"/>
              </a:defRPr>
            </a:pPr>
            <a:r>
              <a:rPr sz="2100" b="1">
                <a:solidFill>
                  <a:srgbClr val="FBBF24"/>
                </a:solidFill>
                <a:latin typeface="Trebuchet MS"/>
                <a:ea typeface="Trebuchet MS"/>
                <a:cs typeface="Trebuchet MS"/>
              </a:rPr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66BA5C-7BB1-4765-A2A3-92145043CB3A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590550" y="3905250"/>
            <a:ext cx="80962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lvl="0">
              <a:buNone/>
              <a:defRPr sz="1800" b="0">
                <a:solidFill>
                  <a:srgbClr val="F0F6FC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Click to edit Master text styles</a:t>
            </a:r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7751CA2-D528-45FE-AC84-4BCCE394D488}"/>
              </a:ext>
            </a:extLst>
          </p:cNvPr>
          <p:cNvSpPr>
            <a:spLocks noGrp="1"/>
          </p:cNvSpPr>
          <p:nvPr/>
        </p:nvSpPr>
        <p:spPr>
          <a:xfrm>
            <a:off x="1371600" y="457200"/>
            <a:ext cx="6400800" cy="4572000"/>
          </a:xfrm>
          <a:prstGeom prst="ellipse">
            <a:avLst/>
          </a:prstGeom>
          <a:solidFill>
            <a:srgbClr val="0C2D52">
              <a:alpha val="60000"/>
            </a:srgbClr>
          </a:solidFill>
          <a:ln w="12700">
            <a:solidFill>
              <a:srgbClr val="0C2D5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594360"/>
            <a:ext cx="1005840" cy="10058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D169DAA5-FE7F-4E06-B9C1-106A8F73E11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lvl="0" indent="0" algn="ctr">
              <a:buNone/>
            </a:pPr>
            <a:r>
              <a:rPr sz="6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Click to edit Master text styles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DF54A96-B863-448C-BF42-54B18BDDF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lvl="0" indent="0" algn="ctr">
              <a:buNone/>
            </a:pPr>
            <a:r>
              <a:rPr sz="1800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Click to edit Master text styles</a:t>
            </a: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5E9CF898-FC09-4CFF-A2B8-78617C664772}"/>
              </a:ext>
            </a:extLst>
          </p:cNvPr>
          <p:cNvSpPr>
            <a:spLocks noGrp="1"/>
          </p:cNvSpPr>
          <p:nvPr/>
        </p:nvSpPr>
        <p:spPr>
          <a:xfrm>
            <a:off x="4114800" y="3520440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8E7AE4E6-33E4-4468-84BE-C1FE3DCF76E6}"/>
              </a:ext>
            </a:extLst>
          </p:cNvPr>
          <p:cNvSpPr>
            <a:spLocks noGrp="1"/>
          </p:cNvSpPr>
          <p:nvPr/>
        </p:nvSpPr>
        <p:spPr>
          <a:xfrm>
            <a:off x="4572000" y="352044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C488F628-A95A-4039-9306-C148D12C3ADC}"/>
              </a:ext>
            </a:extLst>
          </p:cNvPr>
          <p:cNvSpPr>
            <a:spLocks noGrp="1"/>
          </p:cNvSpPr>
          <p:nvPr/>
        </p:nvSpPr>
        <p:spPr>
          <a:xfrm>
            <a:off x="5029200" y="352044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7xTGNNLPyMI" TargetMode="External"/><Relationship Id="rId5" Type="http://schemas.openxmlformats.org/officeDocument/2006/relationships/hyperlink" Target="https://youtube.com/playlist?list=PLZHQObOWTQDNU6R1_67000Dx_ZCJB-3pi" TargetMode="External"/><Relationship Id="rId4" Type="http://schemas.openxmlformats.org/officeDocument/2006/relationships/image" Target="../media/image2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be.com/playlist?list=PLZHQObOWTQDNU6R1_67000Dx_ZCJB-3pi" TargetMode="External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CCA9985-7681-4ADC-A66F-6A233D6DAA64}"/>
              </a:ext>
            </a:extLst>
          </p:cNvPr>
          <p:cNvSpPr>
            <a:spLocks noGrp="1"/>
          </p:cNvSpPr>
          <p:nvPr/>
        </p:nvSpPr>
        <p:spPr>
          <a:xfrm>
            <a:off x="5669280" y="-1091901"/>
            <a:ext cx="5029200" cy="5029200"/>
          </a:xfrm>
          <a:prstGeom prst="ellipse">
            <a:avLst/>
          </a:prstGeom>
          <a:solidFill>
            <a:srgbClr val="0C2D52">
              <a:alpha val="65000"/>
            </a:srgbClr>
          </a:solidFill>
          <a:ln w="12700">
            <a:solidFill>
              <a:srgbClr val="0C2D5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5656037-6758-458C-88EE-5A65F50C0673}"/>
              </a:ext>
            </a:extLst>
          </p:cNvPr>
          <p:cNvSpPr>
            <a:spLocks noGrp="1"/>
          </p:cNvSpPr>
          <p:nvPr/>
        </p:nvSpPr>
        <p:spPr>
          <a:xfrm>
            <a:off x="6583680" y="-365760"/>
            <a:ext cx="3474720" cy="3474720"/>
          </a:xfrm>
          <a:prstGeom prst="ellipse">
            <a:avLst/>
          </a:prstGeom>
          <a:solidFill>
            <a:srgbClr val="112F58">
              <a:alpha val="50000"/>
            </a:srgbClr>
          </a:solidFill>
          <a:ln w="12700">
            <a:solidFill>
              <a:srgbClr val="112F58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640080"/>
            <a:ext cx="1097280" cy="109728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1AD8F838-0862-4C32-9CE6-A955D0C040EF}"/>
              </a:ext>
            </a:extLst>
          </p:cNvPr>
          <p:cNvSpPr>
            <a:spLocks noGrp="1"/>
          </p:cNvSpPr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38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AI &amp; LLMs for Software Engineers</a:t>
            </a:r>
            <a:endParaRPr sz="38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C5D3B9C-5A0B-4E39-A9A6-EDFA92397E70}"/>
              </a:ext>
            </a:extLst>
          </p:cNvPr>
          <p:cNvSpPr>
            <a:spLocks noGrp="1"/>
          </p:cNvSpPr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Engineering Academy  ·  Professional Transition Workshop</a:t>
            </a:r>
            <a:endParaRPr sz="16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90572BE3-B897-4AAB-BF81-5D2DFC920C7D}"/>
              </a:ext>
            </a:extLst>
          </p:cNvPr>
          <p:cNvSpPr>
            <a:spLocks noGrp="1"/>
          </p:cNvSpPr>
          <p:nvPr/>
        </p:nvSpPr>
        <p:spPr>
          <a:xfrm>
            <a:off x="457200" y="4709160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67DD3256-5D89-49B5-BDFF-CF318C3B22B3}"/>
              </a:ext>
            </a:extLst>
          </p:cNvPr>
          <p:cNvSpPr>
            <a:spLocks noGrp="1"/>
          </p:cNvSpPr>
          <p:nvPr/>
        </p:nvSpPr>
        <p:spPr>
          <a:xfrm>
            <a:off x="658368" y="4709160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F75F78A3-3792-4553-9A33-C73659E59A34}"/>
              </a:ext>
            </a:extLst>
          </p:cNvPr>
          <p:cNvSpPr>
            <a:spLocks noGrp="1"/>
          </p:cNvSpPr>
          <p:nvPr/>
        </p:nvSpPr>
        <p:spPr>
          <a:xfrm>
            <a:off x="859536" y="4709160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99576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1E7C741-84BD-4B60-8802-94AE74332AE6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What We'll Cover</a:t>
            </a:r>
            <a:endParaRPr sz="30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0FABBE8-DEF3-42D4-9BA5-66E1AEF27425}"/>
              </a:ext>
            </a:extLst>
          </p:cNvPr>
          <p:cNvSpPr>
            <a:spLocks noGrp="1"/>
          </p:cNvSpPr>
          <p:nvPr/>
        </p:nvSpPr>
        <p:spPr>
          <a:xfrm>
            <a:off x="457200" y="1123950"/>
            <a:ext cx="514350" cy="514350"/>
          </a:xfrm>
          <a:prstGeom prst="roundRect">
            <a:avLst>
              <a:gd name="adj" fmla="val 14706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220EC33-E8E3-4C2A-958E-819522FF0F44}"/>
              </a:ext>
            </a:extLst>
          </p:cNvPr>
          <p:cNvSpPr>
            <a:spLocks noGrp="1"/>
          </p:cNvSpPr>
          <p:nvPr/>
        </p:nvSpPr>
        <p:spPr>
          <a:xfrm>
            <a:off x="457200" y="1123950"/>
            <a:ext cx="514350" cy="5143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07111F"/>
                </a:solidFill>
                <a:latin typeface="Trebuchet MS"/>
                <a:ea typeface="Trebuchet MS"/>
                <a:cs typeface="Trebuchet MS"/>
              </a:rPr>
              <a:t>01</a:t>
            </a:r>
            <a:endParaRPr sz="2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ECDBAAC-C8DF-45B5-AEF6-300C939139BF}"/>
              </a:ext>
            </a:extLst>
          </p:cNvPr>
          <p:cNvSpPr>
            <a:spLocks noGrp="1"/>
          </p:cNvSpPr>
          <p:nvPr/>
        </p:nvSpPr>
        <p:spPr>
          <a:xfrm>
            <a:off x="1085850" y="1133475"/>
            <a:ext cx="3143250" cy="257175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5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What AI and LLMs Are</a:t>
            </a:r>
            <a:endParaRPr sz="17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B18E01B-7B87-4C3C-ACDE-184DB64B43AB}"/>
              </a:ext>
            </a:extLst>
          </p:cNvPr>
          <p:cNvSpPr>
            <a:spLocks noGrp="1"/>
          </p:cNvSpPr>
          <p:nvPr/>
        </p:nvSpPr>
        <p:spPr>
          <a:xfrm>
            <a:off x="1085850" y="1390650"/>
            <a:ext cx="3143250" cy="20955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75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AI, ML, tokens, predictions, and model size</a:t>
            </a:r>
            <a:endParaRPr sz="11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392D390-ACF5-49EF-869B-3DF66CD12994}"/>
              </a:ext>
            </a:extLst>
          </p:cNvPr>
          <p:cNvSpPr>
            <a:spLocks noGrp="1"/>
          </p:cNvSpPr>
          <p:nvPr/>
        </p:nvSpPr>
        <p:spPr>
          <a:xfrm>
            <a:off x="457200" y="2000250"/>
            <a:ext cx="514350" cy="514350"/>
          </a:xfrm>
          <a:prstGeom prst="roundRect">
            <a:avLst>
              <a:gd name="adj" fmla="val 14706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2223942-502C-48E1-A283-ADE5AD23333D}"/>
              </a:ext>
            </a:extLst>
          </p:cNvPr>
          <p:cNvSpPr>
            <a:spLocks noGrp="1"/>
          </p:cNvSpPr>
          <p:nvPr/>
        </p:nvSpPr>
        <p:spPr>
          <a:xfrm>
            <a:off x="457200" y="2000250"/>
            <a:ext cx="514350" cy="5143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07111F"/>
                </a:solidFill>
                <a:latin typeface="Trebuchet MS"/>
                <a:ea typeface="Trebuchet MS"/>
                <a:cs typeface="Trebuchet MS"/>
              </a:rPr>
              <a:t>02</a:t>
            </a:r>
            <a:endParaRPr sz="22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E85B500-A3F5-4CB7-A293-FD71CE181EDF}"/>
              </a:ext>
            </a:extLst>
          </p:cNvPr>
          <p:cNvSpPr>
            <a:spLocks noGrp="1"/>
          </p:cNvSpPr>
          <p:nvPr/>
        </p:nvSpPr>
        <p:spPr>
          <a:xfrm>
            <a:off x="1085850" y="2009775"/>
            <a:ext cx="3143250" cy="257175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5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Running a Model</a:t>
            </a:r>
            <a:endParaRPr sz="17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FFF1F31-805A-4EC3-8B5F-4D73EDC732D9}"/>
              </a:ext>
            </a:extLst>
          </p:cNvPr>
          <p:cNvSpPr>
            <a:spLocks noGrp="1"/>
          </p:cNvSpPr>
          <p:nvPr/>
        </p:nvSpPr>
        <p:spPr>
          <a:xfrm>
            <a:off x="1085850" y="2266950"/>
            <a:ext cx="3143250" cy="20955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75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Docker Model Runner and a local model</a:t>
            </a:r>
            <a:endParaRPr sz="11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FD7E034-F9E2-4884-8BAC-C713D79DC664}"/>
              </a:ext>
            </a:extLst>
          </p:cNvPr>
          <p:cNvSpPr>
            <a:spLocks noGrp="1"/>
          </p:cNvSpPr>
          <p:nvPr/>
        </p:nvSpPr>
        <p:spPr>
          <a:xfrm>
            <a:off x="457200" y="2876550"/>
            <a:ext cx="514350" cy="514350"/>
          </a:xfrm>
          <a:prstGeom prst="roundRect">
            <a:avLst>
              <a:gd name="adj" fmla="val 14706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5E03B88-3796-4E4D-BFAB-C3D36D7686D9}"/>
              </a:ext>
            </a:extLst>
          </p:cNvPr>
          <p:cNvSpPr>
            <a:spLocks noGrp="1"/>
          </p:cNvSpPr>
          <p:nvPr/>
        </p:nvSpPr>
        <p:spPr>
          <a:xfrm>
            <a:off x="457200" y="2876550"/>
            <a:ext cx="514350" cy="5143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07111F"/>
                </a:solidFill>
                <a:latin typeface="Trebuchet MS"/>
                <a:ea typeface="Trebuchet MS"/>
                <a:cs typeface="Trebuchet MS"/>
              </a:rPr>
              <a:t>03</a:t>
            </a:r>
            <a:endParaRPr sz="22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B8743A3-37BC-4E6D-AD15-D1D735B3AF9B}"/>
              </a:ext>
            </a:extLst>
          </p:cNvPr>
          <p:cNvSpPr>
            <a:spLocks noGrp="1"/>
          </p:cNvSpPr>
          <p:nvPr/>
        </p:nvSpPr>
        <p:spPr>
          <a:xfrm>
            <a:off x="1085850" y="2886075"/>
            <a:ext cx="3143250" cy="257175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5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Prompting as Programming</a:t>
            </a:r>
            <a:endParaRPr sz="17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A95FA13-35E1-4B04-8F5D-8422B620A70F}"/>
              </a:ext>
            </a:extLst>
          </p:cNvPr>
          <p:cNvSpPr>
            <a:spLocks noGrp="1"/>
          </p:cNvSpPr>
          <p:nvPr/>
        </p:nvSpPr>
        <p:spPr>
          <a:xfrm>
            <a:off x="1085850" y="3143250"/>
            <a:ext cx="3143250" cy="20955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75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Five prompting techniques and practice</a:t>
            </a:r>
            <a:endParaRPr sz="11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39F491B-3CEA-41B6-BC00-D197903C7A5C}"/>
              </a:ext>
            </a:extLst>
          </p:cNvPr>
          <p:cNvSpPr>
            <a:spLocks noGrp="1"/>
          </p:cNvSpPr>
          <p:nvPr/>
        </p:nvSpPr>
        <p:spPr>
          <a:xfrm>
            <a:off x="457200" y="3752850"/>
            <a:ext cx="514350" cy="514350"/>
          </a:xfrm>
          <a:prstGeom prst="roundRect">
            <a:avLst>
              <a:gd name="adj" fmla="val 14706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1C8F164-57FB-4841-9914-3A0DF820042C}"/>
              </a:ext>
            </a:extLst>
          </p:cNvPr>
          <p:cNvSpPr>
            <a:spLocks noGrp="1"/>
          </p:cNvSpPr>
          <p:nvPr/>
        </p:nvSpPr>
        <p:spPr>
          <a:xfrm>
            <a:off x="457200" y="3752850"/>
            <a:ext cx="514350" cy="5143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07111F"/>
                </a:solidFill>
                <a:latin typeface="Trebuchet MS"/>
                <a:ea typeface="Trebuchet MS"/>
                <a:cs typeface="Trebuchet MS"/>
              </a:rPr>
              <a:t>04</a:t>
            </a:r>
            <a:endParaRPr sz="22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9757959-656F-46EC-AB5D-5DC53D4E2A31}"/>
              </a:ext>
            </a:extLst>
          </p:cNvPr>
          <p:cNvSpPr>
            <a:spLocks noGrp="1"/>
          </p:cNvSpPr>
          <p:nvPr/>
        </p:nvSpPr>
        <p:spPr>
          <a:xfrm>
            <a:off x="1085850" y="3762375"/>
            <a:ext cx="3143250" cy="257175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5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MCP</a:t>
            </a:r>
            <a:endParaRPr sz="17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3C1184F-41FC-4441-9BA1-F035C15F17D8}"/>
              </a:ext>
            </a:extLst>
          </p:cNvPr>
          <p:cNvSpPr>
            <a:spLocks noGrp="1"/>
          </p:cNvSpPr>
          <p:nvPr/>
        </p:nvSpPr>
        <p:spPr>
          <a:xfrm>
            <a:off x="1085850" y="4019550"/>
            <a:ext cx="3143250" cy="20955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75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Connect models to external tools</a:t>
            </a:r>
            <a:endParaRPr sz="1100"/>
          </a:p>
        </p:txBody>
      </p:sp>
      <p:sp>
        <p:nvSpPr>
          <p:cNvPr id="19" name="Agenda 05 chip">
            <a:extLst>
              <a:ext uri="{FF2B5EF4-FFF2-40B4-BE49-F238E27FC236}">
                <a16:creationId xmlns:a16="http://schemas.microsoft.com/office/drawing/2014/main" id="{80BC3169-F5AF-4C63-AAC6-909ADC61D388}"/>
              </a:ext>
            </a:extLst>
          </p:cNvPr>
          <p:cNvSpPr>
            <a:spLocks noGrp="1"/>
          </p:cNvSpPr>
          <p:nvPr/>
        </p:nvSpPr>
        <p:spPr>
          <a:xfrm>
            <a:off x="4800600" y="1123950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38BDF8"/>
          </a:solidFill>
          <a:ln w="0">
            <a:noFill/>
          </a:ln>
        </p:spPr>
        <p:txBody>
          <a:bodyPr/>
          <a:lstStyle/>
          <a:p>
            <a:endParaRPr lang="en-LT"/>
          </a:p>
        </p:txBody>
      </p:sp>
      <p:sp>
        <p:nvSpPr>
          <p:cNvPr id="20" name="Agenda 05 number">
            <a:extLst>
              <a:ext uri="{FF2B5EF4-FFF2-40B4-BE49-F238E27FC236}">
                <a16:creationId xmlns:a16="http://schemas.microsoft.com/office/drawing/2014/main" id="{1917B13F-E1EE-4BCE-9554-FC945E1F36F6}"/>
              </a:ext>
            </a:extLst>
          </p:cNvPr>
          <p:cNvSpPr>
            <a:spLocks noGrp="1"/>
          </p:cNvSpPr>
          <p:nvPr/>
        </p:nvSpPr>
        <p:spPr>
          <a:xfrm>
            <a:off x="4800600" y="1123950"/>
            <a:ext cx="5143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buNone/>
              <a:defRPr sz="1800" b="1">
                <a:solidFill>
                  <a:srgbClr val="081525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081525"/>
                </a:solidFill>
                <a:latin typeface="Trebuchet MS"/>
                <a:ea typeface="Trebuchet MS"/>
                <a:cs typeface="Trebuchet MS"/>
              </a:rPr>
              <a:t>05</a:t>
            </a:r>
          </a:p>
        </p:txBody>
      </p:sp>
      <p:sp>
        <p:nvSpPr>
          <p:cNvPr id="21" name="Agenda 05 title">
            <a:extLst>
              <a:ext uri="{FF2B5EF4-FFF2-40B4-BE49-F238E27FC236}">
                <a16:creationId xmlns:a16="http://schemas.microsoft.com/office/drawing/2014/main" id="{9D54DDA0-80DB-4AA0-995B-AFC0D8640610}"/>
              </a:ext>
            </a:extLst>
          </p:cNvPr>
          <p:cNvSpPr>
            <a:spLocks noGrp="1"/>
          </p:cNvSpPr>
          <p:nvPr/>
        </p:nvSpPr>
        <p:spPr>
          <a:xfrm>
            <a:off x="5429250" y="1133475"/>
            <a:ext cx="31432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500" b="1">
                <a:solidFill>
                  <a:srgbClr val="F2F7FF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F2F7FF"/>
                </a:solidFill>
                <a:latin typeface="Trebuchet MS"/>
                <a:ea typeface="Trebuchet MS"/>
                <a:cs typeface="Trebuchet MS"/>
              </a:rPr>
              <a:t>Skills</a:t>
            </a:r>
          </a:p>
        </p:txBody>
      </p:sp>
      <p:sp>
        <p:nvSpPr>
          <p:cNvPr id="22" name="Agenda 05 subtitle">
            <a:extLst>
              <a:ext uri="{FF2B5EF4-FFF2-40B4-BE49-F238E27FC236}">
                <a16:creationId xmlns:a16="http://schemas.microsoft.com/office/drawing/2014/main" id="{2D18FF44-77A1-4BC5-88F8-28DA1E1AF842}"/>
              </a:ext>
            </a:extLst>
          </p:cNvPr>
          <p:cNvSpPr>
            <a:spLocks noGrp="1"/>
          </p:cNvSpPr>
          <p:nvPr/>
        </p:nvSpPr>
        <p:spPr>
          <a:xfrm>
            <a:off x="5429250" y="1390650"/>
            <a:ext cx="31432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975">
                <a:solidFill>
                  <a:srgbClr val="7FA5C4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7FA5C4"/>
                </a:solidFill>
                <a:latin typeface="Calibri"/>
                <a:ea typeface="Calibri"/>
                <a:cs typeface="Calibri"/>
              </a:rPr>
              <a:t>Package repeatable workflows</a:t>
            </a:r>
          </a:p>
        </p:txBody>
      </p:sp>
      <p:sp>
        <p:nvSpPr>
          <p:cNvPr id="23" name="Agenda 06 chip">
            <a:extLst>
              <a:ext uri="{FF2B5EF4-FFF2-40B4-BE49-F238E27FC236}">
                <a16:creationId xmlns:a16="http://schemas.microsoft.com/office/drawing/2014/main" id="{26A2770D-C645-4CB2-A4AA-FEFC0D37E371}"/>
              </a:ext>
            </a:extLst>
          </p:cNvPr>
          <p:cNvSpPr>
            <a:spLocks noGrp="1"/>
          </p:cNvSpPr>
          <p:nvPr/>
        </p:nvSpPr>
        <p:spPr>
          <a:xfrm>
            <a:off x="4800600" y="2000250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34D399"/>
          </a:solidFill>
          <a:ln w="0">
            <a:noFill/>
          </a:ln>
        </p:spPr>
        <p:txBody>
          <a:bodyPr/>
          <a:lstStyle/>
          <a:p>
            <a:endParaRPr lang="en-LT"/>
          </a:p>
        </p:txBody>
      </p:sp>
      <p:sp>
        <p:nvSpPr>
          <p:cNvPr id="24" name="Agenda 06 number">
            <a:extLst>
              <a:ext uri="{FF2B5EF4-FFF2-40B4-BE49-F238E27FC236}">
                <a16:creationId xmlns:a16="http://schemas.microsoft.com/office/drawing/2014/main" id="{5D0EF4CC-1987-488F-8A23-647C837B2BB8}"/>
              </a:ext>
            </a:extLst>
          </p:cNvPr>
          <p:cNvSpPr>
            <a:spLocks noGrp="1"/>
          </p:cNvSpPr>
          <p:nvPr/>
        </p:nvSpPr>
        <p:spPr>
          <a:xfrm>
            <a:off x="4800600" y="2000250"/>
            <a:ext cx="5143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buNone/>
              <a:defRPr sz="1800" b="1">
                <a:solidFill>
                  <a:srgbClr val="081525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081525"/>
                </a:solidFill>
                <a:latin typeface="Trebuchet MS"/>
                <a:ea typeface="Trebuchet MS"/>
                <a:cs typeface="Trebuchet MS"/>
              </a:rPr>
              <a:t>06</a:t>
            </a:r>
          </a:p>
        </p:txBody>
      </p:sp>
      <p:sp>
        <p:nvSpPr>
          <p:cNvPr id="25" name="Agenda 06 title">
            <a:extLst>
              <a:ext uri="{FF2B5EF4-FFF2-40B4-BE49-F238E27FC236}">
                <a16:creationId xmlns:a16="http://schemas.microsoft.com/office/drawing/2014/main" id="{79F0941B-C1B0-41AF-8CEA-6C2EC1EE6125}"/>
              </a:ext>
            </a:extLst>
          </p:cNvPr>
          <p:cNvSpPr>
            <a:spLocks noGrp="1"/>
          </p:cNvSpPr>
          <p:nvPr/>
        </p:nvSpPr>
        <p:spPr>
          <a:xfrm>
            <a:off x="5429250" y="2009775"/>
            <a:ext cx="31432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500" b="1">
                <a:solidFill>
                  <a:srgbClr val="F2F7FF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F2F7FF"/>
                </a:solidFill>
                <a:latin typeface="Trebuchet MS"/>
                <a:ea typeface="Trebuchet MS"/>
                <a:cs typeface="Trebuchet MS"/>
              </a:rPr>
              <a:t>Agents, RAG &amp; More</a:t>
            </a:r>
          </a:p>
        </p:txBody>
      </p:sp>
      <p:sp>
        <p:nvSpPr>
          <p:cNvPr id="26" name="Agenda 06 subtitle">
            <a:extLst>
              <a:ext uri="{FF2B5EF4-FFF2-40B4-BE49-F238E27FC236}">
                <a16:creationId xmlns:a16="http://schemas.microsoft.com/office/drawing/2014/main" id="{B7F36B96-8E45-4617-A8B0-58ACB92F5A45}"/>
              </a:ext>
            </a:extLst>
          </p:cNvPr>
          <p:cNvSpPr>
            <a:spLocks noGrp="1"/>
          </p:cNvSpPr>
          <p:nvPr/>
        </p:nvSpPr>
        <p:spPr>
          <a:xfrm>
            <a:off x="5429250" y="2266950"/>
            <a:ext cx="31432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975">
                <a:solidFill>
                  <a:srgbClr val="7FA5C4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7FA5C4"/>
                </a:solidFill>
                <a:latin typeface="Calibri"/>
                <a:ea typeface="Calibri"/>
                <a:cs typeface="Calibri"/>
              </a:rPr>
              <a:t>Agent loops and retrieval</a:t>
            </a:r>
          </a:p>
        </p:txBody>
      </p:sp>
      <p:sp>
        <p:nvSpPr>
          <p:cNvPr id="27" name="Agenda 07 chip">
            <a:extLst>
              <a:ext uri="{FF2B5EF4-FFF2-40B4-BE49-F238E27FC236}">
                <a16:creationId xmlns:a16="http://schemas.microsoft.com/office/drawing/2014/main" id="{1E567F52-76A9-42B2-B6BC-00B5F496DFA5}"/>
              </a:ext>
            </a:extLst>
          </p:cNvPr>
          <p:cNvSpPr>
            <a:spLocks noGrp="1"/>
          </p:cNvSpPr>
          <p:nvPr/>
        </p:nvSpPr>
        <p:spPr>
          <a:xfrm>
            <a:off x="4800600" y="2876550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A78BFA"/>
          </a:solidFill>
          <a:ln w="0">
            <a:noFill/>
          </a:ln>
        </p:spPr>
        <p:txBody>
          <a:bodyPr/>
          <a:lstStyle/>
          <a:p>
            <a:endParaRPr lang="en-LT"/>
          </a:p>
        </p:txBody>
      </p:sp>
      <p:sp>
        <p:nvSpPr>
          <p:cNvPr id="28" name="Agenda 07 number">
            <a:extLst>
              <a:ext uri="{FF2B5EF4-FFF2-40B4-BE49-F238E27FC236}">
                <a16:creationId xmlns:a16="http://schemas.microsoft.com/office/drawing/2014/main" id="{39EF926D-D1BA-46B4-A805-CC59B6840A07}"/>
              </a:ext>
            </a:extLst>
          </p:cNvPr>
          <p:cNvSpPr>
            <a:spLocks noGrp="1"/>
          </p:cNvSpPr>
          <p:nvPr/>
        </p:nvSpPr>
        <p:spPr>
          <a:xfrm>
            <a:off x="4800600" y="2876550"/>
            <a:ext cx="5143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buNone/>
              <a:defRPr sz="1800" b="1">
                <a:solidFill>
                  <a:srgbClr val="081525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081525"/>
                </a:solidFill>
                <a:latin typeface="Trebuchet MS"/>
                <a:ea typeface="Trebuchet MS"/>
                <a:cs typeface="Trebuchet MS"/>
              </a:rPr>
              <a:t>07</a:t>
            </a:r>
          </a:p>
        </p:txBody>
      </p:sp>
      <p:sp>
        <p:nvSpPr>
          <p:cNvPr id="29" name="Agenda 07 title">
            <a:extLst>
              <a:ext uri="{FF2B5EF4-FFF2-40B4-BE49-F238E27FC236}">
                <a16:creationId xmlns:a16="http://schemas.microsoft.com/office/drawing/2014/main" id="{3515B5FD-8924-4979-8BC3-96FBA5A9CB74}"/>
              </a:ext>
            </a:extLst>
          </p:cNvPr>
          <p:cNvSpPr>
            <a:spLocks noGrp="1"/>
          </p:cNvSpPr>
          <p:nvPr/>
        </p:nvSpPr>
        <p:spPr>
          <a:xfrm>
            <a:off x="5429250" y="2886075"/>
            <a:ext cx="31432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500" b="1">
                <a:solidFill>
                  <a:srgbClr val="F2F7FF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F2F7FF"/>
                </a:solidFill>
                <a:latin typeface="Trebuchet MS"/>
                <a:ea typeface="Trebuchet MS"/>
                <a:cs typeface="Trebuchet MS"/>
              </a:rPr>
              <a:t>AI in SDLC</a:t>
            </a:r>
          </a:p>
        </p:txBody>
      </p:sp>
      <p:sp>
        <p:nvSpPr>
          <p:cNvPr id="30" name="Agenda 07 subtitle">
            <a:extLst>
              <a:ext uri="{FF2B5EF4-FFF2-40B4-BE49-F238E27FC236}">
                <a16:creationId xmlns:a16="http://schemas.microsoft.com/office/drawing/2014/main" id="{D02CCE72-1127-4989-B66C-62F35D79FE82}"/>
              </a:ext>
            </a:extLst>
          </p:cNvPr>
          <p:cNvSpPr>
            <a:spLocks noGrp="1"/>
          </p:cNvSpPr>
          <p:nvPr/>
        </p:nvSpPr>
        <p:spPr>
          <a:xfrm>
            <a:off x="5429250" y="3143250"/>
            <a:ext cx="31432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975">
                <a:solidFill>
                  <a:srgbClr val="7FA5C4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7FA5C4"/>
                </a:solidFill>
                <a:latin typeface="Calibri"/>
                <a:ea typeface="Calibri"/>
                <a:cs typeface="Calibri"/>
              </a:rPr>
              <a:t>Safe AI-assisted engineering</a:t>
            </a:r>
          </a:p>
        </p:txBody>
      </p:sp>
      <p:sp>
        <p:nvSpPr>
          <p:cNvPr id="31" name="Agenda 08 chip">
            <a:extLst>
              <a:ext uri="{FF2B5EF4-FFF2-40B4-BE49-F238E27FC236}">
                <a16:creationId xmlns:a16="http://schemas.microsoft.com/office/drawing/2014/main" id="{1AEF27E4-4FB3-442B-AE65-E1055DD9958A}"/>
              </a:ext>
            </a:extLst>
          </p:cNvPr>
          <p:cNvSpPr>
            <a:spLocks noGrp="1"/>
          </p:cNvSpPr>
          <p:nvPr/>
        </p:nvSpPr>
        <p:spPr>
          <a:xfrm>
            <a:off x="4800600" y="3752850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FACC15"/>
          </a:solidFill>
          <a:ln w="0">
            <a:noFill/>
          </a:ln>
        </p:spPr>
        <p:txBody>
          <a:bodyPr/>
          <a:lstStyle/>
          <a:p>
            <a:endParaRPr lang="en-LT"/>
          </a:p>
        </p:txBody>
      </p:sp>
      <p:sp>
        <p:nvSpPr>
          <p:cNvPr id="32" name="Agenda 08 number">
            <a:extLst>
              <a:ext uri="{FF2B5EF4-FFF2-40B4-BE49-F238E27FC236}">
                <a16:creationId xmlns:a16="http://schemas.microsoft.com/office/drawing/2014/main" id="{228B530B-303B-4B98-94CE-A1E1EC9924EF}"/>
              </a:ext>
            </a:extLst>
          </p:cNvPr>
          <p:cNvSpPr>
            <a:spLocks noGrp="1"/>
          </p:cNvSpPr>
          <p:nvPr/>
        </p:nvSpPr>
        <p:spPr>
          <a:xfrm>
            <a:off x="4800600" y="3752850"/>
            <a:ext cx="5143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buNone/>
              <a:defRPr sz="1800" b="1">
                <a:solidFill>
                  <a:srgbClr val="081525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081525"/>
                </a:solidFill>
                <a:latin typeface="Trebuchet MS"/>
                <a:ea typeface="Trebuchet MS"/>
                <a:cs typeface="Trebuchet MS"/>
              </a:rPr>
              <a:t>08</a:t>
            </a:r>
          </a:p>
        </p:txBody>
      </p:sp>
      <p:sp>
        <p:nvSpPr>
          <p:cNvPr id="33" name="Agenda 08 title">
            <a:extLst>
              <a:ext uri="{FF2B5EF4-FFF2-40B4-BE49-F238E27FC236}">
                <a16:creationId xmlns:a16="http://schemas.microsoft.com/office/drawing/2014/main" id="{960BD9BC-748B-45A2-9A12-017380C2EB6E}"/>
              </a:ext>
            </a:extLst>
          </p:cNvPr>
          <p:cNvSpPr>
            <a:spLocks noGrp="1"/>
          </p:cNvSpPr>
          <p:nvPr/>
        </p:nvSpPr>
        <p:spPr>
          <a:xfrm>
            <a:off x="5429250" y="3762375"/>
            <a:ext cx="31432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500" b="1">
                <a:solidFill>
                  <a:srgbClr val="F2F7FF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F2F7FF"/>
                </a:solidFill>
                <a:latin typeface="Trebuchet MS"/>
                <a:ea typeface="Trebuchet MS"/>
                <a:cs typeface="Trebuchet MS"/>
              </a:rPr>
              <a:t>Stuff Worth Stealing</a:t>
            </a:r>
          </a:p>
        </p:txBody>
      </p:sp>
      <p:sp>
        <p:nvSpPr>
          <p:cNvPr id="34" name="Agenda 08 subtitle">
            <a:extLst>
              <a:ext uri="{FF2B5EF4-FFF2-40B4-BE49-F238E27FC236}">
                <a16:creationId xmlns:a16="http://schemas.microsoft.com/office/drawing/2014/main" id="{BCB490EE-0826-4DBE-B4F6-FD03A4C6B724}"/>
              </a:ext>
            </a:extLst>
          </p:cNvPr>
          <p:cNvSpPr>
            <a:spLocks noGrp="1"/>
          </p:cNvSpPr>
          <p:nvPr/>
        </p:nvSpPr>
        <p:spPr>
          <a:xfrm>
            <a:off x="5429250" y="4019550"/>
            <a:ext cx="31432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975">
                <a:solidFill>
                  <a:srgbClr val="7FA5C4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7FA5C4"/>
                </a:solidFill>
                <a:latin typeface="Calibri"/>
                <a:ea typeface="Calibri"/>
                <a:cs typeface="Calibri"/>
              </a:rPr>
              <a:t>Tools, guides, and next steps</a:t>
            </a:r>
          </a:p>
        </p:txBody>
      </p:sp>
    </p:spTree>
    <p:extLst>
      <p:ext uri="{BB962C8B-B14F-4D97-AF65-F5344CB8AC3E}">
        <p14:creationId xmlns:p14="http://schemas.microsoft.com/office/powerpoint/2010/main" val="1019247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253B98E-4A1F-9B15-F2E5-31C7AB1505D3}"/>
              </a:ext>
            </a:extLst>
          </p:cNvPr>
          <p:cNvSpPr>
            <a:spLocks noGrp="1"/>
          </p:cNvSpPr>
          <p:nvPr/>
        </p:nvSpPr>
        <p:spPr>
          <a:xfrm>
            <a:off x="3474720" y="182880"/>
            <a:ext cx="5486400" cy="4572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 algn="r">
              <a:buNone/>
            </a:pPr>
            <a:r>
              <a:rPr sz="23000" b="1">
                <a:solidFill>
                  <a:srgbClr val="0B1E34"/>
                </a:solidFill>
                <a:latin typeface="Trebuchet MS"/>
                <a:ea typeface="Trebuchet MS"/>
                <a:cs typeface="Trebuchet MS"/>
              </a:rPr>
              <a:t>01</a:t>
            </a:r>
            <a:endParaRPr sz="230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BA6F783-ABF8-A03D-A92D-33CA919F3D1A}"/>
              </a:ext>
            </a:extLst>
          </p:cNvPr>
          <p:cNvSpPr>
            <a:spLocks noGrp="1"/>
          </p:cNvSpPr>
          <p:nvPr/>
        </p:nvSpPr>
        <p:spPr>
          <a:xfrm>
            <a:off x="502920" y="64008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0A2C50"/>
          </a:solidFill>
          <a:ln w="12700">
            <a:solidFill>
              <a:srgbClr val="0A2C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2162BA7-158A-1825-E89A-BE09E69F5A72}"/>
              </a:ext>
            </a:extLst>
          </p:cNvPr>
          <p:cNvSpPr>
            <a:spLocks noGrp="1"/>
          </p:cNvSpPr>
          <p:nvPr/>
        </p:nvSpPr>
        <p:spPr>
          <a:xfrm>
            <a:off x="502920" y="640080"/>
            <a:ext cx="128016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 spc="300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PART 01</a:t>
            </a:r>
            <a:endParaRPr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2DC2646-DC04-83FA-CD63-276EED409674}"/>
              </a:ext>
            </a:extLst>
          </p:cNvPr>
          <p:cNvSpPr>
            <a:spLocks noGrp="1"/>
          </p:cNvSpPr>
          <p:nvPr/>
        </p:nvSpPr>
        <p:spPr>
          <a:xfrm>
            <a:off x="502920" y="1234440"/>
            <a:ext cx="777240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46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What Is AI?</a:t>
            </a:r>
            <a:endParaRPr sz="46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FB50B32-2D0D-34C0-814C-ADFE585B5158}"/>
              </a:ext>
            </a:extLst>
          </p:cNvPr>
          <p:cNvSpPr>
            <a:spLocks noGrp="1"/>
          </p:cNvSpPr>
          <p:nvPr/>
        </p:nvSpPr>
        <p:spPr>
          <a:xfrm>
            <a:off x="502920" y="2240280"/>
            <a:ext cx="5038898" cy="122529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5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Artificial intelligence is a branch of computer science focused on building systems that can perform tasks that typically require human intelligence.</a:t>
            </a:r>
            <a:endParaRPr sz="15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D9590C5-A9AA-3BAD-1A6A-A11273B21427}"/>
              </a:ext>
            </a:extLst>
          </p:cNvPr>
          <p:cNvSpPr>
            <a:spLocks noGrp="1"/>
          </p:cNvSpPr>
          <p:nvPr/>
        </p:nvSpPr>
        <p:spPr>
          <a:xfrm>
            <a:off x="457200" y="3703320"/>
            <a:ext cx="868680" cy="868680"/>
          </a:xfrm>
          <a:prstGeom prst="ellipse">
            <a:avLst/>
          </a:prstGeom>
          <a:solidFill>
            <a:srgbClr val="0A2C50"/>
          </a:solidFill>
          <a:ln w="12700">
            <a:solidFill>
              <a:srgbClr val="0A2C5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Graphic 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12064" y="3758184"/>
            <a:ext cx="758952" cy="75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392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84FB0ED-2B27-4E14-8E37-5A38C61D44C1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Inside AI</a:t>
            </a:r>
            <a:endParaRPr sz="3000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D8A4F3F0-BD10-E8FC-6305-A17A5B29FDC3}"/>
              </a:ext>
            </a:extLst>
          </p:cNvPr>
          <p:cNvSpPr>
            <a:spLocks noGrp="1"/>
          </p:cNvSpPr>
          <p:nvPr/>
        </p:nvSpPr>
        <p:spPr>
          <a:xfrm>
            <a:off x="502920" y="1192599"/>
            <a:ext cx="32004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>
                <a:solidFill>
                  <a:srgbClr val="F87171"/>
                </a:solidFill>
                <a:latin typeface="Trebuchet MS"/>
                <a:ea typeface="Trebuchet MS"/>
                <a:cs typeface="Trebuchet MS"/>
              </a:rPr>
              <a:t>Machine Learning (ML)</a:t>
            </a:r>
            <a:endParaRPr sz="170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9AB16B6B-7DC4-DF59-A1CA-546C006F7017}"/>
              </a:ext>
            </a:extLst>
          </p:cNvPr>
          <p:cNvSpPr>
            <a:spLocks noGrp="1"/>
          </p:cNvSpPr>
          <p:nvPr/>
        </p:nvSpPr>
        <p:spPr>
          <a:xfrm>
            <a:off x="502920" y="1558359"/>
            <a:ext cx="3951316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A method that trains models to learn patterns from data and make predictions on new data</a:t>
            </a:r>
            <a:endParaRPr sz="1300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1BA1F37C-2B2D-F0AB-10A9-E0C80EFC07ED}"/>
              </a:ext>
            </a:extLst>
          </p:cNvPr>
          <p:cNvSpPr>
            <a:spLocks noGrp="1"/>
          </p:cNvSpPr>
          <p:nvPr/>
        </p:nvSpPr>
        <p:spPr>
          <a:xfrm>
            <a:off x="502920" y="2381319"/>
            <a:ext cx="32004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>
                <a:solidFill>
                  <a:srgbClr val="34D399"/>
                </a:solidFill>
                <a:latin typeface="Trebuchet MS"/>
                <a:ea typeface="Trebuchet MS"/>
                <a:cs typeface="Trebuchet MS"/>
              </a:rPr>
              <a:t>Deep Learning (DL)</a:t>
            </a:r>
            <a:endParaRPr sz="1700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448747D1-B528-0476-41B7-D8817B2429E8}"/>
              </a:ext>
            </a:extLst>
          </p:cNvPr>
          <p:cNvSpPr>
            <a:spLocks noGrp="1"/>
          </p:cNvSpPr>
          <p:nvPr/>
        </p:nvSpPr>
        <p:spPr>
          <a:xfrm>
            <a:off x="502920" y="2747079"/>
            <a:ext cx="3951316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A subset of ML that uses neural networks with many layers to learn patterns from large amounts of data</a:t>
            </a:r>
            <a:endParaRPr sz="1300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006D441A-0D6C-4801-E1A2-F5C93B6DC5CB}"/>
              </a:ext>
            </a:extLst>
          </p:cNvPr>
          <p:cNvSpPr>
            <a:spLocks noGrp="1"/>
          </p:cNvSpPr>
          <p:nvPr/>
        </p:nvSpPr>
        <p:spPr>
          <a:xfrm>
            <a:off x="502920" y="3570039"/>
            <a:ext cx="32004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>
                <a:solidFill>
                  <a:srgbClr val="FBBF24"/>
                </a:solidFill>
                <a:latin typeface="Trebuchet MS"/>
                <a:ea typeface="Trebuchet MS"/>
                <a:cs typeface="Trebuchet MS"/>
              </a:rPr>
              <a:t>Generative AI (Gen AI)</a:t>
            </a:r>
            <a:endParaRPr sz="1700"/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0D53953F-D403-4C34-C365-2D08F0442DDE}"/>
              </a:ext>
            </a:extLst>
          </p:cNvPr>
          <p:cNvSpPr>
            <a:spLocks noGrp="1"/>
          </p:cNvSpPr>
          <p:nvPr/>
        </p:nvSpPr>
        <p:spPr>
          <a:xfrm>
            <a:off x="502920" y="3935799"/>
            <a:ext cx="3951316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AI that creates new content, such as text, images, audio, or code</a:t>
            </a:r>
            <a:endParaRPr sz="130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0B87E37-036F-CCDB-311C-AD763BC25608}"/>
              </a:ext>
            </a:extLst>
          </p:cNvPr>
          <p:cNvSpPr>
            <a:spLocks noGrp="1"/>
          </p:cNvSpPr>
          <p:nvPr/>
        </p:nvSpPr>
        <p:spPr>
          <a:xfrm>
            <a:off x="4994563" y="748791"/>
            <a:ext cx="3960000" cy="3960000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78C1313-E595-437B-B7F6-CB5996AA9DBE}"/>
              </a:ext>
            </a:extLst>
          </p:cNvPr>
          <p:cNvSpPr>
            <a:spLocks noGrp="1"/>
          </p:cNvSpPr>
          <p:nvPr/>
        </p:nvSpPr>
        <p:spPr>
          <a:xfrm>
            <a:off x="5354563" y="1468791"/>
            <a:ext cx="3240000" cy="32400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673EC02-0DE6-5335-691D-AAA9EC9F0D9F}"/>
              </a:ext>
            </a:extLst>
          </p:cNvPr>
          <p:cNvSpPr>
            <a:spLocks noGrp="1"/>
          </p:cNvSpPr>
          <p:nvPr/>
        </p:nvSpPr>
        <p:spPr>
          <a:xfrm>
            <a:off x="5708399" y="2188791"/>
            <a:ext cx="2520000" cy="25200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37241DE-FF55-7252-6D7B-6253480AD3D7}"/>
              </a:ext>
            </a:extLst>
          </p:cNvPr>
          <p:cNvSpPr>
            <a:spLocks noGrp="1"/>
          </p:cNvSpPr>
          <p:nvPr/>
        </p:nvSpPr>
        <p:spPr>
          <a:xfrm>
            <a:off x="6068399" y="2908791"/>
            <a:ext cx="1800000" cy="180000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AC90F2-535D-26E1-CE21-273BE7A79C53}"/>
              </a:ext>
            </a:extLst>
          </p:cNvPr>
          <p:cNvSpPr>
            <a:spLocks noGrp="1"/>
          </p:cNvSpPr>
          <p:nvPr/>
        </p:nvSpPr>
        <p:spPr>
          <a:xfrm>
            <a:off x="6780687" y="966108"/>
            <a:ext cx="37542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AFCCD2-9BC6-F4C3-F055-5492B5CD36D5}"/>
              </a:ext>
            </a:extLst>
          </p:cNvPr>
          <p:cNvSpPr>
            <a:spLocks noGrp="1"/>
          </p:cNvSpPr>
          <p:nvPr/>
        </p:nvSpPr>
        <p:spPr>
          <a:xfrm>
            <a:off x="6728590" y="1659789"/>
            <a:ext cx="47961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3DB702-D6EC-7B24-4BB4-3B7D59197564}"/>
              </a:ext>
            </a:extLst>
          </p:cNvPr>
          <p:cNvSpPr>
            <a:spLocks noGrp="1"/>
          </p:cNvSpPr>
          <p:nvPr/>
        </p:nvSpPr>
        <p:spPr>
          <a:xfrm>
            <a:off x="6728590" y="2472784"/>
            <a:ext cx="42511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7CB166-D822-046F-5BD0-AEF575F371FB}"/>
              </a:ext>
            </a:extLst>
          </p:cNvPr>
          <p:cNvSpPr>
            <a:spLocks noGrp="1"/>
          </p:cNvSpPr>
          <p:nvPr/>
        </p:nvSpPr>
        <p:spPr>
          <a:xfrm>
            <a:off x="6562678" y="3732845"/>
            <a:ext cx="81144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Gen AI</a:t>
            </a:r>
          </a:p>
        </p:txBody>
      </p:sp>
    </p:spTree>
    <p:extLst>
      <p:ext uri="{BB962C8B-B14F-4D97-AF65-F5344CB8AC3E}">
        <p14:creationId xmlns:p14="http://schemas.microsoft.com/office/powerpoint/2010/main" val="1372850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8E2BA55-99CB-D19B-7068-54E7212771EA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Inside AI</a:t>
            </a:r>
            <a:endParaRPr sz="3000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461D487A-4A67-A611-50F7-5BB6E7B8BD76}"/>
              </a:ext>
            </a:extLst>
          </p:cNvPr>
          <p:cNvSpPr>
            <a:spLocks noGrp="1"/>
          </p:cNvSpPr>
          <p:nvPr/>
        </p:nvSpPr>
        <p:spPr>
          <a:xfrm>
            <a:off x="502920" y="3505200"/>
            <a:ext cx="32004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>
                <a:solidFill>
                  <a:srgbClr val="F87171"/>
                </a:solidFill>
                <a:latin typeface="Trebuchet MS"/>
                <a:ea typeface="Trebuchet MS"/>
                <a:cs typeface="Trebuchet MS"/>
              </a:rPr>
              <a:t>ChatGPT</a:t>
            </a:r>
            <a:endParaRPr sz="170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010FC3FF-FA80-D363-E11B-1C2FFAB8F07C}"/>
              </a:ext>
            </a:extLst>
          </p:cNvPr>
          <p:cNvSpPr>
            <a:spLocks noGrp="1"/>
          </p:cNvSpPr>
          <p:nvPr/>
        </p:nvSpPr>
        <p:spPr>
          <a:xfrm>
            <a:off x="502920" y="1558359"/>
            <a:ext cx="39600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3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A generative AI model trained on large amounts of text so it can process and generate language as tokens.</a:t>
            </a:r>
            <a:endParaRPr sz="130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93B96B34-F88B-D512-BFFB-BD4337784EA2}"/>
              </a:ext>
            </a:extLst>
          </p:cNvPr>
          <p:cNvSpPr>
            <a:spLocks noGrp="1"/>
          </p:cNvSpPr>
          <p:nvPr/>
        </p:nvSpPr>
        <p:spPr>
          <a:xfrm>
            <a:off x="502920" y="2333625"/>
            <a:ext cx="4400550" cy="32385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500" b="1">
                <a:solidFill>
                  <a:srgbClr val="34D399"/>
                </a:solidFill>
                <a:latin typeface="Trebuchet MS"/>
                <a:ea typeface="Trebuchet MS"/>
                <a:cs typeface="Trebuchet MS"/>
              </a:rPr>
              <a:t>GPT: Generative Pretrained Transformer</a:t>
            </a:r>
            <a:endParaRPr sz="1700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0DE211BB-5F03-0D9D-D0B6-F3000778DAF1}"/>
              </a:ext>
            </a:extLst>
          </p:cNvPr>
          <p:cNvSpPr>
            <a:spLocks noGrp="1"/>
          </p:cNvSpPr>
          <p:nvPr/>
        </p:nvSpPr>
        <p:spPr>
          <a:xfrm>
            <a:off x="502920" y="2686050"/>
            <a:ext cx="3952875" cy="66675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A family of generative LLMs built with the Transformer architecture. GPT models generate text by predicting which token should come next.</a:t>
            </a:r>
            <a:endParaRPr sz="1300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7190DA17-F4A5-6AFF-5445-5DC9EFD9E27C}"/>
              </a:ext>
            </a:extLst>
          </p:cNvPr>
          <p:cNvSpPr>
            <a:spLocks noGrp="1"/>
          </p:cNvSpPr>
          <p:nvPr/>
        </p:nvSpPr>
        <p:spPr>
          <a:xfrm>
            <a:off x="502920" y="1192599"/>
            <a:ext cx="32004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>
                <a:solidFill>
                  <a:srgbClr val="FBBF24"/>
                </a:solidFill>
                <a:latin typeface="Trebuchet MS"/>
                <a:ea typeface="Trebuchet MS"/>
                <a:cs typeface="Trebuchet MS"/>
              </a:rPr>
              <a:t>Large Language Model (LLM)</a:t>
            </a:r>
            <a:endParaRPr sz="1700"/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C38BCF5D-D582-211A-DB4C-218D25C67938}"/>
              </a:ext>
            </a:extLst>
          </p:cNvPr>
          <p:cNvSpPr>
            <a:spLocks noGrp="1"/>
          </p:cNvSpPr>
          <p:nvPr/>
        </p:nvSpPr>
        <p:spPr>
          <a:xfrm>
            <a:off x="502920" y="3857625"/>
            <a:ext cx="3952875" cy="55245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A conversational AI assistant built on GPT models that lets people interact with them through natural language.</a:t>
            </a:r>
            <a:endParaRPr sz="130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6CC1196-7A43-1834-620D-D6585303BD78}"/>
              </a:ext>
            </a:extLst>
          </p:cNvPr>
          <p:cNvSpPr>
            <a:spLocks noGrp="1"/>
          </p:cNvSpPr>
          <p:nvPr/>
        </p:nvSpPr>
        <p:spPr>
          <a:xfrm>
            <a:off x="4979870" y="760039"/>
            <a:ext cx="3960000" cy="396000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0D8E758-FBF4-2F8B-F1E6-B8ED1DE42FBB}"/>
              </a:ext>
            </a:extLst>
          </p:cNvPr>
          <p:cNvSpPr>
            <a:spLocks noGrp="1"/>
          </p:cNvSpPr>
          <p:nvPr/>
        </p:nvSpPr>
        <p:spPr>
          <a:xfrm>
            <a:off x="5354563" y="1468791"/>
            <a:ext cx="3240000" cy="3240000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D3A40FA-87A2-C6AA-4707-81A04BB7A288}"/>
              </a:ext>
            </a:extLst>
          </p:cNvPr>
          <p:cNvSpPr>
            <a:spLocks noGrp="1"/>
          </p:cNvSpPr>
          <p:nvPr/>
        </p:nvSpPr>
        <p:spPr>
          <a:xfrm>
            <a:off x="5708399" y="2188791"/>
            <a:ext cx="2520000" cy="25200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4886965-1BE7-7200-D94B-720524ED398B}"/>
              </a:ext>
            </a:extLst>
          </p:cNvPr>
          <p:cNvSpPr>
            <a:spLocks noGrp="1"/>
          </p:cNvSpPr>
          <p:nvPr/>
        </p:nvSpPr>
        <p:spPr>
          <a:xfrm>
            <a:off x="6068399" y="2908791"/>
            <a:ext cx="1800000" cy="18000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5FC730-8ADE-680A-0C9F-829746F266ED}"/>
              </a:ext>
            </a:extLst>
          </p:cNvPr>
          <p:cNvSpPr>
            <a:spLocks noGrp="1"/>
          </p:cNvSpPr>
          <p:nvPr/>
        </p:nvSpPr>
        <p:spPr>
          <a:xfrm>
            <a:off x="6562678" y="973819"/>
            <a:ext cx="81144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Gen AI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7D1932-107D-2F6F-3C06-4F2A3E6C4CE0}"/>
              </a:ext>
            </a:extLst>
          </p:cNvPr>
          <p:cNvSpPr>
            <a:spLocks noGrp="1"/>
          </p:cNvSpPr>
          <p:nvPr/>
        </p:nvSpPr>
        <p:spPr>
          <a:xfrm>
            <a:off x="6671169" y="1659789"/>
            <a:ext cx="57740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LLM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226073-25D3-B7A7-D8CC-88A17DBFFC53}"/>
              </a:ext>
            </a:extLst>
          </p:cNvPr>
          <p:cNvSpPr>
            <a:spLocks noGrp="1"/>
          </p:cNvSpPr>
          <p:nvPr/>
        </p:nvSpPr>
        <p:spPr>
          <a:xfrm>
            <a:off x="6679697" y="2494773"/>
            <a:ext cx="56034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1777D0-50F8-41E9-3FF7-17C6A3562851}"/>
              </a:ext>
            </a:extLst>
          </p:cNvPr>
          <p:cNvSpPr>
            <a:spLocks noGrp="1"/>
          </p:cNvSpPr>
          <p:nvPr/>
        </p:nvSpPr>
        <p:spPr>
          <a:xfrm>
            <a:off x="6472877" y="3743775"/>
            <a:ext cx="99104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ChatGPT</a:t>
            </a:r>
          </a:p>
        </p:txBody>
      </p:sp>
    </p:spTree>
    <p:extLst>
      <p:ext uri="{BB962C8B-B14F-4D97-AF65-F5344CB8AC3E}">
        <p14:creationId xmlns:p14="http://schemas.microsoft.com/office/powerpoint/2010/main" val="3832105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704A0B8-78A2-4647-A101-17AF2D7C76DC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LLM - Tokens and tokenization</a:t>
            </a:r>
            <a:endParaRPr sz="3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32C284E-260E-4EA2-A8E1-A9BE2A8F4AA5}"/>
              </a:ext>
            </a:extLst>
          </p:cNvPr>
          <p:cNvSpPr>
            <a:spLocks noGrp="1"/>
          </p:cNvSpPr>
          <p:nvPr/>
        </p:nvSpPr>
        <p:spPr>
          <a:xfrm>
            <a:off x="548640" y="3462298"/>
            <a:ext cx="8229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"Hello, I am learning to code"  tokenised:</a:t>
            </a:r>
            <a:endParaRPr sz="1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A1A33E3-9B6E-420D-AFA5-69944C1054FD}"/>
              </a:ext>
            </a:extLst>
          </p:cNvPr>
          <p:cNvSpPr>
            <a:spLocks noGrp="1"/>
          </p:cNvSpPr>
          <p:nvPr/>
        </p:nvSpPr>
        <p:spPr>
          <a:xfrm>
            <a:off x="502920" y="3828058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A3E8A3E-5D69-4486-9185-BFEDE7C39A4B}"/>
              </a:ext>
            </a:extLst>
          </p:cNvPr>
          <p:cNvSpPr>
            <a:spLocks noGrp="1"/>
          </p:cNvSpPr>
          <p:nvPr/>
        </p:nvSpPr>
        <p:spPr>
          <a:xfrm>
            <a:off x="502920" y="382805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Hello</a:t>
            </a:r>
            <a:endParaRPr sz="13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DDED438-EAA2-4048-82B3-EA597B166E49}"/>
              </a:ext>
            </a:extLst>
          </p:cNvPr>
          <p:cNvSpPr>
            <a:spLocks noGrp="1"/>
          </p:cNvSpPr>
          <p:nvPr/>
        </p:nvSpPr>
        <p:spPr>
          <a:xfrm>
            <a:off x="1527048" y="3828058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753D06F-0E45-4E31-9BEC-8784A590EAD6}"/>
              </a:ext>
            </a:extLst>
          </p:cNvPr>
          <p:cNvSpPr>
            <a:spLocks noGrp="1"/>
          </p:cNvSpPr>
          <p:nvPr/>
        </p:nvSpPr>
        <p:spPr>
          <a:xfrm>
            <a:off x="1527048" y="382805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,</a:t>
            </a:r>
            <a:endParaRPr sz="13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F528FD5-3D9D-43C4-93A7-CA75D941D593}"/>
              </a:ext>
            </a:extLst>
          </p:cNvPr>
          <p:cNvSpPr>
            <a:spLocks noGrp="1"/>
          </p:cNvSpPr>
          <p:nvPr/>
        </p:nvSpPr>
        <p:spPr>
          <a:xfrm>
            <a:off x="2551176" y="3828058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8B404A4-A82D-4EC2-85F9-60143A144598}"/>
              </a:ext>
            </a:extLst>
          </p:cNvPr>
          <p:cNvSpPr>
            <a:spLocks noGrp="1"/>
          </p:cNvSpPr>
          <p:nvPr/>
        </p:nvSpPr>
        <p:spPr>
          <a:xfrm>
            <a:off x="2551176" y="382805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I</a:t>
            </a:r>
            <a:endParaRPr sz="13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6C701F2-3017-4F54-B300-7A0A8410EC93}"/>
              </a:ext>
            </a:extLst>
          </p:cNvPr>
          <p:cNvSpPr>
            <a:spLocks noGrp="1"/>
          </p:cNvSpPr>
          <p:nvPr/>
        </p:nvSpPr>
        <p:spPr>
          <a:xfrm>
            <a:off x="3575304" y="3828058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EE6D0A1-D1D6-48BE-878A-08E0FB4B164D}"/>
              </a:ext>
            </a:extLst>
          </p:cNvPr>
          <p:cNvSpPr>
            <a:spLocks noGrp="1"/>
          </p:cNvSpPr>
          <p:nvPr/>
        </p:nvSpPr>
        <p:spPr>
          <a:xfrm>
            <a:off x="3575304" y="382805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am</a:t>
            </a:r>
            <a:endParaRPr sz="13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EB7ECCA-64B7-4B43-B814-BB9A2F91AA01}"/>
              </a:ext>
            </a:extLst>
          </p:cNvPr>
          <p:cNvSpPr>
            <a:spLocks noGrp="1"/>
          </p:cNvSpPr>
          <p:nvPr/>
        </p:nvSpPr>
        <p:spPr>
          <a:xfrm>
            <a:off x="4599432" y="3828058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1A3530"/>
          </a:solidFill>
          <a:ln w="12700">
            <a:solidFill>
              <a:srgbClr val="1A35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945D683-9521-4DAB-B7C9-EAEBDB7FCB9E}"/>
              </a:ext>
            </a:extLst>
          </p:cNvPr>
          <p:cNvSpPr>
            <a:spLocks noGrp="1"/>
          </p:cNvSpPr>
          <p:nvPr/>
        </p:nvSpPr>
        <p:spPr>
          <a:xfrm>
            <a:off x="4599432" y="382805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learn</a:t>
            </a:r>
            <a:endParaRPr sz="13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6E0F2DC-EB9A-4710-9FE3-2F67B67F280F}"/>
              </a:ext>
            </a:extLst>
          </p:cNvPr>
          <p:cNvSpPr>
            <a:spLocks noGrp="1"/>
          </p:cNvSpPr>
          <p:nvPr/>
        </p:nvSpPr>
        <p:spPr>
          <a:xfrm>
            <a:off x="5623560" y="3828058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122A22"/>
          </a:solidFill>
          <a:ln w="12700">
            <a:solidFill>
              <a:srgbClr val="122A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90BCEBF-D640-4532-9443-A7FA2FD3DBE0}"/>
              </a:ext>
            </a:extLst>
          </p:cNvPr>
          <p:cNvSpPr>
            <a:spLocks noGrp="1"/>
          </p:cNvSpPr>
          <p:nvPr/>
        </p:nvSpPr>
        <p:spPr>
          <a:xfrm>
            <a:off x="5623560" y="382805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ing</a:t>
            </a:r>
            <a:endParaRPr sz="13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7B8C4DE-226D-44A1-8EFA-DF10A61C8DD7}"/>
              </a:ext>
            </a:extLst>
          </p:cNvPr>
          <p:cNvSpPr>
            <a:spLocks noGrp="1"/>
          </p:cNvSpPr>
          <p:nvPr/>
        </p:nvSpPr>
        <p:spPr>
          <a:xfrm>
            <a:off x="6647688" y="3828058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182A44"/>
          </a:solidFill>
          <a:ln w="12700">
            <a:solidFill>
              <a:srgbClr val="182A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DA32428-4F1E-4A5C-A194-3B0F7D01C19C}"/>
              </a:ext>
            </a:extLst>
          </p:cNvPr>
          <p:cNvSpPr>
            <a:spLocks noGrp="1"/>
          </p:cNvSpPr>
          <p:nvPr/>
        </p:nvSpPr>
        <p:spPr>
          <a:xfrm>
            <a:off x="6647688" y="382805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to</a:t>
            </a:r>
            <a:endParaRPr sz="13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E5AF987-3C10-455B-ACC3-A5395BE322C1}"/>
              </a:ext>
            </a:extLst>
          </p:cNvPr>
          <p:cNvSpPr>
            <a:spLocks noGrp="1"/>
          </p:cNvSpPr>
          <p:nvPr/>
        </p:nvSpPr>
        <p:spPr>
          <a:xfrm>
            <a:off x="7671816" y="3828058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1C2A50"/>
          </a:solidFill>
          <a:ln w="12700">
            <a:solidFill>
              <a:srgbClr val="1C2A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4FDA7B2-7402-40DA-950C-3A0C316F8D93}"/>
              </a:ext>
            </a:extLst>
          </p:cNvPr>
          <p:cNvSpPr>
            <a:spLocks noGrp="1"/>
          </p:cNvSpPr>
          <p:nvPr/>
        </p:nvSpPr>
        <p:spPr>
          <a:xfrm>
            <a:off x="7671816" y="382805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818CF8"/>
                </a:solidFill>
                <a:latin typeface="Consolas"/>
                <a:ea typeface="Consolas"/>
                <a:cs typeface="Consolas"/>
              </a:rPr>
              <a:t>code</a:t>
            </a:r>
            <a:endParaRPr sz="13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A92AF6C-BD11-4FA0-A7E0-D095E9710E86}"/>
              </a:ext>
            </a:extLst>
          </p:cNvPr>
          <p:cNvSpPr>
            <a:spLocks noGrp="1"/>
          </p:cNvSpPr>
          <p:nvPr/>
        </p:nvSpPr>
        <p:spPr>
          <a:xfrm>
            <a:off x="548640" y="4312690"/>
            <a:ext cx="8229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8 tokens  (≈ 6 words — tokens ≠ words)</a:t>
            </a:r>
            <a:endParaRPr sz="11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0E1AC3E3-90B4-465E-878E-E565E88E4A57}"/>
              </a:ext>
            </a:extLst>
          </p:cNvPr>
          <p:cNvSpPr>
            <a:spLocks noGrp="1"/>
          </p:cNvSpPr>
          <p:nvPr/>
        </p:nvSpPr>
        <p:spPr>
          <a:xfrm>
            <a:off x="548640" y="1111280"/>
            <a:ext cx="8229600" cy="2057400"/>
          </a:xfrm>
          <a:prstGeom prst="roundRect">
            <a:avLst>
              <a:gd name="adj" fmla="val 4444"/>
            </a:avLst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39446CA-2154-43C4-8B47-5029989B6903}"/>
              </a:ext>
            </a:extLst>
          </p:cNvPr>
          <p:cNvSpPr>
            <a:spLocks noGrp="1"/>
          </p:cNvSpPr>
          <p:nvPr/>
        </p:nvSpPr>
        <p:spPr>
          <a:xfrm>
            <a:off x="731520" y="1452359"/>
            <a:ext cx="777240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sz="12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Tokens are the small pieces of text that an LLM reads and generates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sz="12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Tokens can be whole words, parts of words, punctuation, or spaces.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674215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F2E2FA1-C81A-4993-9166-4F715A6063A3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3000" b="1" dirty="0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LLM - </a:t>
            </a:r>
            <a:r>
              <a:rPr lang="en-US" sz="3000" b="1" dirty="0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Embedding</a:t>
            </a:r>
            <a:endParaRPr sz="30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E800AAD-E024-D242-D476-4E61B0ADE559}"/>
              </a:ext>
            </a:extLst>
          </p:cNvPr>
          <p:cNvGrpSpPr/>
          <p:nvPr/>
        </p:nvGrpSpPr>
        <p:grpSpPr>
          <a:xfrm>
            <a:off x="2039450" y="1052763"/>
            <a:ext cx="5065099" cy="3862138"/>
            <a:chOff x="2039450" y="1052763"/>
            <a:chExt cx="5065099" cy="3862138"/>
          </a:xfrm>
        </p:grpSpPr>
        <p:pic>
          <p:nvPicPr>
            <p:cNvPr id="3" name="Picture 2" descr="undefined">
              <a:extLst>
                <a:ext uri="{FF2B5EF4-FFF2-40B4-BE49-F238E27FC236}">
                  <a16:creationId xmlns:a16="http://schemas.microsoft.com/office/drawing/2014/main" id="{C5897D38-A900-F1B1-2191-67D7E30432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39450" y="1052763"/>
              <a:ext cx="5065099" cy="3862138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82371F8-742C-3DA7-AD7F-8CC329573523}"/>
                </a:ext>
              </a:extLst>
            </p:cNvPr>
            <p:cNvSpPr/>
            <p:nvPr/>
          </p:nvSpPr>
          <p:spPr>
            <a:xfrm>
              <a:off x="5654040" y="1196340"/>
              <a:ext cx="655320" cy="160020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</p:grpSp>
    </p:spTree>
    <p:extLst>
      <p:ext uri="{BB962C8B-B14F-4D97-AF65-F5344CB8AC3E}">
        <p14:creationId xmlns:p14="http://schemas.microsoft.com/office/powerpoint/2010/main" val="1836426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19BE52-D31F-EFDD-17BD-7F0A94615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31A737E-826A-DC2C-B5D7-A82CEB27CCB2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LLM - Predictions</a:t>
            </a:r>
            <a:endParaRPr sz="30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057124A-9834-E68A-BFCE-581511C82BF6}"/>
              </a:ext>
            </a:extLst>
          </p:cNvPr>
          <p:cNvSpPr>
            <a:spLocks noGrp="1"/>
          </p:cNvSpPr>
          <p:nvPr/>
        </p:nvSpPr>
        <p:spPr>
          <a:xfrm>
            <a:off x="2404737" y="1920664"/>
            <a:ext cx="667512" cy="384048"/>
          </a:xfrm>
          <a:prstGeom prst="roundRect">
            <a:avLst>
              <a:gd name="adj" fmla="val 23810"/>
            </a:avLst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B3F0CA7-CC28-6451-AFF0-9A7146592311}"/>
              </a:ext>
            </a:extLst>
          </p:cNvPr>
          <p:cNvSpPr>
            <a:spLocks noGrp="1"/>
          </p:cNvSpPr>
          <p:nvPr/>
        </p:nvSpPr>
        <p:spPr>
          <a:xfrm>
            <a:off x="2404737" y="1920664"/>
            <a:ext cx="66751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The</a:t>
            </a:r>
            <a:endParaRPr sz="12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F5DEC16-13A3-37E1-8EDA-43C68A804128}"/>
              </a:ext>
            </a:extLst>
          </p:cNvPr>
          <p:cNvSpPr>
            <a:spLocks noGrp="1"/>
          </p:cNvSpPr>
          <p:nvPr/>
        </p:nvSpPr>
        <p:spPr>
          <a:xfrm>
            <a:off x="3163689" y="1920664"/>
            <a:ext cx="667512" cy="384048"/>
          </a:xfrm>
          <a:prstGeom prst="roundRect">
            <a:avLst>
              <a:gd name="adj" fmla="val 23810"/>
            </a:avLst>
          </a:prstGeom>
          <a:solidFill>
            <a:srgbClr val="183A30"/>
          </a:solidFill>
          <a:ln w="12700">
            <a:solidFill>
              <a:srgbClr val="183A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5623A40-C43D-40DE-D0F8-A9C3F5B054CD}"/>
              </a:ext>
            </a:extLst>
          </p:cNvPr>
          <p:cNvSpPr>
            <a:spLocks noGrp="1"/>
          </p:cNvSpPr>
          <p:nvPr/>
        </p:nvSpPr>
        <p:spPr>
          <a:xfrm>
            <a:off x="3163689" y="1920664"/>
            <a:ext cx="66751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cat</a:t>
            </a:r>
            <a:endParaRPr sz="12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201115F-489A-E1B7-E1D8-35120FB42BE3}"/>
              </a:ext>
            </a:extLst>
          </p:cNvPr>
          <p:cNvSpPr>
            <a:spLocks noGrp="1"/>
          </p:cNvSpPr>
          <p:nvPr/>
        </p:nvSpPr>
        <p:spPr>
          <a:xfrm>
            <a:off x="3922641" y="1920664"/>
            <a:ext cx="667512" cy="384048"/>
          </a:xfrm>
          <a:prstGeom prst="roundRect">
            <a:avLst>
              <a:gd name="adj" fmla="val 23810"/>
            </a:avLst>
          </a:prstGeom>
          <a:solidFill>
            <a:srgbClr val="2A1C44"/>
          </a:solidFill>
          <a:ln w="12700">
            <a:solidFill>
              <a:srgbClr val="2A1C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ECE69A8-19BB-34DB-DAB2-EC6402F1E05D}"/>
              </a:ext>
            </a:extLst>
          </p:cNvPr>
          <p:cNvSpPr>
            <a:spLocks noGrp="1"/>
          </p:cNvSpPr>
          <p:nvPr/>
        </p:nvSpPr>
        <p:spPr>
          <a:xfrm>
            <a:off x="3922641" y="1920664"/>
            <a:ext cx="66751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sat</a:t>
            </a:r>
            <a:endParaRPr sz="12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B10714A-F81F-BD57-A71F-82591BF1FB06}"/>
              </a:ext>
            </a:extLst>
          </p:cNvPr>
          <p:cNvSpPr>
            <a:spLocks noGrp="1"/>
          </p:cNvSpPr>
          <p:nvPr/>
        </p:nvSpPr>
        <p:spPr>
          <a:xfrm>
            <a:off x="4681593" y="1920664"/>
            <a:ext cx="667512" cy="384048"/>
          </a:xfrm>
          <a:prstGeom prst="roundRect">
            <a:avLst>
              <a:gd name="adj" fmla="val 23810"/>
            </a:avLst>
          </a:prstGeom>
          <a:solidFill>
            <a:srgbClr val="1B2E3E"/>
          </a:solidFill>
          <a:ln w="12700">
            <a:solidFill>
              <a:srgbClr val="1B2E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9AA211B-724E-9078-5E90-9993725FC56E}"/>
              </a:ext>
            </a:extLst>
          </p:cNvPr>
          <p:cNvSpPr>
            <a:spLocks noGrp="1"/>
          </p:cNvSpPr>
          <p:nvPr/>
        </p:nvSpPr>
        <p:spPr>
          <a:xfrm>
            <a:off x="4681593" y="1920664"/>
            <a:ext cx="66751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on</a:t>
            </a:r>
            <a:endParaRPr sz="12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6D8F9C0-A0BE-78E7-FD1D-66F57B6B15F0}"/>
              </a:ext>
            </a:extLst>
          </p:cNvPr>
          <p:cNvSpPr>
            <a:spLocks noGrp="1"/>
          </p:cNvSpPr>
          <p:nvPr/>
        </p:nvSpPr>
        <p:spPr>
          <a:xfrm>
            <a:off x="5440545" y="1920664"/>
            <a:ext cx="667512" cy="384048"/>
          </a:xfrm>
          <a:prstGeom prst="roundRect">
            <a:avLst>
              <a:gd name="adj" fmla="val 23810"/>
            </a:avLst>
          </a:prstGeom>
          <a:solidFill>
            <a:srgbClr val="352507"/>
          </a:solidFill>
          <a:ln w="12700">
            <a:solidFill>
              <a:srgbClr val="35250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A02A9A8-4052-988C-A4C7-EA3471174557}"/>
              </a:ext>
            </a:extLst>
          </p:cNvPr>
          <p:cNvSpPr>
            <a:spLocks noGrp="1"/>
          </p:cNvSpPr>
          <p:nvPr/>
        </p:nvSpPr>
        <p:spPr>
          <a:xfrm>
            <a:off x="5440545" y="1920664"/>
            <a:ext cx="66751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the</a:t>
            </a:r>
            <a:endParaRPr sz="12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9D90650-0B12-F083-91FF-659E0D9A72B8}"/>
              </a:ext>
            </a:extLst>
          </p:cNvPr>
          <p:cNvSpPr>
            <a:spLocks noGrp="1"/>
          </p:cNvSpPr>
          <p:nvPr/>
        </p:nvSpPr>
        <p:spPr>
          <a:xfrm>
            <a:off x="6199497" y="1920664"/>
            <a:ext cx="667512" cy="384048"/>
          </a:xfrm>
          <a:prstGeom prst="roundRect">
            <a:avLst>
              <a:gd name="adj" fmla="val 23810"/>
            </a:avLst>
          </a:prstGeom>
          <a:solidFill>
            <a:srgbClr val="0A3358"/>
          </a:solidFill>
          <a:ln w="12700">
            <a:solidFill>
              <a:srgbClr val="0A335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DFD6182-C8BB-D19A-A1A8-6AD7171F5318}"/>
              </a:ext>
            </a:extLst>
          </p:cNvPr>
          <p:cNvSpPr>
            <a:spLocks noGrp="1"/>
          </p:cNvSpPr>
          <p:nvPr/>
        </p:nvSpPr>
        <p:spPr>
          <a:xfrm>
            <a:off x="6199497" y="1920664"/>
            <a:ext cx="66751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[?]</a:t>
            </a:r>
            <a:endParaRPr sz="1200"/>
          </a:p>
        </p:txBody>
      </p:sp>
      <p:sp>
        <p:nvSpPr>
          <p:cNvPr id="39" name="Shape 2">
            <a:extLst>
              <a:ext uri="{FF2B5EF4-FFF2-40B4-BE49-F238E27FC236}">
                <a16:creationId xmlns:a16="http://schemas.microsoft.com/office/drawing/2014/main" id="{5C8D8A5E-D98A-4E4F-7292-785BC1D3E9FB}"/>
              </a:ext>
            </a:extLst>
          </p:cNvPr>
          <p:cNvSpPr>
            <a:spLocks noGrp="1"/>
          </p:cNvSpPr>
          <p:nvPr/>
        </p:nvSpPr>
        <p:spPr>
          <a:xfrm>
            <a:off x="3695363" y="1026151"/>
            <a:ext cx="1753274" cy="384048"/>
          </a:xfrm>
          <a:prstGeom prst="roundRect">
            <a:avLst>
              <a:gd name="adj" fmla="val 23810"/>
            </a:avLst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">
            <a:extLst>
              <a:ext uri="{FF2B5EF4-FFF2-40B4-BE49-F238E27FC236}">
                <a16:creationId xmlns:a16="http://schemas.microsoft.com/office/drawing/2014/main" id="{293B9DBD-6B7E-A35A-139D-BAD28E16800D}"/>
              </a:ext>
            </a:extLst>
          </p:cNvPr>
          <p:cNvSpPr>
            <a:spLocks noGrp="1"/>
          </p:cNvSpPr>
          <p:nvPr/>
        </p:nvSpPr>
        <p:spPr>
          <a:xfrm>
            <a:off x="3695363" y="1026151"/>
            <a:ext cx="175327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The cat sat on the</a:t>
            </a:r>
            <a:endParaRPr sz="1200"/>
          </a:p>
        </p:txBody>
      </p:sp>
      <p:sp>
        <p:nvSpPr>
          <p:cNvPr id="46" name="Shape 2">
            <a:extLst>
              <a:ext uri="{FF2B5EF4-FFF2-40B4-BE49-F238E27FC236}">
                <a16:creationId xmlns:a16="http://schemas.microsoft.com/office/drawing/2014/main" id="{366F5EE1-1F34-A778-FD4F-94AD8C3E83C1}"/>
              </a:ext>
            </a:extLst>
          </p:cNvPr>
          <p:cNvSpPr>
            <a:spLocks noGrp="1"/>
          </p:cNvSpPr>
          <p:nvPr/>
        </p:nvSpPr>
        <p:spPr>
          <a:xfrm>
            <a:off x="2386584" y="2704243"/>
            <a:ext cx="667512" cy="384048"/>
          </a:xfrm>
          <a:prstGeom prst="roundRect">
            <a:avLst>
              <a:gd name="adj" fmla="val 23810"/>
            </a:avLst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">
            <a:extLst>
              <a:ext uri="{FF2B5EF4-FFF2-40B4-BE49-F238E27FC236}">
                <a16:creationId xmlns:a16="http://schemas.microsoft.com/office/drawing/2014/main" id="{910FF8CE-E65B-3DDD-8C89-F4485095C3F7}"/>
              </a:ext>
            </a:extLst>
          </p:cNvPr>
          <p:cNvSpPr>
            <a:spLocks noGrp="1"/>
          </p:cNvSpPr>
          <p:nvPr/>
        </p:nvSpPr>
        <p:spPr>
          <a:xfrm>
            <a:off x="2386584" y="2704243"/>
            <a:ext cx="66751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The</a:t>
            </a:r>
            <a:endParaRPr sz="1200"/>
          </a:p>
        </p:txBody>
      </p:sp>
      <p:sp>
        <p:nvSpPr>
          <p:cNvPr id="48" name="Shape 4">
            <a:extLst>
              <a:ext uri="{FF2B5EF4-FFF2-40B4-BE49-F238E27FC236}">
                <a16:creationId xmlns:a16="http://schemas.microsoft.com/office/drawing/2014/main" id="{79D728AB-7E2D-1C25-73C9-8CD2A6BFEA17}"/>
              </a:ext>
            </a:extLst>
          </p:cNvPr>
          <p:cNvSpPr>
            <a:spLocks noGrp="1"/>
          </p:cNvSpPr>
          <p:nvPr/>
        </p:nvSpPr>
        <p:spPr>
          <a:xfrm>
            <a:off x="2386584" y="3165489"/>
            <a:ext cx="667512" cy="384048"/>
          </a:xfrm>
          <a:prstGeom prst="roundRect">
            <a:avLst>
              <a:gd name="adj" fmla="val 23810"/>
            </a:avLst>
          </a:prstGeom>
          <a:solidFill>
            <a:srgbClr val="183A30"/>
          </a:solidFill>
          <a:ln w="12700">
            <a:solidFill>
              <a:srgbClr val="183A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5">
            <a:extLst>
              <a:ext uri="{FF2B5EF4-FFF2-40B4-BE49-F238E27FC236}">
                <a16:creationId xmlns:a16="http://schemas.microsoft.com/office/drawing/2014/main" id="{490A17A3-D4A6-A1DF-BFE8-649B91112BED}"/>
              </a:ext>
            </a:extLst>
          </p:cNvPr>
          <p:cNvSpPr>
            <a:spLocks noGrp="1"/>
          </p:cNvSpPr>
          <p:nvPr/>
        </p:nvSpPr>
        <p:spPr>
          <a:xfrm>
            <a:off x="2386584" y="3165489"/>
            <a:ext cx="66751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cat</a:t>
            </a:r>
            <a:endParaRPr sz="1200"/>
          </a:p>
        </p:txBody>
      </p:sp>
      <p:sp>
        <p:nvSpPr>
          <p:cNvPr id="50" name="Shape 6">
            <a:extLst>
              <a:ext uri="{FF2B5EF4-FFF2-40B4-BE49-F238E27FC236}">
                <a16:creationId xmlns:a16="http://schemas.microsoft.com/office/drawing/2014/main" id="{27173E4E-D1B7-28DC-3513-A8212BFC0514}"/>
              </a:ext>
            </a:extLst>
          </p:cNvPr>
          <p:cNvSpPr>
            <a:spLocks noGrp="1"/>
          </p:cNvSpPr>
          <p:nvPr/>
        </p:nvSpPr>
        <p:spPr>
          <a:xfrm>
            <a:off x="2386584" y="3626735"/>
            <a:ext cx="667512" cy="384048"/>
          </a:xfrm>
          <a:prstGeom prst="roundRect">
            <a:avLst>
              <a:gd name="adj" fmla="val 23810"/>
            </a:avLst>
          </a:prstGeom>
          <a:solidFill>
            <a:srgbClr val="2A1C44"/>
          </a:solidFill>
          <a:ln w="12700">
            <a:solidFill>
              <a:srgbClr val="2A1C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7">
            <a:extLst>
              <a:ext uri="{FF2B5EF4-FFF2-40B4-BE49-F238E27FC236}">
                <a16:creationId xmlns:a16="http://schemas.microsoft.com/office/drawing/2014/main" id="{DEC60E28-CE52-1AEB-AF73-53C3EA96E693}"/>
              </a:ext>
            </a:extLst>
          </p:cNvPr>
          <p:cNvSpPr>
            <a:spLocks noGrp="1"/>
          </p:cNvSpPr>
          <p:nvPr/>
        </p:nvSpPr>
        <p:spPr>
          <a:xfrm>
            <a:off x="2386584" y="3626735"/>
            <a:ext cx="66751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sat</a:t>
            </a:r>
            <a:endParaRPr sz="1200"/>
          </a:p>
        </p:txBody>
      </p:sp>
      <p:sp>
        <p:nvSpPr>
          <p:cNvPr id="52" name="Shape 8">
            <a:extLst>
              <a:ext uri="{FF2B5EF4-FFF2-40B4-BE49-F238E27FC236}">
                <a16:creationId xmlns:a16="http://schemas.microsoft.com/office/drawing/2014/main" id="{A598929B-8F72-FC1B-0C95-29B3C2D45D25}"/>
              </a:ext>
            </a:extLst>
          </p:cNvPr>
          <p:cNvSpPr>
            <a:spLocks noGrp="1"/>
          </p:cNvSpPr>
          <p:nvPr/>
        </p:nvSpPr>
        <p:spPr>
          <a:xfrm>
            <a:off x="2386584" y="4087981"/>
            <a:ext cx="667512" cy="384048"/>
          </a:xfrm>
          <a:prstGeom prst="roundRect">
            <a:avLst>
              <a:gd name="adj" fmla="val 23810"/>
            </a:avLst>
          </a:prstGeom>
          <a:solidFill>
            <a:srgbClr val="1B2E3E"/>
          </a:solidFill>
          <a:ln w="12700">
            <a:solidFill>
              <a:srgbClr val="1B2E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9">
            <a:extLst>
              <a:ext uri="{FF2B5EF4-FFF2-40B4-BE49-F238E27FC236}">
                <a16:creationId xmlns:a16="http://schemas.microsoft.com/office/drawing/2014/main" id="{24508458-7A2E-05D0-788A-AF7658753F3F}"/>
              </a:ext>
            </a:extLst>
          </p:cNvPr>
          <p:cNvSpPr>
            <a:spLocks noGrp="1"/>
          </p:cNvSpPr>
          <p:nvPr/>
        </p:nvSpPr>
        <p:spPr>
          <a:xfrm>
            <a:off x="2386584" y="4087981"/>
            <a:ext cx="66751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on</a:t>
            </a:r>
            <a:endParaRPr sz="1200"/>
          </a:p>
        </p:txBody>
      </p:sp>
      <p:sp>
        <p:nvSpPr>
          <p:cNvPr id="54" name="Shape 10">
            <a:extLst>
              <a:ext uri="{FF2B5EF4-FFF2-40B4-BE49-F238E27FC236}">
                <a16:creationId xmlns:a16="http://schemas.microsoft.com/office/drawing/2014/main" id="{46D4A916-AB1D-3709-7176-B1766784EBDA}"/>
              </a:ext>
            </a:extLst>
          </p:cNvPr>
          <p:cNvSpPr>
            <a:spLocks noGrp="1"/>
          </p:cNvSpPr>
          <p:nvPr/>
        </p:nvSpPr>
        <p:spPr>
          <a:xfrm>
            <a:off x="2404737" y="4549227"/>
            <a:ext cx="667512" cy="384048"/>
          </a:xfrm>
          <a:prstGeom prst="roundRect">
            <a:avLst>
              <a:gd name="adj" fmla="val 23810"/>
            </a:avLst>
          </a:prstGeom>
          <a:solidFill>
            <a:srgbClr val="352507"/>
          </a:solidFill>
          <a:ln w="12700">
            <a:solidFill>
              <a:srgbClr val="35250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11">
            <a:extLst>
              <a:ext uri="{FF2B5EF4-FFF2-40B4-BE49-F238E27FC236}">
                <a16:creationId xmlns:a16="http://schemas.microsoft.com/office/drawing/2014/main" id="{D72F1015-0F3E-E73C-A2C0-71EBF8847BE3}"/>
              </a:ext>
            </a:extLst>
          </p:cNvPr>
          <p:cNvSpPr>
            <a:spLocks noGrp="1"/>
          </p:cNvSpPr>
          <p:nvPr/>
        </p:nvSpPr>
        <p:spPr>
          <a:xfrm>
            <a:off x="2404737" y="4549227"/>
            <a:ext cx="66751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BBF24"/>
                </a:solidFill>
                <a:latin typeface="Consolas"/>
                <a:ea typeface="Consolas"/>
                <a:cs typeface="Consolas"/>
              </a:rPr>
              <a:t>the</a:t>
            </a:r>
            <a:endParaRPr sz="1200"/>
          </a:p>
        </p:txBody>
      </p:sp>
      <p:sp>
        <p:nvSpPr>
          <p:cNvPr id="58" name="Right Arrow 57">
            <a:extLst>
              <a:ext uri="{FF2B5EF4-FFF2-40B4-BE49-F238E27FC236}">
                <a16:creationId xmlns:a16="http://schemas.microsoft.com/office/drawing/2014/main" id="{5528D225-A71D-715A-C68E-429C2359A246}"/>
              </a:ext>
            </a:extLst>
          </p:cNvPr>
          <p:cNvSpPr>
            <a:spLocks noGrp="1"/>
          </p:cNvSpPr>
          <p:nvPr/>
        </p:nvSpPr>
        <p:spPr>
          <a:xfrm>
            <a:off x="3398641" y="2798311"/>
            <a:ext cx="857756" cy="2023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" name="Right Arrow 58">
            <a:extLst>
              <a:ext uri="{FF2B5EF4-FFF2-40B4-BE49-F238E27FC236}">
                <a16:creationId xmlns:a16="http://schemas.microsoft.com/office/drawing/2014/main" id="{A20FA552-F532-D972-8D86-6E4BF9814458}"/>
              </a:ext>
            </a:extLst>
          </p:cNvPr>
          <p:cNvSpPr>
            <a:spLocks noGrp="1"/>
          </p:cNvSpPr>
          <p:nvPr/>
        </p:nvSpPr>
        <p:spPr>
          <a:xfrm>
            <a:off x="3398641" y="3256362"/>
            <a:ext cx="857756" cy="2023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" name="Right Arrow 59">
            <a:extLst>
              <a:ext uri="{FF2B5EF4-FFF2-40B4-BE49-F238E27FC236}">
                <a16:creationId xmlns:a16="http://schemas.microsoft.com/office/drawing/2014/main" id="{4EC2DFC5-4B38-FDBF-D76B-1D563E55FE86}"/>
              </a:ext>
            </a:extLst>
          </p:cNvPr>
          <p:cNvSpPr>
            <a:spLocks noGrp="1"/>
          </p:cNvSpPr>
          <p:nvPr/>
        </p:nvSpPr>
        <p:spPr>
          <a:xfrm>
            <a:off x="3398641" y="3717608"/>
            <a:ext cx="857756" cy="2023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" name="Right Arrow 60">
            <a:extLst>
              <a:ext uri="{FF2B5EF4-FFF2-40B4-BE49-F238E27FC236}">
                <a16:creationId xmlns:a16="http://schemas.microsoft.com/office/drawing/2014/main" id="{A99984B5-100C-8EE9-6A78-EBA45A7C64EE}"/>
              </a:ext>
            </a:extLst>
          </p:cNvPr>
          <p:cNvSpPr>
            <a:spLocks noGrp="1"/>
          </p:cNvSpPr>
          <p:nvPr/>
        </p:nvSpPr>
        <p:spPr>
          <a:xfrm>
            <a:off x="3398641" y="4178854"/>
            <a:ext cx="857756" cy="2023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" name="Right Arrow 61">
            <a:extLst>
              <a:ext uri="{FF2B5EF4-FFF2-40B4-BE49-F238E27FC236}">
                <a16:creationId xmlns:a16="http://schemas.microsoft.com/office/drawing/2014/main" id="{AC26483B-BCBB-4547-43B9-9EB5C12FE037}"/>
              </a:ext>
            </a:extLst>
          </p:cNvPr>
          <p:cNvSpPr>
            <a:spLocks noGrp="1"/>
          </p:cNvSpPr>
          <p:nvPr/>
        </p:nvSpPr>
        <p:spPr>
          <a:xfrm>
            <a:off x="3398641" y="4640100"/>
            <a:ext cx="857756" cy="2023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2F0CB6A-E8CB-E00F-1E83-E34099457E3D}"/>
              </a:ext>
            </a:extLst>
          </p:cNvPr>
          <p:cNvSpPr>
            <a:spLocks noGrp="1"/>
          </p:cNvSpPr>
          <p:nvPr/>
        </p:nvSpPr>
        <p:spPr>
          <a:xfrm>
            <a:off x="7119145" y="3680258"/>
            <a:ext cx="15219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[Token vectors]</a:t>
            </a:r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DFFBA03-4481-F3BF-1EAC-5792CCB86F39}"/>
              </a:ext>
            </a:extLst>
          </p:cNvPr>
          <p:cNvSpPr>
            <a:spLocks noGrp="1"/>
          </p:cNvSpPr>
          <p:nvPr/>
        </p:nvSpPr>
        <p:spPr>
          <a:xfrm>
            <a:off x="4571999" y="3181664"/>
            <a:ext cx="11507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[0.8, 0.7]</a:t>
            </a:r>
            <a:endParaRPr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BFBBA6E-B385-9C35-74DF-145F28F12F86}"/>
              </a:ext>
            </a:extLst>
          </p:cNvPr>
          <p:cNvSpPr>
            <a:spLocks noGrp="1"/>
          </p:cNvSpPr>
          <p:nvPr/>
        </p:nvSpPr>
        <p:spPr>
          <a:xfrm>
            <a:off x="4566146" y="3680258"/>
            <a:ext cx="11507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[0.6, 0.3]</a:t>
            </a:r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88FADD1-A941-DBEC-A9BC-E2E88DA03A79}"/>
              </a:ext>
            </a:extLst>
          </p:cNvPr>
          <p:cNvSpPr>
            <a:spLocks noGrp="1"/>
          </p:cNvSpPr>
          <p:nvPr/>
        </p:nvSpPr>
        <p:spPr>
          <a:xfrm>
            <a:off x="4566145" y="4178169"/>
            <a:ext cx="11507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[0.3, 0.5]</a:t>
            </a:r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96BB953-9BFB-4343-15D0-DDD2B5A0F756}"/>
              </a:ext>
            </a:extLst>
          </p:cNvPr>
          <p:cNvSpPr>
            <a:spLocks noGrp="1"/>
          </p:cNvSpPr>
          <p:nvPr/>
        </p:nvSpPr>
        <p:spPr>
          <a:xfrm>
            <a:off x="4582789" y="4602750"/>
            <a:ext cx="11507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[0.2, 0.4]</a:t>
            </a:r>
            <a:endParaRPr/>
          </a:p>
        </p:txBody>
      </p:sp>
      <p:sp>
        <p:nvSpPr>
          <p:cNvPr id="70" name="Right Arrow 69">
            <a:extLst>
              <a:ext uri="{FF2B5EF4-FFF2-40B4-BE49-F238E27FC236}">
                <a16:creationId xmlns:a16="http://schemas.microsoft.com/office/drawing/2014/main" id="{67AE2DA5-348A-CBA1-A31D-87EEB2D3E56E}"/>
              </a:ext>
            </a:extLst>
          </p:cNvPr>
          <p:cNvSpPr>
            <a:spLocks noGrp="1"/>
          </p:cNvSpPr>
          <p:nvPr/>
        </p:nvSpPr>
        <p:spPr>
          <a:xfrm>
            <a:off x="5916844" y="3521262"/>
            <a:ext cx="950165" cy="5943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9B49DA5-CFD1-8C82-2082-8122C22C607E}"/>
              </a:ext>
            </a:extLst>
          </p:cNvPr>
          <p:cNvSpPr>
            <a:spLocks noGrp="1"/>
          </p:cNvSpPr>
          <p:nvPr/>
        </p:nvSpPr>
        <p:spPr>
          <a:xfrm>
            <a:off x="4590153" y="2723613"/>
            <a:ext cx="11507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[0.2, 0.4]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7680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483B8B6-C3CE-3655-D895-5F14D29B97BD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LLM - Predictions</a:t>
            </a:r>
            <a:endParaRPr sz="3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2F231D-F602-DDAE-3E28-E3ADECAD5F50}"/>
              </a:ext>
            </a:extLst>
          </p:cNvPr>
          <p:cNvSpPr>
            <a:spLocks noGrp="1"/>
          </p:cNvSpPr>
          <p:nvPr/>
        </p:nvSpPr>
        <p:spPr>
          <a:xfrm>
            <a:off x="1369522" y="2288180"/>
            <a:ext cx="11507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[0.8, 0.7]</a:t>
            </a: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361F83-4987-B365-7B77-250EBE4AAE77}"/>
              </a:ext>
            </a:extLst>
          </p:cNvPr>
          <p:cNvSpPr>
            <a:spLocks noGrp="1"/>
          </p:cNvSpPr>
          <p:nvPr/>
        </p:nvSpPr>
        <p:spPr>
          <a:xfrm>
            <a:off x="1369522" y="2537136"/>
            <a:ext cx="11507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[0.6, 0.3]</a:t>
            </a: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F1A8B7-423C-CEDF-0F61-89388ED0841B}"/>
              </a:ext>
            </a:extLst>
          </p:cNvPr>
          <p:cNvSpPr>
            <a:spLocks noGrp="1"/>
          </p:cNvSpPr>
          <p:nvPr/>
        </p:nvSpPr>
        <p:spPr>
          <a:xfrm>
            <a:off x="1362156" y="2811977"/>
            <a:ext cx="11507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[0.3, 0.5]</a:t>
            </a: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2A0D1D-11CF-A1DC-20A0-753704AF6B4D}"/>
              </a:ext>
            </a:extLst>
          </p:cNvPr>
          <p:cNvSpPr>
            <a:spLocks noGrp="1"/>
          </p:cNvSpPr>
          <p:nvPr/>
        </p:nvSpPr>
        <p:spPr>
          <a:xfrm>
            <a:off x="1354790" y="3060933"/>
            <a:ext cx="11507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[0.2, 0.4]</a:t>
            </a: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89FE6D-0464-2D26-96CC-B370095D7A14}"/>
              </a:ext>
            </a:extLst>
          </p:cNvPr>
          <p:cNvSpPr>
            <a:spLocks noGrp="1"/>
          </p:cNvSpPr>
          <p:nvPr/>
        </p:nvSpPr>
        <p:spPr>
          <a:xfrm>
            <a:off x="1369522" y="2039224"/>
            <a:ext cx="11507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[0.2, 0.4]</a:t>
            </a: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92E249-C22F-52CE-A703-A0387816916B}"/>
              </a:ext>
            </a:extLst>
          </p:cNvPr>
          <p:cNvSpPr>
            <a:spLocks noGrp="1"/>
          </p:cNvSpPr>
          <p:nvPr/>
        </p:nvSpPr>
        <p:spPr>
          <a:xfrm>
            <a:off x="2447839" y="2536057"/>
            <a:ext cx="38153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× Weights → [new vectors] × Weights → … →</a:t>
            </a: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A3E862-7ED0-6864-9364-DC4D5CF9B563}"/>
              </a:ext>
            </a:extLst>
          </p:cNvPr>
          <p:cNvSpPr>
            <a:spLocks noGrp="1"/>
          </p:cNvSpPr>
          <p:nvPr/>
        </p:nvSpPr>
        <p:spPr>
          <a:xfrm>
            <a:off x="6037277" y="2288180"/>
            <a:ext cx="11507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[0.7, 0.8]</a:t>
            </a: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439418-5636-BD5C-C978-CBB0F035C3E1}"/>
              </a:ext>
            </a:extLst>
          </p:cNvPr>
          <p:cNvSpPr>
            <a:spLocks noGrp="1"/>
          </p:cNvSpPr>
          <p:nvPr/>
        </p:nvSpPr>
        <p:spPr>
          <a:xfrm>
            <a:off x="6037277" y="2537136"/>
            <a:ext cx="11507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[0.8, 0.5]</a:t>
            </a: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862D25-E7F5-6257-C4C4-8F946A19C62C}"/>
              </a:ext>
            </a:extLst>
          </p:cNvPr>
          <p:cNvSpPr>
            <a:spLocks noGrp="1"/>
          </p:cNvSpPr>
          <p:nvPr/>
        </p:nvSpPr>
        <p:spPr>
          <a:xfrm>
            <a:off x="6029911" y="2811977"/>
            <a:ext cx="11507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[0.5, 0.7]</a:t>
            </a:r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76B107-4E9B-AB61-295D-D2E7E6740BE2}"/>
              </a:ext>
            </a:extLst>
          </p:cNvPr>
          <p:cNvSpPr>
            <a:spLocks noGrp="1"/>
          </p:cNvSpPr>
          <p:nvPr/>
        </p:nvSpPr>
        <p:spPr>
          <a:xfrm>
            <a:off x="6022545" y="3060933"/>
            <a:ext cx="11507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[0.9, 0.8]</a:t>
            </a: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A29FC1-ED40-72CA-5914-43ADEF8F43C9}"/>
              </a:ext>
            </a:extLst>
          </p:cNvPr>
          <p:cNvSpPr>
            <a:spLocks noGrp="1"/>
          </p:cNvSpPr>
          <p:nvPr/>
        </p:nvSpPr>
        <p:spPr>
          <a:xfrm>
            <a:off x="6037277" y="2039224"/>
            <a:ext cx="11507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[0.4, 0.3]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35783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71F06BA-7338-A66B-9E73-CEC128E476C7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LLM - Predictions</a:t>
            </a:r>
            <a:endParaRPr sz="3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F1FBC8-7868-D97D-E44C-55C2E22C0B3B}"/>
              </a:ext>
            </a:extLst>
          </p:cNvPr>
          <p:cNvSpPr>
            <a:spLocks noGrp="1"/>
          </p:cNvSpPr>
          <p:nvPr/>
        </p:nvSpPr>
        <p:spPr>
          <a:xfrm>
            <a:off x="843643" y="1793045"/>
            <a:ext cx="11507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[0.9, 0.8]</a:t>
            </a:r>
            <a:endParaRPr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FE4A18B1-87AA-C7E1-AE47-B5F1E818517C}"/>
              </a:ext>
            </a:extLst>
          </p:cNvPr>
          <p:cNvSpPr>
            <a:spLocks noGrp="1"/>
          </p:cNvSpPr>
          <p:nvPr/>
        </p:nvSpPr>
        <p:spPr>
          <a:xfrm>
            <a:off x="262034" y="2800372"/>
            <a:ext cx="2114718" cy="810660"/>
          </a:xfrm>
          <a:prstGeom prst="roundRect">
            <a:avLst>
              <a:gd name="adj" fmla="val 23810"/>
            </a:avLst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2215DF58-F63A-2E42-AA1E-D6E6828CB3C5}"/>
              </a:ext>
            </a:extLst>
          </p:cNvPr>
          <p:cNvSpPr>
            <a:spLocks noGrp="1"/>
          </p:cNvSpPr>
          <p:nvPr/>
        </p:nvSpPr>
        <p:spPr>
          <a:xfrm>
            <a:off x="262034" y="2800372"/>
            <a:ext cx="2114718" cy="8106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sz="1200" b="1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“The” in a context of “The cat sat on the”</a:t>
            </a:r>
            <a:endParaRPr sz="1200"/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84D58F9E-9C6F-0BAB-C0E8-A051A619E502}"/>
              </a:ext>
            </a:extLst>
          </p:cNvPr>
          <p:cNvSpPr>
            <a:spLocks noGrp="1"/>
          </p:cNvSpPr>
          <p:nvPr/>
        </p:nvSpPr>
        <p:spPr>
          <a:xfrm>
            <a:off x="2847830" y="2413880"/>
            <a:ext cx="667512" cy="384048"/>
          </a:xfrm>
          <a:prstGeom prst="roundRect">
            <a:avLst>
              <a:gd name="adj" fmla="val 23810"/>
            </a:avLst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431B34CE-5B57-8329-A98D-AA4F96BF175F}"/>
              </a:ext>
            </a:extLst>
          </p:cNvPr>
          <p:cNvSpPr>
            <a:spLocks noGrp="1"/>
          </p:cNvSpPr>
          <p:nvPr/>
        </p:nvSpPr>
        <p:spPr>
          <a:xfrm>
            <a:off x="2847830" y="2413880"/>
            <a:ext cx="66751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mat</a:t>
            </a:r>
            <a:endParaRPr sz="1200"/>
          </a:p>
        </p:txBody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93C3DC95-C253-346F-CD13-D0FDE42C8EF1}"/>
              </a:ext>
            </a:extLst>
          </p:cNvPr>
          <p:cNvSpPr>
            <a:spLocks noGrp="1"/>
          </p:cNvSpPr>
          <p:nvPr/>
        </p:nvSpPr>
        <p:spPr>
          <a:xfrm>
            <a:off x="2847830" y="2875126"/>
            <a:ext cx="667512" cy="384048"/>
          </a:xfrm>
          <a:prstGeom prst="roundRect">
            <a:avLst>
              <a:gd name="adj" fmla="val 23810"/>
            </a:avLst>
          </a:prstGeom>
          <a:solidFill>
            <a:srgbClr val="183A30"/>
          </a:solidFill>
          <a:ln w="12700">
            <a:solidFill>
              <a:srgbClr val="183A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3FDCC9D5-701A-E137-F884-FCB04A9C5BFA}"/>
              </a:ext>
            </a:extLst>
          </p:cNvPr>
          <p:cNvSpPr>
            <a:spLocks noGrp="1"/>
          </p:cNvSpPr>
          <p:nvPr/>
        </p:nvSpPr>
        <p:spPr>
          <a:xfrm>
            <a:off x="2847830" y="2875126"/>
            <a:ext cx="66751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floor</a:t>
            </a:r>
            <a:endParaRPr sz="1200"/>
          </a:p>
        </p:txBody>
      </p:sp>
      <p:sp>
        <p:nvSpPr>
          <p:cNvPr id="32" name="Shape 6">
            <a:extLst>
              <a:ext uri="{FF2B5EF4-FFF2-40B4-BE49-F238E27FC236}">
                <a16:creationId xmlns:a16="http://schemas.microsoft.com/office/drawing/2014/main" id="{DEA847B1-FEB6-F360-8026-7F330A2642BC}"/>
              </a:ext>
            </a:extLst>
          </p:cNvPr>
          <p:cNvSpPr>
            <a:spLocks noGrp="1"/>
          </p:cNvSpPr>
          <p:nvPr/>
        </p:nvSpPr>
        <p:spPr>
          <a:xfrm>
            <a:off x="2847830" y="3336372"/>
            <a:ext cx="667512" cy="384048"/>
          </a:xfrm>
          <a:prstGeom prst="roundRect">
            <a:avLst>
              <a:gd name="adj" fmla="val 23810"/>
            </a:avLst>
          </a:prstGeom>
          <a:solidFill>
            <a:srgbClr val="2A1C44"/>
          </a:solidFill>
          <a:ln w="12700">
            <a:solidFill>
              <a:srgbClr val="2A1C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4AA3CC20-C67A-7E84-CE38-2C8137EFBEDE}"/>
              </a:ext>
            </a:extLst>
          </p:cNvPr>
          <p:cNvSpPr>
            <a:spLocks noGrp="1"/>
          </p:cNvSpPr>
          <p:nvPr/>
        </p:nvSpPr>
        <p:spPr>
          <a:xfrm>
            <a:off x="2847830" y="3336372"/>
            <a:ext cx="66751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chair</a:t>
            </a:r>
            <a:endParaRPr sz="1200"/>
          </a:p>
        </p:txBody>
      </p:sp>
      <p:sp>
        <p:nvSpPr>
          <p:cNvPr id="34" name="Shape 8">
            <a:extLst>
              <a:ext uri="{FF2B5EF4-FFF2-40B4-BE49-F238E27FC236}">
                <a16:creationId xmlns:a16="http://schemas.microsoft.com/office/drawing/2014/main" id="{7585E23E-07ED-1154-DFFF-D3EFAF7892EA}"/>
              </a:ext>
            </a:extLst>
          </p:cNvPr>
          <p:cNvSpPr>
            <a:spLocks noGrp="1"/>
          </p:cNvSpPr>
          <p:nvPr/>
        </p:nvSpPr>
        <p:spPr>
          <a:xfrm>
            <a:off x="2847830" y="3797618"/>
            <a:ext cx="667512" cy="384048"/>
          </a:xfrm>
          <a:prstGeom prst="roundRect">
            <a:avLst>
              <a:gd name="adj" fmla="val 23810"/>
            </a:avLst>
          </a:prstGeom>
          <a:solidFill>
            <a:srgbClr val="1B2E3E"/>
          </a:solidFill>
          <a:ln w="12700">
            <a:solidFill>
              <a:srgbClr val="1B2E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8B0AF9CF-7DF4-54F2-6946-0E76FF8122C4}"/>
              </a:ext>
            </a:extLst>
          </p:cNvPr>
          <p:cNvSpPr>
            <a:spLocks noGrp="1"/>
          </p:cNvSpPr>
          <p:nvPr/>
        </p:nvSpPr>
        <p:spPr>
          <a:xfrm>
            <a:off x="2847830" y="3797618"/>
            <a:ext cx="66751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car</a:t>
            </a:r>
            <a:endParaRPr sz="1200"/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5B0DA2E5-E12D-3374-FE7A-BA4458224626}"/>
              </a:ext>
            </a:extLst>
          </p:cNvPr>
          <p:cNvSpPr>
            <a:spLocks noGrp="1"/>
          </p:cNvSpPr>
          <p:nvPr/>
        </p:nvSpPr>
        <p:spPr>
          <a:xfrm>
            <a:off x="3859887" y="2507948"/>
            <a:ext cx="420800" cy="2023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BD01E0F5-5A62-BE7E-6500-D19B00E3F580}"/>
              </a:ext>
            </a:extLst>
          </p:cNvPr>
          <p:cNvSpPr>
            <a:spLocks noGrp="1"/>
          </p:cNvSpPr>
          <p:nvPr/>
        </p:nvSpPr>
        <p:spPr>
          <a:xfrm>
            <a:off x="3859887" y="2965999"/>
            <a:ext cx="420800" cy="2023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30AC391C-F9D4-1425-8AE1-13DA7D288DDE}"/>
              </a:ext>
            </a:extLst>
          </p:cNvPr>
          <p:cNvSpPr>
            <a:spLocks noGrp="1"/>
          </p:cNvSpPr>
          <p:nvPr/>
        </p:nvSpPr>
        <p:spPr>
          <a:xfrm>
            <a:off x="3859887" y="3427245"/>
            <a:ext cx="420800" cy="2023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097FA45F-2955-17FF-4754-BA19F26B9215}"/>
              </a:ext>
            </a:extLst>
          </p:cNvPr>
          <p:cNvSpPr>
            <a:spLocks noGrp="1"/>
          </p:cNvSpPr>
          <p:nvPr/>
        </p:nvSpPr>
        <p:spPr>
          <a:xfrm>
            <a:off x="3859887" y="3888491"/>
            <a:ext cx="420800" cy="2023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20CADA3-7393-2ECC-6F3B-37273261771E}"/>
              </a:ext>
            </a:extLst>
          </p:cNvPr>
          <p:cNvSpPr>
            <a:spLocks noGrp="1"/>
          </p:cNvSpPr>
          <p:nvPr/>
        </p:nvSpPr>
        <p:spPr>
          <a:xfrm>
            <a:off x="4366894" y="2891301"/>
            <a:ext cx="11507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[0.8, 0.7]</a:t>
            </a:r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AD4515A-247C-8770-9D4C-5F8AB4767037}"/>
              </a:ext>
            </a:extLst>
          </p:cNvPr>
          <p:cNvSpPr>
            <a:spLocks noGrp="1"/>
          </p:cNvSpPr>
          <p:nvPr/>
        </p:nvSpPr>
        <p:spPr>
          <a:xfrm>
            <a:off x="4361041" y="3389895"/>
            <a:ext cx="11507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[0.6, 0.3]</a:t>
            </a:r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BF5D487-C965-8871-9D41-E7E6B6030D03}"/>
              </a:ext>
            </a:extLst>
          </p:cNvPr>
          <p:cNvSpPr>
            <a:spLocks noGrp="1"/>
          </p:cNvSpPr>
          <p:nvPr/>
        </p:nvSpPr>
        <p:spPr>
          <a:xfrm>
            <a:off x="4361040" y="3887806"/>
            <a:ext cx="11507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[0.3, 0.5]</a:t>
            </a:r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2D98CF5-CFFC-9EBE-3BF2-BC2BD4C541B9}"/>
              </a:ext>
            </a:extLst>
          </p:cNvPr>
          <p:cNvSpPr>
            <a:spLocks noGrp="1"/>
          </p:cNvSpPr>
          <p:nvPr/>
        </p:nvSpPr>
        <p:spPr>
          <a:xfrm>
            <a:off x="4385048" y="2433250"/>
            <a:ext cx="11507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[1.0, 0.9]</a:t>
            </a:r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236E176-AE15-EA31-F445-A3EB650B15E0}"/>
              </a:ext>
            </a:extLst>
          </p:cNvPr>
          <p:cNvSpPr>
            <a:spLocks noGrp="1"/>
          </p:cNvSpPr>
          <p:nvPr/>
        </p:nvSpPr>
        <p:spPr>
          <a:xfrm>
            <a:off x="2443795" y="1787491"/>
            <a:ext cx="6327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×         Output weights               →    Scores     →    Probabilities </a:t>
            </a:r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7265E3F-CEAA-F8AE-4E92-97EBE9EE82B7}"/>
              </a:ext>
            </a:extLst>
          </p:cNvPr>
          <p:cNvSpPr>
            <a:spLocks noGrp="1"/>
          </p:cNvSpPr>
          <p:nvPr/>
        </p:nvSpPr>
        <p:spPr>
          <a:xfrm>
            <a:off x="6186589" y="2871931"/>
            <a:ext cx="5625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1.28</a:t>
            </a:r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0D2729A-0E4A-896A-CE78-635F0A23EB9E}"/>
              </a:ext>
            </a:extLst>
          </p:cNvPr>
          <p:cNvSpPr>
            <a:spLocks noGrp="1"/>
          </p:cNvSpPr>
          <p:nvPr/>
        </p:nvSpPr>
        <p:spPr>
          <a:xfrm>
            <a:off x="6180737" y="3370525"/>
            <a:ext cx="5683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0.76</a:t>
            </a:r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7FD3201-B423-193D-4425-A52B4300696C}"/>
              </a:ext>
            </a:extLst>
          </p:cNvPr>
          <p:cNvSpPr>
            <a:spLocks noGrp="1"/>
          </p:cNvSpPr>
          <p:nvPr/>
        </p:nvSpPr>
        <p:spPr>
          <a:xfrm>
            <a:off x="6180736" y="3868436"/>
            <a:ext cx="5683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0.25</a:t>
            </a:r>
            <a:endParaRPr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D7A4025-E449-54A1-3333-D042C6DD6CC0}"/>
              </a:ext>
            </a:extLst>
          </p:cNvPr>
          <p:cNvSpPr>
            <a:spLocks noGrp="1"/>
          </p:cNvSpPr>
          <p:nvPr/>
        </p:nvSpPr>
        <p:spPr>
          <a:xfrm>
            <a:off x="6204744" y="2413880"/>
            <a:ext cx="5625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1.62</a:t>
            </a:r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F4F117D-6859-DADD-6AAA-28011FFE1D81}"/>
              </a:ext>
            </a:extLst>
          </p:cNvPr>
          <p:cNvSpPr>
            <a:spLocks noGrp="1"/>
          </p:cNvSpPr>
          <p:nvPr/>
        </p:nvSpPr>
        <p:spPr>
          <a:xfrm>
            <a:off x="7877767" y="2871931"/>
            <a:ext cx="6856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29.8%</a:t>
            </a:r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77A3837-E4B5-030A-3CD2-060EE4956DB8}"/>
              </a:ext>
            </a:extLst>
          </p:cNvPr>
          <p:cNvSpPr>
            <a:spLocks noGrp="1"/>
          </p:cNvSpPr>
          <p:nvPr/>
        </p:nvSpPr>
        <p:spPr>
          <a:xfrm>
            <a:off x="7871915" y="3370525"/>
            <a:ext cx="685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17.7%</a:t>
            </a:r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A73329-192D-4C65-D534-D19E62E3FDCE}"/>
              </a:ext>
            </a:extLst>
          </p:cNvPr>
          <p:cNvSpPr>
            <a:spLocks noGrp="1"/>
          </p:cNvSpPr>
          <p:nvPr/>
        </p:nvSpPr>
        <p:spPr>
          <a:xfrm>
            <a:off x="7871914" y="3868436"/>
            <a:ext cx="7691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10.6%</a:t>
            </a:r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2140425-CD84-56D1-B17B-E97F07F679C0}"/>
              </a:ext>
            </a:extLst>
          </p:cNvPr>
          <p:cNvSpPr>
            <a:spLocks noGrp="1"/>
          </p:cNvSpPr>
          <p:nvPr/>
        </p:nvSpPr>
        <p:spPr>
          <a:xfrm>
            <a:off x="7895922" y="2413880"/>
            <a:ext cx="6675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41.9%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52000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EE508DD-9789-22BF-6FBC-0DBE3E0C1AF8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What is GPT in the context of LLM?</a:t>
            </a:r>
            <a:endParaRPr sz="30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1ECF4F9-699A-6047-B35D-643991F29811}"/>
              </a:ext>
            </a:extLst>
          </p:cNvPr>
          <p:cNvSpPr>
            <a:spLocks noGrp="1"/>
          </p:cNvSpPr>
          <p:nvPr/>
        </p:nvSpPr>
        <p:spPr>
          <a:xfrm>
            <a:off x="457200" y="1162050"/>
            <a:ext cx="8229600" cy="3200400"/>
          </a:xfrm>
          <a:prstGeom prst="roundRect">
            <a:avLst>
              <a:gd name="adj" fmla="val 4444"/>
            </a:avLst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GPT concept 01">
            <a:extLst>
              <a:ext uri="{FF2B5EF4-FFF2-40B4-BE49-F238E27FC236}">
                <a16:creationId xmlns:a16="http://schemas.microsoft.com/office/drawing/2014/main" id="{3730A1A1-18EF-433E-A221-0DA24EC27436}"/>
              </a:ext>
            </a:extLst>
          </p:cNvPr>
          <p:cNvSpPr>
            <a:spLocks noGrp="1"/>
          </p:cNvSpPr>
          <p:nvPr/>
        </p:nvSpPr>
        <p:spPr>
          <a:xfrm>
            <a:off x="723900" y="1495425"/>
            <a:ext cx="438150" cy="438150"/>
          </a:xfrm>
          <a:prstGeom prst="ellipse">
            <a:avLst/>
          </a:prstGeom>
          <a:solidFill>
            <a:srgbClr val="38BDF8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buNone/>
              <a:defRPr sz="1200" b="1">
                <a:solidFill>
                  <a:srgbClr val="081525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1">
                <a:solidFill>
                  <a:srgbClr val="081525"/>
                </a:solidFill>
                <a:latin typeface="Trebuchet MS"/>
                <a:ea typeface="Trebuchet MS"/>
                <a:cs typeface="Trebuchet MS"/>
              </a:rPr>
              <a:t>01</a:t>
            </a:r>
          </a:p>
        </p:txBody>
      </p:sp>
      <p:sp>
        <p:nvSpPr>
          <p:cNvPr id="23" name="GPT concept 01 heading">
            <a:extLst>
              <a:ext uri="{FF2B5EF4-FFF2-40B4-BE49-F238E27FC236}">
                <a16:creationId xmlns:a16="http://schemas.microsoft.com/office/drawing/2014/main" id="{CBEA4487-9813-4B80-8042-DFDE668E24E7}"/>
              </a:ext>
            </a:extLst>
          </p:cNvPr>
          <p:cNvSpPr>
            <a:spLocks noGrp="1"/>
          </p:cNvSpPr>
          <p:nvPr/>
        </p:nvSpPr>
        <p:spPr>
          <a:xfrm>
            <a:off x="1390650" y="1352550"/>
            <a:ext cx="68199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650" b="1">
                <a:solidFill>
                  <a:srgbClr val="38BDF8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38BDF8"/>
                </a:solidFill>
                <a:latin typeface="Trebuchet MS"/>
                <a:ea typeface="Trebuchet MS"/>
                <a:cs typeface="Trebuchet MS"/>
              </a:rPr>
              <a:t>Attention is all you need!</a:t>
            </a:r>
          </a:p>
        </p:txBody>
      </p:sp>
      <p:sp>
        <p:nvSpPr>
          <p:cNvPr id="24" name="GPT concept 01 explanation">
            <a:extLst>
              <a:ext uri="{FF2B5EF4-FFF2-40B4-BE49-F238E27FC236}">
                <a16:creationId xmlns:a16="http://schemas.microsoft.com/office/drawing/2014/main" id="{A7C5645A-9BF2-4C7B-952E-500D8F82BF05}"/>
              </a:ext>
            </a:extLst>
          </p:cNvPr>
          <p:cNvSpPr>
            <a:spLocks noGrp="1"/>
          </p:cNvSpPr>
          <p:nvPr/>
        </p:nvSpPr>
        <p:spPr>
          <a:xfrm>
            <a:off x="1390650" y="1695450"/>
            <a:ext cx="68199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>
              <a:buNone/>
              <a:defRPr sz="1350">
                <a:solidFill>
                  <a:srgbClr val="E7EEF8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E7EEF8"/>
                </a:solidFill>
                <a:latin typeface="Calibri"/>
                <a:ea typeface="Calibri"/>
                <a:cs typeface="Calibri"/>
              </a:rPr>
              <a:t>Attention is the mechanism that lets each token vector use information from other relevant tokens.</a:t>
            </a:r>
          </a:p>
        </p:txBody>
      </p:sp>
      <p:sp>
        <p:nvSpPr>
          <p:cNvPr id="25" name="GPT concept divider 1">
            <a:extLst>
              <a:ext uri="{FF2B5EF4-FFF2-40B4-BE49-F238E27FC236}">
                <a16:creationId xmlns:a16="http://schemas.microsoft.com/office/drawing/2014/main" id="{E54FC353-2928-4235-BD72-9C3AFD72E0F1}"/>
              </a:ext>
            </a:extLst>
          </p:cNvPr>
          <p:cNvSpPr>
            <a:spLocks noGrp="1"/>
          </p:cNvSpPr>
          <p:nvPr/>
        </p:nvSpPr>
        <p:spPr>
          <a:xfrm>
            <a:off x="1390650" y="2228850"/>
            <a:ext cx="6819900" cy="11430"/>
          </a:xfrm>
          <a:prstGeom prst="rect">
            <a:avLst/>
          </a:prstGeom>
          <a:solidFill>
            <a:srgbClr val="355172"/>
          </a:solidFill>
          <a:ln w="0">
            <a:noFill/>
          </a:ln>
        </p:spPr>
        <p:txBody>
          <a:bodyPr/>
          <a:lstStyle/>
          <a:p>
            <a:endParaRPr lang="en-LT"/>
          </a:p>
        </p:txBody>
      </p:sp>
      <p:sp>
        <p:nvSpPr>
          <p:cNvPr id="26" name="GPT concept 02">
            <a:extLst>
              <a:ext uri="{FF2B5EF4-FFF2-40B4-BE49-F238E27FC236}">
                <a16:creationId xmlns:a16="http://schemas.microsoft.com/office/drawing/2014/main" id="{5A00E6BF-DA90-4EE3-8B83-A2067DC7BA37}"/>
              </a:ext>
            </a:extLst>
          </p:cNvPr>
          <p:cNvSpPr>
            <a:spLocks noGrp="1"/>
          </p:cNvSpPr>
          <p:nvPr/>
        </p:nvSpPr>
        <p:spPr>
          <a:xfrm>
            <a:off x="723900" y="2495550"/>
            <a:ext cx="438150" cy="43815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buNone/>
              <a:defRPr sz="1200" b="1">
                <a:solidFill>
                  <a:srgbClr val="081525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1">
                <a:solidFill>
                  <a:srgbClr val="081525"/>
                </a:solidFill>
                <a:latin typeface="Trebuchet MS"/>
                <a:ea typeface="Trebuchet MS"/>
                <a:cs typeface="Trebuchet MS"/>
              </a:rPr>
              <a:t>02</a:t>
            </a:r>
          </a:p>
        </p:txBody>
      </p:sp>
      <p:sp>
        <p:nvSpPr>
          <p:cNvPr id="27" name="GPT concept 02 heading">
            <a:extLst>
              <a:ext uri="{FF2B5EF4-FFF2-40B4-BE49-F238E27FC236}">
                <a16:creationId xmlns:a16="http://schemas.microsoft.com/office/drawing/2014/main" id="{18FA39DC-A5F2-453D-BA92-293CEC3279D9}"/>
              </a:ext>
            </a:extLst>
          </p:cNvPr>
          <p:cNvSpPr>
            <a:spLocks noGrp="1"/>
          </p:cNvSpPr>
          <p:nvPr/>
        </p:nvSpPr>
        <p:spPr>
          <a:xfrm>
            <a:off x="1390650" y="2352675"/>
            <a:ext cx="68199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650" b="1">
                <a:solidFill>
                  <a:srgbClr val="A78BFA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A78BFA"/>
                </a:solidFill>
                <a:latin typeface="Trebuchet MS"/>
                <a:ea typeface="Trebuchet MS"/>
                <a:cs typeface="Trebuchet MS"/>
              </a:rPr>
              <a:t>Transformers architecture</a:t>
            </a:r>
          </a:p>
        </p:txBody>
      </p:sp>
      <p:sp>
        <p:nvSpPr>
          <p:cNvPr id="28" name="GPT concept 02 explanation">
            <a:extLst>
              <a:ext uri="{FF2B5EF4-FFF2-40B4-BE49-F238E27FC236}">
                <a16:creationId xmlns:a16="http://schemas.microsoft.com/office/drawing/2014/main" id="{B3499E23-7652-452C-95E2-372F7174EA46}"/>
              </a:ext>
            </a:extLst>
          </p:cNvPr>
          <p:cNvSpPr>
            <a:spLocks noGrp="1"/>
          </p:cNvSpPr>
          <p:nvPr/>
        </p:nvSpPr>
        <p:spPr>
          <a:xfrm>
            <a:off x="1390650" y="2695575"/>
            <a:ext cx="68199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>
              <a:buNone/>
              <a:defRPr sz="1350">
                <a:solidFill>
                  <a:srgbClr val="E7EEF8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E7EEF8"/>
                </a:solidFill>
                <a:latin typeface="Calibri"/>
                <a:ea typeface="Calibri"/>
                <a:cs typeface="Calibri"/>
              </a:rPr>
              <a:t>The overall neural-network architecture made of many layers containing attention and other learned transformations.</a:t>
            </a:r>
          </a:p>
        </p:txBody>
      </p:sp>
      <p:sp>
        <p:nvSpPr>
          <p:cNvPr id="29" name="GPT concept divider 2">
            <a:extLst>
              <a:ext uri="{FF2B5EF4-FFF2-40B4-BE49-F238E27FC236}">
                <a16:creationId xmlns:a16="http://schemas.microsoft.com/office/drawing/2014/main" id="{C699F377-6C97-4A3E-98B7-7C69BADAC5AB}"/>
              </a:ext>
            </a:extLst>
          </p:cNvPr>
          <p:cNvSpPr>
            <a:spLocks noGrp="1"/>
          </p:cNvSpPr>
          <p:nvPr/>
        </p:nvSpPr>
        <p:spPr>
          <a:xfrm>
            <a:off x="1390650" y="3228975"/>
            <a:ext cx="6819900" cy="11430"/>
          </a:xfrm>
          <a:prstGeom prst="rect">
            <a:avLst/>
          </a:prstGeom>
          <a:solidFill>
            <a:srgbClr val="355172"/>
          </a:solidFill>
          <a:ln w="0">
            <a:noFill/>
          </a:ln>
        </p:spPr>
        <p:txBody>
          <a:bodyPr/>
          <a:lstStyle/>
          <a:p>
            <a:endParaRPr lang="en-LT"/>
          </a:p>
        </p:txBody>
      </p:sp>
      <p:sp>
        <p:nvSpPr>
          <p:cNvPr id="30" name="GPT concept 03">
            <a:extLst>
              <a:ext uri="{FF2B5EF4-FFF2-40B4-BE49-F238E27FC236}">
                <a16:creationId xmlns:a16="http://schemas.microsoft.com/office/drawing/2014/main" id="{0908B558-B704-45C4-B2DA-7180C7B59014}"/>
              </a:ext>
            </a:extLst>
          </p:cNvPr>
          <p:cNvSpPr>
            <a:spLocks noGrp="1"/>
          </p:cNvSpPr>
          <p:nvPr/>
        </p:nvSpPr>
        <p:spPr>
          <a:xfrm>
            <a:off x="723900" y="3495675"/>
            <a:ext cx="438150" cy="438150"/>
          </a:xfrm>
          <a:prstGeom prst="ellipse">
            <a:avLst/>
          </a:prstGeom>
          <a:solidFill>
            <a:srgbClr val="34D399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buNone/>
              <a:defRPr sz="1200" b="1">
                <a:solidFill>
                  <a:srgbClr val="081525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1">
                <a:solidFill>
                  <a:srgbClr val="081525"/>
                </a:solidFill>
                <a:latin typeface="Trebuchet MS"/>
                <a:ea typeface="Trebuchet MS"/>
                <a:cs typeface="Trebuchet MS"/>
              </a:rPr>
              <a:t>03</a:t>
            </a:r>
          </a:p>
        </p:txBody>
      </p:sp>
      <p:sp>
        <p:nvSpPr>
          <p:cNvPr id="31" name="GPT concept 03 heading">
            <a:extLst>
              <a:ext uri="{FF2B5EF4-FFF2-40B4-BE49-F238E27FC236}">
                <a16:creationId xmlns:a16="http://schemas.microsoft.com/office/drawing/2014/main" id="{272E750C-6BED-44B6-95B1-5A9DDD0B7AFD}"/>
              </a:ext>
            </a:extLst>
          </p:cNvPr>
          <p:cNvSpPr>
            <a:spLocks noGrp="1"/>
          </p:cNvSpPr>
          <p:nvPr/>
        </p:nvSpPr>
        <p:spPr>
          <a:xfrm>
            <a:off x="1390650" y="3352800"/>
            <a:ext cx="68199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650" b="1">
                <a:solidFill>
                  <a:srgbClr val="34D399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34D399"/>
                </a:solidFill>
                <a:latin typeface="Trebuchet MS"/>
                <a:ea typeface="Trebuchet MS"/>
                <a:cs typeface="Trebuchet MS"/>
              </a:rPr>
              <a:t>GPT is an autoregressive LLM</a:t>
            </a:r>
          </a:p>
        </p:txBody>
      </p:sp>
      <p:sp>
        <p:nvSpPr>
          <p:cNvPr id="32" name="GPT concept 03 explanation">
            <a:extLst>
              <a:ext uri="{FF2B5EF4-FFF2-40B4-BE49-F238E27FC236}">
                <a16:creationId xmlns:a16="http://schemas.microsoft.com/office/drawing/2014/main" id="{5D1150BD-552C-4199-A5CE-32B67BF3577A}"/>
              </a:ext>
            </a:extLst>
          </p:cNvPr>
          <p:cNvSpPr>
            <a:spLocks noGrp="1"/>
          </p:cNvSpPr>
          <p:nvPr/>
        </p:nvSpPr>
        <p:spPr>
          <a:xfrm>
            <a:off x="1390650" y="3695700"/>
            <a:ext cx="68199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>
              <a:buNone/>
              <a:defRPr sz="1350">
                <a:solidFill>
                  <a:srgbClr val="E7EEF8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E7EEF8"/>
                </a:solidFill>
                <a:latin typeface="Calibri"/>
                <a:ea typeface="Calibri"/>
                <a:cs typeface="Calibri"/>
              </a:rPr>
              <a:t>Predicts the next token from previous tokens, then repeats.</a:t>
            </a:r>
          </a:p>
        </p:txBody>
      </p:sp>
    </p:spTree>
    <p:extLst>
      <p:ext uri="{BB962C8B-B14F-4D97-AF65-F5344CB8AC3E}">
        <p14:creationId xmlns:p14="http://schemas.microsoft.com/office/powerpoint/2010/main" val="2297026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1FBD4BA-18C2-2D82-859D-7B74235CEE4B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Context Window</a:t>
            </a:r>
            <a:endParaRPr sz="3000"/>
          </a:p>
        </p:txBody>
      </p:sp>
      <p:sp>
        <p:nvSpPr>
          <p:cNvPr id="24" name="Shape 1">
            <a:extLst>
              <a:ext uri="{FF2B5EF4-FFF2-40B4-BE49-F238E27FC236}">
                <a16:creationId xmlns:a16="http://schemas.microsoft.com/office/drawing/2014/main" id="{EE381C45-3904-C687-6F02-1F2C5A30A75E}"/>
              </a:ext>
            </a:extLst>
          </p:cNvPr>
          <p:cNvSpPr>
            <a:spLocks noGrp="1"/>
          </p:cNvSpPr>
          <p:nvPr/>
        </p:nvSpPr>
        <p:spPr>
          <a:xfrm>
            <a:off x="457200" y="1119857"/>
            <a:ext cx="8229600" cy="1073085"/>
          </a:xfrm>
          <a:prstGeom prst="roundRect">
            <a:avLst>
              <a:gd name="adj" fmla="val 9091"/>
            </a:avLst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F88830B5-DC18-20B4-F074-23FFD1F823F5}"/>
              </a:ext>
            </a:extLst>
          </p:cNvPr>
          <p:cNvSpPr>
            <a:spLocks noGrp="1"/>
          </p:cNvSpPr>
          <p:nvPr/>
        </p:nvSpPr>
        <p:spPr>
          <a:xfrm>
            <a:off x="457200" y="1119857"/>
            <a:ext cx="73152" cy="107308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176C3159-08E0-0059-F29B-A776B8FB2518}"/>
              </a:ext>
            </a:extLst>
          </p:cNvPr>
          <p:cNvSpPr>
            <a:spLocks noGrp="1"/>
          </p:cNvSpPr>
          <p:nvPr/>
        </p:nvSpPr>
        <p:spPr>
          <a:xfrm>
            <a:off x="614713" y="1193008"/>
            <a:ext cx="7223760" cy="926781"/>
          </a:xfrm>
          <a:prstGeom prst="rect">
            <a:avLst/>
          </a:prstGeom>
          <a:noFill/>
        </p:spPr>
        <p:txBody>
          <a:bodyPr wrap="square" anchor="ctr"/>
          <a:lstStyle/>
          <a:p>
            <a:pPr marL="285750" indent="-285750">
              <a:spcAft>
                <a:spcPts val="300"/>
              </a:spcAft>
              <a:buSzPct val="100000"/>
              <a:buFont typeface="Arial"/>
              <a:buChar char="•"/>
            </a:pPr>
            <a:r>
              <a:rPr sz="14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A context window is the token limit for one model request.</a:t>
            </a:r>
          </a:p>
          <a:p>
            <a:pPr marL="285750" indent="-285750">
              <a:spcAft>
                <a:spcPts val="300"/>
              </a:spcAft>
              <a:buSzPct val="100000"/>
              <a:buFont typeface="Arial"/>
              <a:buChar char="•"/>
            </a:pPr>
            <a:r>
              <a:rPr sz="14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It includes instructions, messages, tool definitions, documents, and generated output.</a:t>
            </a:r>
          </a:p>
          <a:p>
            <a:pPr marL="285750" indent="-285750">
              <a:spcAft>
                <a:spcPts val="300"/>
              </a:spcAft>
              <a:buSzPct val="100000"/>
              <a:buFont typeface="Arial"/>
              <a:buChar char="•"/>
            </a:pPr>
            <a:r>
              <a:rPr sz="14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When content exceeds the limit, the application must shorten it, split it, or reject the request.</a:t>
            </a:r>
            <a:endParaRPr sz="1400"/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68BF9F54-E645-271D-0570-9EA2281E4A10}"/>
              </a:ext>
            </a:extLst>
          </p:cNvPr>
          <p:cNvSpPr>
            <a:spLocks noGrp="1"/>
          </p:cNvSpPr>
          <p:nvPr/>
        </p:nvSpPr>
        <p:spPr>
          <a:xfrm>
            <a:off x="530352" y="2781677"/>
            <a:ext cx="1369859" cy="877908"/>
          </a:xfrm>
          <a:prstGeom prst="roundRect">
            <a:avLst>
              <a:gd name="adj" fmla="val 23810"/>
            </a:avLst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E48A096E-4596-510E-6D96-835A1BF667BE}"/>
              </a:ext>
            </a:extLst>
          </p:cNvPr>
          <p:cNvSpPr>
            <a:spLocks noGrp="1"/>
          </p:cNvSpPr>
          <p:nvPr/>
        </p:nvSpPr>
        <p:spPr>
          <a:xfrm>
            <a:off x="530352" y="2781677"/>
            <a:ext cx="1369859" cy="8779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sz="1200" b="1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System prompt</a:t>
            </a:r>
            <a:endParaRPr sz="120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23BD8049-52F7-C36C-D6F6-B113E68EF9F7}"/>
              </a:ext>
            </a:extLst>
          </p:cNvPr>
          <p:cNvSpPr>
            <a:spLocks noGrp="1"/>
          </p:cNvSpPr>
          <p:nvPr/>
        </p:nvSpPr>
        <p:spPr>
          <a:xfrm>
            <a:off x="2175506" y="2781677"/>
            <a:ext cx="1369859" cy="877908"/>
          </a:xfrm>
          <a:prstGeom prst="roundRect">
            <a:avLst>
              <a:gd name="adj" fmla="val 23810"/>
            </a:avLst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DDE4C273-C680-491B-0C3F-D97E3A291724}"/>
              </a:ext>
            </a:extLst>
          </p:cNvPr>
          <p:cNvSpPr>
            <a:spLocks noGrp="1"/>
          </p:cNvSpPr>
          <p:nvPr/>
        </p:nvSpPr>
        <p:spPr>
          <a:xfrm>
            <a:off x="2175506" y="2781677"/>
            <a:ext cx="1369859" cy="8779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sz="1200" b="1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Current prompt</a:t>
            </a:r>
            <a:endParaRPr sz="1200"/>
          </a:p>
        </p:txBody>
      </p:sp>
      <p:sp>
        <p:nvSpPr>
          <p:cNvPr id="34" name="Shape 2">
            <a:extLst>
              <a:ext uri="{FF2B5EF4-FFF2-40B4-BE49-F238E27FC236}">
                <a16:creationId xmlns:a16="http://schemas.microsoft.com/office/drawing/2014/main" id="{60B6E3BF-430A-37DC-786E-B360D8926D39}"/>
              </a:ext>
            </a:extLst>
          </p:cNvPr>
          <p:cNvSpPr>
            <a:spLocks noGrp="1"/>
          </p:cNvSpPr>
          <p:nvPr/>
        </p:nvSpPr>
        <p:spPr>
          <a:xfrm>
            <a:off x="3834852" y="2781677"/>
            <a:ext cx="1369859" cy="877908"/>
          </a:xfrm>
          <a:prstGeom prst="roundRect">
            <a:avLst>
              <a:gd name="adj" fmla="val 23810"/>
            </a:avLst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D2269CD3-2599-CF43-8ED7-4F4F7F10B32E}"/>
              </a:ext>
            </a:extLst>
          </p:cNvPr>
          <p:cNvSpPr>
            <a:spLocks noGrp="1"/>
          </p:cNvSpPr>
          <p:nvPr/>
        </p:nvSpPr>
        <p:spPr>
          <a:xfrm>
            <a:off x="3834852" y="2781677"/>
            <a:ext cx="1369859" cy="8779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sz="1200" b="1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Previous chat messages</a:t>
            </a:r>
            <a:endParaRPr sz="1200"/>
          </a:p>
        </p:txBody>
      </p:sp>
      <p:sp>
        <p:nvSpPr>
          <p:cNvPr id="36" name="Shape 2">
            <a:extLst>
              <a:ext uri="{FF2B5EF4-FFF2-40B4-BE49-F238E27FC236}">
                <a16:creationId xmlns:a16="http://schemas.microsoft.com/office/drawing/2014/main" id="{6D3EA049-06B3-FA75-B299-EACCB55A2013}"/>
              </a:ext>
            </a:extLst>
          </p:cNvPr>
          <p:cNvSpPr>
            <a:spLocks noGrp="1"/>
          </p:cNvSpPr>
          <p:nvPr/>
        </p:nvSpPr>
        <p:spPr>
          <a:xfrm>
            <a:off x="5494198" y="2781677"/>
            <a:ext cx="1369859" cy="877908"/>
          </a:xfrm>
          <a:prstGeom prst="roundRect">
            <a:avLst>
              <a:gd name="adj" fmla="val 23810"/>
            </a:avLst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">
            <a:extLst>
              <a:ext uri="{FF2B5EF4-FFF2-40B4-BE49-F238E27FC236}">
                <a16:creationId xmlns:a16="http://schemas.microsoft.com/office/drawing/2014/main" id="{1BDEAA18-5181-3B98-A305-CB4AF4B845E8}"/>
              </a:ext>
            </a:extLst>
          </p:cNvPr>
          <p:cNvSpPr>
            <a:spLocks noGrp="1"/>
          </p:cNvSpPr>
          <p:nvPr/>
        </p:nvSpPr>
        <p:spPr>
          <a:xfrm>
            <a:off x="5494198" y="2781677"/>
            <a:ext cx="1369859" cy="8779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sz="1200" b="1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Documents you provided</a:t>
            </a:r>
            <a:endParaRPr sz="1200"/>
          </a:p>
        </p:txBody>
      </p:sp>
      <p:sp>
        <p:nvSpPr>
          <p:cNvPr id="38" name="Shape 2">
            <a:extLst>
              <a:ext uri="{FF2B5EF4-FFF2-40B4-BE49-F238E27FC236}">
                <a16:creationId xmlns:a16="http://schemas.microsoft.com/office/drawing/2014/main" id="{A57181BA-200C-AC0A-4712-984485D705D4}"/>
              </a:ext>
            </a:extLst>
          </p:cNvPr>
          <p:cNvSpPr>
            <a:spLocks noGrp="1"/>
          </p:cNvSpPr>
          <p:nvPr/>
        </p:nvSpPr>
        <p:spPr>
          <a:xfrm>
            <a:off x="7153544" y="2781677"/>
            <a:ext cx="1369859" cy="877908"/>
          </a:xfrm>
          <a:prstGeom prst="roundRect">
            <a:avLst>
              <a:gd name="adj" fmla="val 23810"/>
            </a:avLst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">
            <a:extLst>
              <a:ext uri="{FF2B5EF4-FFF2-40B4-BE49-F238E27FC236}">
                <a16:creationId xmlns:a16="http://schemas.microsoft.com/office/drawing/2014/main" id="{5B6B0778-4D36-1037-1F2F-A98730A638F6}"/>
              </a:ext>
            </a:extLst>
          </p:cNvPr>
          <p:cNvSpPr>
            <a:spLocks noGrp="1"/>
          </p:cNvSpPr>
          <p:nvPr/>
        </p:nvSpPr>
        <p:spPr>
          <a:xfrm>
            <a:off x="7153544" y="2781677"/>
            <a:ext cx="1369859" cy="8779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sz="1200" b="1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Generated text</a:t>
            </a:r>
            <a:endParaRPr sz="1200"/>
          </a:p>
        </p:txBody>
      </p:sp>
      <p:sp>
        <p:nvSpPr>
          <p:cNvPr id="40" name="Shape 1">
            <a:extLst>
              <a:ext uri="{FF2B5EF4-FFF2-40B4-BE49-F238E27FC236}">
                <a16:creationId xmlns:a16="http://schemas.microsoft.com/office/drawing/2014/main" id="{FF8E0BC0-3218-D9C9-18CF-6085F750B203}"/>
              </a:ext>
            </a:extLst>
          </p:cNvPr>
          <p:cNvSpPr>
            <a:spLocks noGrp="1"/>
          </p:cNvSpPr>
          <p:nvPr/>
        </p:nvSpPr>
        <p:spPr>
          <a:xfrm>
            <a:off x="420786" y="4080841"/>
            <a:ext cx="8229600" cy="715187"/>
          </a:xfrm>
          <a:prstGeom prst="roundRect">
            <a:avLst>
              <a:gd name="adj" fmla="val 9091"/>
            </a:avLst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" name="Shape 2">
            <a:extLst>
              <a:ext uri="{FF2B5EF4-FFF2-40B4-BE49-F238E27FC236}">
                <a16:creationId xmlns:a16="http://schemas.microsoft.com/office/drawing/2014/main" id="{4EC928DC-90EA-BA72-6E58-60A8ECDE79FC}"/>
              </a:ext>
            </a:extLst>
          </p:cNvPr>
          <p:cNvSpPr>
            <a:spLocks noGrp="1"/>
          </p:cNvSpPr>
          <p:nvPr/>
        </p:nvSpPr>
        <p:spPr>
          <a:xfrm>
            <a:off x="420786" y="4080841"/>
            <a:ext cx="72828" cy="715187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1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666" y="4223569"/>
            <a:ext cx="457200" cy="450984"/>
          </a:xfrm>
          <a:prstGeom prst="rect">
            <a:avLst/>
          </a:prstGeom>
        </p:spPr>
      </p:pic>
      <p:sp>
        <p:nvSpPr>
          <p:cNvPr id="43" name="Text 4">
            <a:extLst>
              <a:ext uri="{FF2B5EF4-FFF2-40B4-BE49-F238E27FC236}">
                <a16:creationId xmlns:a16="http://schemas.microsoft.com/office/drawing/2014/main" id="{80E36153-51C6-A876-F88C-8E38D7A595B6}"/>
              </a:ext>
            </a:extLst>
          </p:cNvPr>
          <p:cNvSpPr>
            <a:spLocks noGrp="1"/>
          </p:cNvSpPr>
          <p:nvPr/>
        </p:nvSpPr>
        <p:spPr>
          <a:xfrm>
            <a:off x="1170594" y="4080841"/>
            <a:ext cx="7223760" cy="715188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spcAft>
                <a:spcPts val="300"/>
              </a:spcAft>
              <a:buSzPct val="100000"/>
              <a:buNone/>
            </a:pPr>
            <a:r>
              <a:rPr sz="14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Long chats do not guarantee full recall. The application decides which earlier information to send again.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003566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E2860C9-1B43-F01A-256C-42037B9902BC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Three Consequences Worth Knowing</a:t>
            </a:r>
            <a:endParaRPr sz="30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BC6D20C-520A-9D65-7F7B-51ADEA4F6451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4BC8C33-D022-7266-6403-8E356AF28C67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73152" cy="10058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457200" cy="45720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3F0B3284-0DCB-7E5C-1988-55296974DAD1}"/>
              </a:ext>
            </a:extLst>
          </p:cNvPr>
          <p:cNvSpPr>
            <a:spLocks noGrp="1"/>
          </p:cNvSpPr>
          <p:nvPr/>
        </p:nvSpPr>
        <p:spPr>
          <a:xfrm>
            <a:off x="1234440" y="1261872"/>
            <a:ext cx="32004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>
                <a:solidFill>
                  <a:srgbClr val="F87171"/>
                </a:solidFill>
                <a:latin typeface="Trebuchet MS"/>
                <a:ea typeface="Trebuchet MS"/>
                <a:cs typeface="Trebuchet MS"/>
              </a:rPr>
              <a:t>Hallucination</a:t>
            </a:r>
            <a:endParaRPr sz="17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5EA7C3E-041B-599C-E9E4-B149975F5421}"/>
              </a:ext>
            </a:extLst>
          </p:cNvPr>
          <p:cNvSpPr>
            <a:spLocks noGrp="1"/>
          </p:cNvSpPr>
          <p:nvPr/>
        </p:nvSpPr>
        <p:spPr>
          <a:xfrm>
            <a:off x="1234440" y="1627632"/>
            <a:ext cx="7223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It produces fluent text. Fluency and correctness are not the same thing.</a:t>
            </a:r>
            <a:endParaRPr sz="13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00AD8328-8411-59A1-185A-475A7C11B326}"/>
              </a:ext>
            </a:extLst>
          </p:cNvPr>
          <p:cNvSpPr>
            <a:spLocks noGrp="1"/>
          </p:cNvSpPr>
          <p:nvPr/>
        </p:nvSpPr>
        <p:spPr>
          <a:xfrm>
            <a:off x="457200" y="23774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016B2F42-2887-3E8C-519D-B8544A3BA2B4}"/>
              </a:ext>
            </a:extLst>
          </p:cNvPr>
          <p:cNvSpPr>
            <a:spLocks noGrp="1"/>
          </p:cNvSpPr>
          <p:nvPr/>
        </p:nvSpPr>
        <p:spPr>
          <a:xfrm>
            <a:off x="457200" y="2377440"/>
            <a:ext cx="73152" cy="10058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9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651760"/>
            <a:ext cx="457200" cy="457200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7699F1F2-208D-22D5-F5AD-304951CBE8B0}"/>
              </a:ext>
            </a:extLst>
          </p:cNvPr>
          <p:cNvSpPr>
            <a:spLocks noGrp="1"/>
          </p:cNvSpPr>
          <p:nvPr/>
        </p:nvSpPr>
        <p:spPr>
          <a:xfrm>
            <a:off x="1234440" y="2450592"/>
            <a:ext cx="32004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>
                <a:solidFill>
                  <a:srgbClr val="34D399"/>
                </a:solidFill>
                <a:latin typeface="Trebuchet MS"/>
                <a:ea typeface="Trebuchet MS"/>
                <a:cs typeface="Trebuchet MS"/>
              </a:rPr>
              <a:t>Prompting works</a:t>
            </a:r>
            <a:endParaRPr sz="17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5F1585E-0D97-A970-5F24-09C841E7B0DE}"/>
              </a:ext>
            </a:extLst>
          </p:cNvPr>
          <p:cNvSpPr>
            <a:spLocks noGrp="1"/>
          </p:cNvSpPr>
          <p:nvPr/>
        </p:nvSpPr>
        <p:spPr>
          <a:xfrm>
            <a:off x="1234440" y="2816352"/>
            <a:ext cx="7223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You're not configuring software. You're shaping the context the model continues.</a:t>
            </a:r>
            <a:endParaRPr sz="130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19EA0383-E80E-5E36-7148-97B6D9AEB9B8}"/>
              </a:ext>
            </a:extLst>
          </p:cNvPr>
          <p:cNvSpPr>
            <a:spLocks noGrp="1"/>
          </p:cNvSpPr>
          <p:nvPr/>
        </p:nvSpPr>
        <p:spPr>
          <a:xfrm>
            <a:off x="457200" y="356616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C8F47FCB-5DBA-C83F-3537-ED5B474CD7C7}"/>
              </a:ext>
            </a:extLst>
          </p:cNvPr>
          <p:cNvSpPr>
            <a:spLocks noGrp="1"/>
          </p:cNvSpPr>
          <p:nvPr/>
        </p:nvSpPr>
        <p:spPr>
          <a:xfrm>
            <a:off x="457200" y="3566160"/>
            <a:ext cx="73152" cy="10058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4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40480"/>
            <a:ext cx="457200" cy="457200"/>
          </a:xfrm>
          <a:prstGeom prst="rect">
            <a:avLst/>
          </a:prstGeom>
        </p:spPr>
      </p:pic>
      <p:sp>
        <p:nvSpPr>
          <p:cNvPr id="16" name="Text 11">
            <a:extLst>
              <a:ext uri="{FF2B5EF4-FFF2-40B4-BE49-F238E27FC236}">
                <a16:creationId xmlns:a16="http://schemas.microsoft.com/office/drawing/2014/main" id="{CBF4A99D-FE1B-CF3F-9D66-93125538A63B}"/>
              </a:ext>
            </a:extLst>
          </p:cNvPr>
          <p:cNvSpPr>
            <a:spLocks noGrp="1"/>
          </p:cNvSpPr>
          <p:nvPr/>
        </p:nvSpPr>
        <p:spPr>
          <a:xfrm>
            <a:off x="1234440" y="3639312"/>
            <a:ext cx="32004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>
                <a:solidFill>
                  <a:srgbClr val="FBBF24"/>
                </a:solidFill>
                <a:latin typeface="Trebuchet MS"/>
                <a:ea typeface="Trebuchet MS"/>
                <a:cs typeface="Trebuchet MS"/>
              </a:rPr>
              <a:t>No memory by default</a:t>
            </a:r>
            <a:endParaRPr sz="170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1951962B-7296-4570-D723-F015357A069B}"/>
              </a:ext>
            </a:extLst>
          </p:cNvPr>
          <p:cNvSpPr>
            <a:spLocks noGrp="1"/>
          </p:cNvSpPr>
          <p:nvPr/>
        </p:nvSpPr>
        <p:spPr>
          <a:xfrm>
            <a:off x="1234440" y="4005072"/>
            <a:ext cx="7223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Each call starts fresh. It only knows what's in the current context window.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2863781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755D143-A45C-4AD2-84F0-F7A08785C1D1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How Precision Changes Model Size</a:t>
            </a:r>
            <a:endParaRPr sz="3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1729278-C30C-4A15-B698-B5E1B5828652}"/>
              </a:ext>
            </a:extLst>
          </p:cNvPr>
          <p:cNvSpPr>
            <a:spLocks noGrp="1"/>
          </p:cNvSpPr>
          <p:nvPr/>
        </p:nvSpPr>
        <p:spPr>
          <a:xfrm>
            <a:off x="502920" y="1005840"/>
            <a:ext cx="8229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Same 8 BILLION learned weights</a:t>
            </a:r>
            <a:endParaRPr sz="13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DD799A7-3A80-4BA6-934D-3A19E06280ED}"/>
              </a:ext>
            </a:extLst>
          </p:cNvPr>
          <p:cNvSpPr>
            <a:spLocks noGrp="1"/>
          </p:cNvSpPr>
          <p:nvPr/>
        </p:nvSpPr>
        <p:spPr>
          <a:xfrm>
            <a:off x="538178" y="1463040"/>
            <a:ext cx="1779161" cy="3108960"/>
          </a:xfrm>
          <a:prstGeom prst="roundRect">
            <a:avLst>
              <a:gd name="adj" fmla="val 3448"/>
            </a:avLst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7ACFFAA-715E-4A82-909F-8FABA70EA0D0}"/>
              </a:ext>
            </a:extLst>
          </p:cNvPr>
          <p:cNvSpPr>
            <a:spLocks noGrp="1"/>
          </p:cNvSpPr>
          <p:nvPr/>
        </p:nvSpPr>
        <p:spPr>
          <a:xfrm>
            <a:off x="538178" y="1463040"/>
            <a:ext cx="1779161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BB36386-AA5B-45B3-BCC3-7F4161EF6064}"/>
              </a:ext>
            </a:extLst>
          </p:cNvPr>
          <p:cNvSpPr>
            <a:spLocks noGrp="1"/>
          </p:cNvSpPr>
          <p:nvPr/>
        </p:nvSpPr>
        <p:spPr>
          <a:xfrm>
            <a:off x="538178" y="1572768"/>
            <a:ext cx="1779161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endParaRPr sz="13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CBCB66E-2CAF-446C-85BA-2C82183506F0}"/>
              </a:ext>
            </a:extLst>
          </p:cNvPr>
          <p:cNvSpPr>
            <a:spLocks noGrp="1"/>
          </p:cNvSpPr>
          <p:nvPr/>
        </p:nvSpPr>
        <p:spPr>
          <a:xfrm>
            <a:off x="538178" y="1965960"/>
            <a:ext cx="1779161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5600" b="1">
                <a:solidFill>
                  <a:srgbClr val="38BDF8"/>
                </a:solidFill>
                <a:latin typeface="Trebuchet MS"/>
                <a:ea typeface="Trebuchet MS"/>
                <a:cs typeface="Trebuchet MS"/>
              </a:rPr>
              <a:t>FP32</a:t>
            </a:r>
            <a:endParaRPr sz="56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0455A99-8A6D-41CE-A977-700A4CB2E2CE}"/>
              </a:ext>
            </a:extLst>
          </p:cNvPr>
          <p:cNvSpPr>
            <a:spLocks noGrp="1"/>
          </p:cNvSpPr>
          <p:nvPr/>
        </p:nvSpPr>
        <p:spPr>
          <a:xfrm>
            <a:off x="538178" y="2880360"/>
            <a:ext cx="1779161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4 bytes / weight</a:t>
            </a:r>
            <a:endParaRPr sz="12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7DF59CA-40A9-4136-9F7D-E991B845719A}"/>
              </a:ext>
            </a:extLst>
          </p:cNvPr>
          <p:cNvSpPr>
            <a:spLocks noGrp="1"/>
          </p:cNvSpPr>
          <p:nvPr/>
        </p:nvSpPr>
        <p:spPr>
          <a:xfrm>
            <a:off x="538178" y="3218688"/>
            <a:ext cx="1779161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4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~32 GB</a:t>
            </a:r>
            <a:endParaRPr sz="24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A391AD9-0FFE-4334-8237-861A4B8B1C50}"/>
              </a:ext>
            </a:extLst>
          </p:cNvPr>
          <p:cNvSpPr>
            <a:spLocks noGrp="1"/>
          </p:cNvSpPr>
          <p:nvPr/>
        </p:nvSpPr>
        <p:spPr>
          <a:xfrm>
            <a:off x="2676573" y="1463040"/>
            <a:ext cx="1779161" cy="3108960"/>
          </a:xfrm>
          <a:prstGeom prst="roundRect">
            <a:avLst>
              <a:gd name="adj" fmla="val 3448"/>
            </a:avLst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131F3EC-6D63-4BFF-8213-18045F0513F2}"/>
              </a:ext>
            </a:extLst>
          </p:cNvPr>
          <p:cNvSpPr>
            <a:spLocks noGrp="1"/>
          </p:cNvSpPr>
          <p:nvPr/>
        </p:nvSpPr>
        <p:spPr>
          <a:xfrm>
            <a:off x="2676573" y="1463040"/>
            <a:ext cx="1779161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27228A8-8B3E-4642-8F7D-8F91B23DB5C2}"/>
              </a:ext>
            </a:extLst>
          </p:cNvPr>
          <p:cNvSpPr>
            <a:spLocks noGrp="1"/>
          </p:cNvSpPr>
          <p:nvPr/>
        </p:nvSpPr>
        <p:spPr>
          <a:xfrm>
            <a:off x="2676573" y="1572768"/>
            <a:ext cx="1779161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endParaRPr sz="13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1C8A0BD-0443-4C95-BF6D-D5C86EE3DC0D}"/>
              </a:ext>
            </a:extLst>
          </p:cNvPr>
          <p:cNvSpPr>
            <a:spLocks noGrp="1"/>
          </p:cNvSpPr>
          <p:nvPr/>
        </p:nvSpPr>
        <p:spPr>
          <a:xfrm>
            <a:off x="2676573" y="1965960"/>
            <a:ext cx="1779161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5600" b="1">
                <a:solidFill>
                  <a:srgbClr val="34D399"/>
                </a:solidFill>
                <a:latin typeface="Trebuchet MS"/>
                <a:ea typeface="Trebuchet MS"/>
                <a:cs typeface="Trebuchet MS"/>
              </a:rPr>
              <a:t>FP16</a:t>
            </a:r>
            <a:endParaRPr sz="56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E226907-3EEA-4860-B7DB-65591C5243E2}"/>
              </a:ext>
            </a:extLst>
          </p:cNvPr>
          <p:cNvSpPr>
            <a:spLocks noGrp="1"/>
          </p:cNvSpPr>
          <p:nvPr/>
        </p:nvSpPr>
        <p:spPr>
          <a:xfrm>
            <a:off x="2676573" y="2880360"/>
            <a:ext cx="1779161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2 bytes / weight</a:t>
            </a:r>
            <a:endParaRPr sz="12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A0259DF-4E53-4314-BD3E-59521EE0C8D4}"/>
              </a:ext>
            </a:extLst>
          </p:cNvPr>
          <p:cNvSpPr>
            <a:spLocks noGrp="1"/>
          </p:cNvSpPr>
          <p:nvPr/>
        </p:nvSpPr>
        <p:spPr>
          <a:xfrm>
            <a:off x="2676573" y="3218688"/>
            <a:ext cx="1779161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4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~16 GB</a:t>
            </a:r>
            <a:endParaRPr sz="24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20A7CAB-26E2-4DEF-ABC9-1F5D1DA6965A}"/>
              </a:ext>
            </a:extLst>
          </p:cNvPr>
          <p:cNvSpPr>
            <a:spLocks noGrp="1"/>
          </p:cNvSpPr>
          <p:nvPr/>
        </p:nvSpPr>
        <p:spPr>
          <a:xfrm>
            <a:off x="4814966" y="1463040"/>
            <a:ext cx="1779161" cy="3108960"/>
          </a:xfrm>
          <a:prstGeom prst="roundRect">
            <a:avLst>
              <a:gd name="adj" fmla="val 3448"/>
            </a:avLst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97E807A-B18F-443C-96FA-B0BFCC088722}"/>
              </a:ext>
            </a:extLst>
          </p:cNvPr>
          <p:cNvSpPr>
            <a:spLocks noGrp="1"/>
          </p:cNvSpPr>
          <p:nvPr/>
        </p:nvSpPr>
        <p:spPr>
          <a:xfrm>
            <a:off x="4814966" y="1463040"/>
            <a:ext cx="1779161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B172A64-BE61-4D3F-B442-C433E9250E52}"/>
              </a:ext>
            </a:extLst>
          </p:cNvPr>
          <p:cNvSpPr>
            <a:spLocks noGrp="1"/>
          </p:cNvSpPr>
          <p:nvPr/>
        </p:nvSpPr>
        <p:spPr>
          <a:xfrm>
            <a:off x="4814966" y="1572768"/>
            <a:ext cx="1779161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endParaRPr sz="13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6514C73-308E-4098-8A50-70847E0A9A8C}"/>
              </a:ext>
            </a:extLst>
          </p:cNvPr>
          <p:cNvSpPr>
            <a:spLocks noGrp="1"/>
          </p:cNvSpPr>
          <p:nvPr/>
        </p:nvSpPr>
        <p:spPr>
          <a:xfrm>
            <a:off x="4814966" y="1965960"/>
            <a:ext cx="1779161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5600" b="1">
                <a:solidFill>
                  <a:srgbClr val="FBBF24"/>
                </a:solidFill>
                <a:latin typeface="Trebuchet MS"/>
                <a:ea typeface="Trebuchet MS"/>
                <a:cs typeface="Trebuchet MS"/>
              </a:rPr>
              <a:t>INT8</a:t>
            </a:r>
            <a:endParaRPr sz="56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382A40E-0BE7-477F-8CAD-FE03B124F0A3}"/>
              </a:ext>
            </a:extLst>
          </p:cNvPr>
          <p:cNvSpPr>
            <a:spLocks noGrp="1"/>
          </p:cNvSpPr>
          <p:nvPr/>
        </p:nvSpPr>
        <p:spPr>
          <a:xfrm>
            <a:off x="4814966" y="2880360"/>
            <a:ext cx="1779161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1 byte / weight</a:t>
            </a:r>
            <a:endParaRPr sz="12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5F75CBC-EC19-4A27-80A3-8123D804CBD9}"/>
              </a:ext>
            </a:extLst>
          </p:cNvPr>
          <p:cNvSpPr>
            <a:spLocks noGrp="1"/>
          </p:cNvSpPr>
          <p:nvPr/>
        </p:nvSpPr>
        <p:spPr>
          <a:xfrm>
            <a:off x="4814966" y="3218688"/>
            <a:ext cx="1779161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4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~8 GB</a:t>
            </a:r>
            <a:endParaRPr sz="2400"/>
          </a:p>
        </p:txBody>
      </p:sp>
      <p:sp>
        <p:nvSpPr>
          <p:cNvPr id="26" name="Shape 16">
            <a:extLst>
              <a:ext uri="{FF2B5EF4-FFF2-40B4-BE49-F238E27FC236}">
                <a16:creationId xmlns:a16="http://schemas.microsoft.com/office/drawing/2014/main" id="{786B563B-5E3F-138D-8C8E-B4F7854C57D0}"/>
              </a:ext>
            </a:extLst>
          </p:cNvPr>
          <p:cNvSpPr>
            <a:spLocks noGrp="1"/>
          </p:cNvSpPr>
          <p:nvPr/>
        </p:nvSpPr>
        <p:spPr>
          <a:xfrm>
            <a:off x="6953359" y="1463040"/>
            <a:ext cx="1779161" cy="3108960"/>
          </a:xfrm>
          <a:prstGeom prst="roundRect">
            <a:avLst>
              <a:gd name="adj" fmla="val 3448"/>
            </a:avLst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7">
            <a:extLst>
              <a:ext uri="{FF2B5EF4-FFF2-40B4-BE49-F238E27FC236}">
                <a16:creationId xmlns:a16="http://schemas.microsoft.com/office/drawing/2014/main" id="{1C3C5897-31CF-2582-AE99-AED00EC100DE}"/>
              </a:ext>
            </a:extLst>
          </p:cNvPr>
          <p:cNvSpPr>
            <a:spLocks noGrp="1"/>
          </p:cNvSpPr>
          <p:nvPr/>
        </p:nvSpPr>
        <p:spPr>
          <a:xfrm>
            <a:off x="6953359" y="1463040"/>
            <a:ext cx="1779161" cy="6400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872851E3-7C7E-66BB-381D-46CD61D050B9}"/>
              </a:ext>
            </a:extLst>
          </p:cNvPr>
          <p:cNvSpPr>
            <a:spLocks noGrp="1"/>
          </p:cNvSpPr>
          <p:nvPr/>
        </p:nvSpPr>
        <p:spPr>
          <a:xfrm>
            <a:off x="6953359" y="1965960"/>
            <a:ext cx="1779161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5600" b="1">
                <a:solidFill>
                  <a:schemeClr val="accent2"/>
                </a:solidFill>
                <a:latin typeface="Trebuchet MS"/>
                <a:ea typeface="Trebuchet MS"/>
                <a:cs typeface="Trebuchet MS"/>
              </a:rPr>
              <a:t>INT4</a:t>
            </a:r>
            <a:endParaRPr sz="5600">
              <a:solidFill>
                <a:schemeClr val="accent2"/>
              </a:solidFill>
            </a:endParaRPr>
          </a:p>
        </p:txBody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404335F3-B19C-0CDF-E27E-3E4CB29801D1}"/>
              </a:ext>
            </a:extLst>
          </p:cNvPr>
          <p:cNvSpPr>
            <a:spLocks noGrp="1"/>
          </p:cNvSpPr>
          <p:nvPr/>
        </p:nvSpPr>
        <p:spPr>
          <a:xfrm>
            <a:off x="6953359" y="2880360"/>
            <a:ext cx="1779161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0.5 byte / weight</a:t>
            </a:r>
            <a:endParaRPr sz="1200"/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537551F9-5A00-6475-1960-49166C64DB6D}"/>
              </a:ext>
            </a:extLst>
          </p:cNvPr>
          <p:cNvSpPr>
            <a:spLocks noGrp="1"/>
          </p:cNvSpPr>
          <p:nvPr/>
        </p:nvSpPr>
        <p:spPr>
          <a:xfrm>
            <a:off x="6953359" y="3218688"/>
            <a:ext cx="1779161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4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~4 GB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661763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2354FCF-30D6-45C4-B11A-7E7E955119F7}"/>
              </a:ext>
            </a:extLst>
          </p:cNvPr>
          <p:cNvSpPr>
            <a:spLocks noGrp="1"/>
          </p:cNvSpPr>
          <p:nvPr/>
        </p:nvSpPr>
        <p:spPr>
          <a:xfrm>
            <a:off x="3474720" y="182880"/>
            <a:ext cx="5486400" cy="4572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 algn="r">
              <a:buNone/>
            </a:pPr>
            <a:r>
              <a:rPr sz="23000" b="1">
                <a:solidFill>
                  <a:srgbClr val="0B1E34"/>
                </a:solidFill>
                <a:latin typeface="Trebuchet MS"/>
                <a:ea typeface="Trebuchet MS"/>
                <a:cs typeface="Trebuchet MS"/>
              </a:rPr>
              <a:t>02</a:t>
            </a:r>
            <a:endParaRPr sz="230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A612CE2-4CF2-4903-859F-738C9C286A4B}"/>
              </a:ext>
            </a:extLst>
          </p:cNvPr>
          <p:cNvSpPr>
            <a:spLocks noGrp="1"/>
          </p:cNvSpPr>
          <p:nvPr/>
        </p:nvSpPr>
        <p:spPr>
          <a:xfrm>
            <a:off x="502920" y="64008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0A2C50"/>
          </a:solidFill>
          <a:ln w="12700">
            <a:solidFill>
              <a:srgbClr val="0A2C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B9F21EE-ECDC-4EA3-BFE1-2FB2F6E3F830}"/>
              </a:ext>
            </a:extLst>
          </p:cNvPr>
          <p:cNvSpPr>
            <a:spLocks noGrp="1"/>
          </p:cNvSpPr>
          <p:nvPr/>
        </p:nvSpPr>
        <p:spPr>
          <a:xfrm>
            <a:off x="502920" y="640080"/>
            <a:ext cx="128016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 spc="300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PART 02</a:t>
            </a:r>
            <a:endParaRPr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14F793C-3A4B-4FDE-8513-FA9704559197}"/>
              </a:ext>
            </a:extLst>
          </p:cNvPr>
          <p:cNvSpPr>
            <a:spLocks noGrp="1"/>
          </p:cNvSpPr>
          <p:nvPr/>
        </p:nvSpPr>
        <p:spPr>
          <a:xfrm>
            <a:off x="502920" y="1234440"/>
            <a:ext cx="777240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46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Running a Model</a:t>
            </a:r>
            <a:endParaRPr sz="46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7E71BEB-2974-4D8C-93AD-C5E5CFA3CB37}"/>
              </a:ext>
            </a:extLst>
          </p:cNvPr>
          <p:cNvSpPr>
            <a:spLocks noGrp="1"/>
          </p:cNvSpPr>
          <p:nvPr/>
        </p:nvSpPr>
        <p:spPr>
          <a:xfrm>
            <a:off x="502920" y="2423160"/>
            <a:ext cx="64008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5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No UI. No wrapper. Just the model.</a:t>
            </a:r>
            <a:endParaRPr sz="15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4DDF1AE-6A49-4E9C-8601-80AA1186E135}"/>
              </a:ext>
            </a:extLst>
          </p:cNvPr>
          <p:cNvSpPr>
            <a:spLocks noGrp="1"/>
          </p:cNvSpPr>
          <p:nvPr/>
        </p:nvSpPr>
        <p:spPr>
          <a:xfrm>
            <a:off x="457200" y="3703320"/>
            <a:ext cx="868680" cy="868680"/>
          </a:xfrm>
          <a:prstGeom prst="ellipse">
            <a:avLst/>
          </a:prstGeom>
          <a:solidFill>
            <a:srgbClr val="0A2C50"/>
          </a:solidFill>
          <a:ln w="12700">
            <a:solidFill>
              <a:srgbClr val="0A2C5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Graphic 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12064" y="3758184"/>
            <a:ext cx="758952" cy="75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02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1E6B7E6-4F2D-445A-8547-5234FCA964B5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Docker Model Runner</a:t>
            </a:r>
            <a:endParaRPr sz="30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C1BBF6C-67CE-47CE-93D1-DBC1F3E09852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4206A90-F295-45FE-8946-2ADE941609EC}"/>
              </a:ext>
            </a:extLst>
          </p:cNvPr>
          <p:cNvSpPr>
            <a:spLocks noGrp="1"/>
          </p:cNvSpPr>
          <p:nvPr/>
        </p:nvSpPr>
        <p:spPr>
          <a:xfrm>
            <a:off x="594360" y="1371600"/>
            <a:ext cx="658368" cy="658368"/>
          </a:xfrm>
          <a:prstGeom prst="ellipse">
            <a:avLst/>
          </a:prstGeom>
          <a:solidFill>
            <a:srgbClr val="0A2C50"/>
          </a:solidFill>
          <a:ln w="12700">
            <a:solidFill>
              <a:srgbClr val="0A2C5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389888"/>
            <a:ext cx="603504" cy="603504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C979A14A-A633-422E-9E01-F6C2825BE575}"/>
              </a:ext>
            </a:extLst>
          </p:cNvPr>
          <p:cNvSpPr>
            <a:spLocks noGrp="1"/>
          </p:cNvSpPr>
          <p:nvPr/>
        </p:nvSpPr>
        <p:spPr>
          <a:xfrm>
            <a:off x="1463040" y="1252728"/>
            <a:ext cx="69494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>
                <a:solidFill>
                  <a:srgbClr val="38BDF8"/>
                </a:solidFill>
                <a:latin typeface="Trebuchet MS"/>
                <a:ea typeface="Trebuchet MS"/>
                <a:cs typeface="Trebuchet MS"/>
              </a:rPr>
              <a:t>Built into Docker Desktop</a:t>
            </a:r>
            <a:endParaRPr sz="17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125F738-2397-44C3-A040-CF7E7661C5D7}"/>
              </a:ext>
            </a:extLst>
          </p:cNvPr>
          <p:cNvSpPr>
            <a:spLocks noGrp="1"/>
          </p:cNvSpPr>
          <p:nvPr/>
        </p:nvSpPr>
        <p:spPr>
          <a:xfrm>
            <a:off x="1463040" y="1645920"/>
            <a:ext cx="69494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No extra install — available in recent versions of Docker Desktop out of the box</a:t>
            </a:r>
            <a:endParaRPr sz="13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A0738EDA-6BCE-49B0-84B8-16375F8FE14F}"/>
              </a:ext>
            </a:extLst>
          </p:cNvPr>
          <p:cNvSpPr>
            <a:spLocks noGrp="1"/>
          </p:cNvSpPr>
          <p:nvPr/>
        </p:nvSpPr>
        <p:spPr>
          <a:xfrm>
            <a:off x="457200" y="233172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3547813-B3BB-4399-B71B-51A8B1D58E37}"/>
              </a:ext>
            </a:extLst>
          </p:cNvPr>
          <p:cNvSpPr>
            <a:spLocks noGrp="1"/>
          </p:cNvSpPr>
          <p:nvPr/>
        </p:nvSpPr>
        <p:spPr>
          <a:xfrm>
            <a:off x="594360" y="2514600"/>
            <a:ext cx="658368" cy="658368"/>
          </a:xfrm>
          <a:prstGeom prst="ellipse">
            <a:avLst/>
          </a:prstGeom>
          <a:solidFill>
            <a:srgbClr val="0A2C50"/>
          </a:solidFill>
          <a:ln w="12700">
            <a:solidFill>
              <a:srgbClr val="0A2C5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9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532888"/>
            <a:ext cx="603504" cy="603504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F10A4294-7F87-4BED-82A5-E0B22D4EE6D6}"/>
              </a:ext>
            </a:extLst>
          </p:cNvPr>
          <p:cNvSpPr>
            <a:spLocks noGrp="1"/>
          </p:cNvSpPr>
          <p:nvPr/>
        </p:nvSpPr>
        <p:spPr>
          <a:xfrm>
            <a:off x="1463040" y="2395728"/>
            <a:ext cx="69494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>
                <a:solidFill>
                  <a:srgbClr val="34D399"/>
                </a:solidFill>
                <a:latin typeface="Trebuchet MS"/>
                <a:ea typeface="Trebuchet MS"/>
                <a:cs typeface="Trebuchet MS"/>
              </a:rPr>
              <a:t>Pull and run from the CLI</a:t>
            </a:r>
            <a:endParaRPr sz="17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42C9E47C-FE6D-4A8D-A6E4-2FE43D6991F8}"/>
              </a:ext>
            </a:extLst>
          </p:cNvPr>
          <p:cNvSpPr>
            <a:spLocks noGrp="1"/>
          </p:cNvSpPr>
          <p:nvPr/>
        </p:nvSpPr>
        <p:spPr>
          <a:xfrm>
            <a:off x="1463040" y="2788920"/>
            <a:ext cx="69494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Same workflow as pulling containers — model weights download like any other image</a:t>
            </a:r>
            <a:endParaRPr sz="130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CA54FD42-7E04-4018-B93A-A8D12DEE15D2}"/>
              </a:ext>
            </a:extLst>
          </p:cNvPr>
          <p:cNvSpPr>
            <a:spLocks noGrp="1"/>
          </p:cNvSpPr>
          <p:nvPr/>
        </p:nvSpPr>
        <p:spPr>
          <a:xfrm>
            <a:off x="457200" y="347472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8F5D9E95-558F-4DAD-9CD0-00A0F064AA0A}"/>
              </a:ext>
            </a:extLst>
          </p:cNvPr>
          <p:cNvSpPr>
            <a:spLocks noGrp="1"/>
          </p:cNvSpPr>
          <p:nvPr/>
        </p:nvSpPr>
        <p:spPr>
          <a:xfrm>
            <a:off x="594360" y="3657600"/>
            <a:ext cx="658368" cy="658368"/>
          </a:xfrm>
          <a:prstGeom prst="ellipse">
            <a:avLst/>
          </a:prstGeom>
          <a:solidFill>
            <a:srgbClr val="0A2C50"/>
          </a:solidFill>
          <a:ln w="12700">
            <a:solidFill>
              <a:srgbClr val="0A2C5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4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675888"/>
            <a:ext cx="603504" cy="603504"/>
          </a:xfrm>
          <a:prstGeom prst="rect">
            <a:avLst/>
          </a:prstGeom>
        </p:spPr>
      </p:pic>
      <p:sp>
        <p:nvSpPr>
          <p:cNvPr id="16" name="Text 11">
            <a:extLst>
              <a:ext uri="{FF2B5EF4-FFF2-40B4-BE49-F238E27FC236}">
                <a16:creationId xmlns:a16="http://schemas.microsoft.com/office/drawing/2014/main" id="{D1DB6DF4-59E0-4187-8D0E-CEFF33B93A75}"/>
              </a:ext>
            </a:extLst>
          </p:cNvPr>
          <p:cNvSpPr>
            <a:spLocks noGrp="1"/>
          </p:cNvSpPr>
          <p:nvPr/>
        </p:nvSpPr>
        <p:spPr>
          <a:xfrm>
            <a:off x="1463040" y="3538728"/>
            <a:ext cx="69494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>
                <a:solidFill>
                  <a:srgbClr val="A78BFA"/>
                </a:solidFill>
                <a:latin typeface="Trebuchet MS"/>
                <a:ea typeface="Trebuchet MS"/>
                <a:cs typeface="Trebuchet MS"/>
              </a:rPr>
              <a:t>Runs entirely locally</a:t>
            </a:r>
            <a:endParaRPr sz="170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2957B0A9-D95B-47F1-82A8-6267289ECD04}"/>
              </a:ext>
            </a:extLst>
          </p:cNvPr>
          <p:cNvSpPr>
            <a:spLocks noGrp="1"/>
          </p:cNvSpPr>
          <p:nvPr/>
        </p:nvSpPr>
        <p:spPr>
          <a:xfrm>
            <a:off x="1463040" y="3931920"/>
            <a:ext cx="69494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No API keys, no internet required at runtime, no data leaves your machine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20163871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8783563-7189-FB18-D4FE-C245DC3B6328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Practice 1: Local Model</a:t>
            </a:r>
            <a:endParaRPr sz="300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C5C8F7D3-5312-8C21-FCE0-8534E4ABED7F}"/>
              </a:ext>
            </a:extLst>
          </p:cNvPr>
          <p:cNvSpPr>
            <a:spLocks noGrp="1"/>
          </p:cNvSpPr>
          <p:nvPr/>
        </p:nvSpPr>
        <p:spPr>
          <a:xfrm>
            <a:off x="355962" y="1286690"/>
            <a:ext cx="8432075" cy="3277145"/>
          </a:xfrm>
          <a:prstGeom prst="roundRect">
            <a:avLst>
              <a:gd name="adj" fmla="val 8696"/>
            </a:avLst>
          </a:prstGeom>
          <a:solidFill>
            <a:srgbClr val="040C18"/>
          </a:solidFill>
          <a:ln w="12700">
            <a:solidFill>
              <a:srgbClr val="152A42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2BE718DA-09A8-78EF-137E-A4A3B3219AB9}"/>
              </a:ext>
            </a:extLst>
          </p:cNvPr>
          <p:cNvSpPr>
            <a:spLocks noGrp="1"/>
          </p:cNvSpPr>
          <p:nvPr/>
        </p:nvSpPr>
        <p:spPr>
          <a:xfrm>
            <a:off x="520555" y="1405563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F3315846-9E54-1E29-50E5-2A4CFB78FD44}"/>
              </a:ext>
            </a:extLst>
          </p:cNvPr>
          <p:cNvSpPr>
            <a:spLocks noGrp="1"/>
          </p:cNvSpPr>
          <p:nvPr/>
        </p:nvSpPr>
        <p:spPr>
          <a:xfrm>
            <a:off x="639427" y="1405563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D9E6448C-CA0E-F3F9-87BD-F900D7E8A528}"/>
              </a:ext>
            </a:extLst>
          </p:cNvPr>
          <p:cNvSpPr>
            <a:spLocks noGrp="1"/>
          </p:cNvSpPr>
          <p:nvPr/>
        </p:nvSpPr>
        <p:spPr>
          <a:xfrm>
            <a:off x="758299" y="1405563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00DB2A5A-C9FE-3DE1-362A-7E2757293792}"/>
              </a:ext>
            </a:extLst>
          </p:cNvPr>
          <p:cNvSpPr>
            <a:spLocks noGrp="1"/>
          </p:cNvSpPr>
          <p:nvPr/>
        </p:nvSpPr>
        <p:spPr>
          <a:xfrm>
            <a:off x="493122" y="1625018"/>
            <a:ext cx="8172451" cy="2546931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4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# Clone the branch</a:t>
            </a:r>
          </a:p>
          <a:p>
            <a:r>
              <a:rPr sz="14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git clone https://github.com/justasbuzaitis/sourcery_2026_autumn_ai.git</a:t>
            </a:r>
          </a:p>
          <a:p>
            <a:pPr marL="0" indent="0">
              <a:buNone/>
            </a:pPr>
            <a:endParaRPr sz="1400">
              <a:solidFill>
                <a:srgbClr val="A8C6DF"/>
              </a:solidFill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sz="14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# Checkout Practice 1</a:t>
            </a:r>
          </a:p>
          <a:p>
            <a:pPr marL="0" indent="0">
              <a:buNone/>
            </a:pPr>
            <a:r>
              <a:rPr sz="14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git fetch origin</a:t>
            </a:r>
          </a:p>
          <a:p>
            <a:pPr marL="0" indent="0">
              <a:buNone/>
            </a:pPr>
            <a:r>
              <a:rPr sz="14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git switch practice-1</a:t>
            </a:r>
          </a:p>
          <a:p>
            <a:pPr marL="0" indent="0">
              <a:buNone/>
            </a:pPr>
            <a:endParaRPr sz="1400">
              <a:solidFill>
                <a:srgbClr val="A8C6DF"/>
              </a:solidFill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sz="14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# Start reading MD guidelines</a:t>
            </a:r>
          </a:p>
        </p:txBody>
      </p:sp>
    </p:spTree>
    <p:extLst>
      <p:ext uri="{BB962C8B-B14F-4D97-AF65-F5344CB8AC3E}">
        <p14:creationId xmlns:p14="http://schemas.microsoft.com/office/powerpoint/2010/main" val="29700944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000B4C3-CD2A-4B38-88EB-1E595CFD16A4}"/>
              </a:ext>
            </a:extLst>
          </p:cNvPr>
          <p:cNvSpPr>
            <a:spLocks noGrp="1"/>
          </p:cNvSpPr>
          <p:nvPr/>
        </p:nvSpPr>
        <p:spPr>
          <a:xfrm>
            <a:off x="3474720" y="182880"/>
            <a:ext cx="5486400" cy="4572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 algn="r">
              <a:buNone/>
            </a:pPr>
            <a:r>
              <a:rPr sz="23000" b="1">
                <a:solidFill>
                  <a:srgbClr val="0B1E34"/>
                </a:solidFill>
                <a:latin typeface="Trebuchet MS"/>
                <a:ea typeface="Trebuchet MS"/>
                <a:cs typeface="Trebuchet MS"/>
              </a:rPr>
              <a:t>03</a:t>
            </a:r>
            <a:endParaRPr sz="230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43CE752-EAEC-49FE-92DA-4E232574CC81}"/>
              </a:ext>
            </a:extLst>
          </p:cNvPr>
          <p:cNvSpPr>
            <a:spLocks noGrp="1"/>
          </p:cNvSpPr>
          <p:nvPr/>
        </p:nvSpPr>
        <p:spPr>
          <a:xfrm>
            <a:off x="502920" y="64008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0A2C50"/>
          </a:solidFill>
          <a:ln w="12700">
            <a:solidFill>
              <a:srgbClr val="0A2C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6B8E91C-2D5C-4254-AC1B-39F8A8A75E5D}"/>
              </a:ext>
            </a:extLst>
          </p:cNvPr>
          <p:cNvSpPr>
            <a:spLocks noGrp="1"/>
          </p:cNvSpPr>
          <p:nvPr/>
        </p:nvSpPr>
        <p:spPr>
          <a:xfrm>
            <a:off x="502920" y="640080"/>
            <a:ext cx="128016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 spc="300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PART 03</a:t>
            </a:r>
            <a:endParaRPr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FEF9D8A-45A6-429E-B3ED-96C5D09AC3D4}"/>
              </a:ext>
            </a:extLst>
          </p:cNvPr>
          <p:cNvSpPr>
            <a:spLocks noGrp="1"/>
          </p:cNvSpPr>
          <p:nvPr/>
        </p:nvSpPr>
        <p:spPr>
          <a:xfrm>
            <a:off x="502920" y="1234440"/>
            <a:ext cx="777240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46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Prompting as Programming</a:t>
            </a:r>
            <a:endParaRPr sz="46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E8596DA-5588-4581-90D6-8A356EEF7A29}"/>
              </a:ext>
            </a:extLst>
          </p:cNvPr>
          <p:cNvSpPr>
            <a:spLocks noGrp="1"/>
          </p:cNvSpPr>
          <p:nvPr/>
        </p:nvSpPr>
        <p:spPr>
          <a:xfrm>
            <a:off x="502920" y="2423160"/>
            <a:ext cx="64008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5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Five techniques — and why each one works. Less magic. More structure.</a:t>
            </a:r>
            <a:endParaRPr sz="15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A430D77-A7AC-436E-BA5F-1F7F92C81C6B}"/>
              </a:ext>
            </a:extLst>
          </p:cNvPr>
          <p:cNvSpPr>
            <a:spLocks noGrp="1"/>
          </p:cNvSpPr>
          <p:nvPr/>
        </p:nvSpPr>
        <p:spPr>
          <a:xfrm>
            <a:off x="457200" y="3703320"/>
            <a:ext cx="868680" cy="868680"/>
          </a:xfrm>
          <a:prstGeom prst="ellipse">
            <a:avLst/>
          </a:prstGeom>
          <a:solidFill>
            <a:srgbClr val="0A2C50"/>
          </a:solidFill>
          <a:ln w="12700">
            <a:solidFill>
              <a:srgbClr val="0A2C5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Graphic 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12064" y="3758184"/>
            <a:ext cx="758952" cy="75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604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F4A98BC-E7FE-4660-9DA8-8B3065AFB437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One Mental Model for All of It</a:t>
            </a:r>
            <a:endParaRPr sz="30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1222E93-FD15-4792-A60D-A7DAE0445B6E}"/>
              </a:ext>
            </a:extLst>
          </p:cNvPr>
          <p:cNvSpPr>
            <a:spLocks noGrp="1"/>
          </p:cNvSpPr>
          <p:nvPr/>
        </p:nvSpPr>
        <p:spPr>
          <a:xfrm>
            <a:off x="457200" y="1143000"/>
            <a:ext cx="8229600" cy="1920240"/>
          </a:xfrm>
          <a:prstGeom prst="roundRect">
            <a:avLst>
              <a:gd name="adj" fmla="val 4762"/>
            </a:avLst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3931BAF-1A55-4223-8942-58AF005ABAA7}"/>
              </a:ext>
            </a:extLst>
          </p:cNvPr>
          <p:cNvSpPr>
            <a:spLocks noGrp="1"/>
          </p:cNvSpPr>
          <p:nvPr/>
        </p:nvSpPr>
        <p:spPr>
          <a:xfrm>
            <a:off x="457200" y="1143000"/>
            <a:ext cx="91440" cy="1920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953F039-8E3E-44E9-9CF0-13E213A35AE4}"/>
              </a:ext>
            </a:extLst>
          </p:cNvPr>
          <p:cNvSpPr>
            <a:spLocks noGrp="1"/>
          </p:cNvSpPr>
          <p:nvPr/>
        </p:nvSpPr>
        <p:spPr>
          <a:xfrm>
            <a:off x="731520" y="1261872"/>
            <a:ext cx="7680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600" b="1">
                <a:solidFill>
                  <a:srgbClr val="38BDF8"/>
                </a:solidFill>
                <a:latin typeface="Trebuchet MS"/>
                <a:ea typeface="Trebuchet MS"/>
                <a:cs typeface="Trebuchet MS"/>
              </a:rPr>
              <a:t>Context shapes the next token.</a:t>
            </a:r>
            <a:endParaRPr sz="36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37012E5-17FD-428A-9FA6-105DC43E9DEE}"/>
              </a:ext>
            </a:extLst>
          </p:cNvPr>
          <p:cNvSpPr>
            <a:spLocks noGrp="1"/>
          </p:cNvSpPr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5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A prompt supplies the instructions and information the model uses to predict a response.</a:t>
            </a:r>
            <a:endParaRPr sz="15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D93FDE3-079D-45FA-9DEF-C82C2A0671FE}"/>
              </a:ext>
            </a:extLst>
          </p:cNvPr>
          <p:cNvSpPr>
            <a:spLocks noGrp="1"/>
          </p:cNvSpPr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Every technique in this section is a different way to shape that context.</a:t>
            </a:r>
            <a:endParaRPr sz="14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C2D1253-1636-4A01-9AEA-0412B07EA497}"/>
              </a:ext>
            </a:extLst>
          </p:cNvPr>
          <p:cNvSpPr>
            <a:spLocks noGrp="1"/>
          </p:cNvSpPr>
          <p:nvPr/>
        </p:nvSpPr>
        <p:spPr>
          <a:xfrm>
            <a:off x="457200" y="374904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EA9227F-8A98-4D06-B531-3CFF113A432F}"/>
              </a:ext>
            </a:extLst>
          </p:cNvPr>
          <p:cNvSpPr>
            <a:spLocks noGrp="1"/>
          </p:cNvSpPr>
          <p:nvPr/>
        </p:nvSpPr>
        <p:spPr>
          <a:xfrm>
            <a:off x="1669913" y="3611880"/>
            <a:ext cx="230866" cy="23086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07FA987-51DF-427B-BFE6-156EC68F2D76}"/>
              </a:ext>
            </a:extLst>
          </p:cNvPr>
          <p:cNvSpPr>
            <a:spLocks noGrp="1"/>
          </p:cNvSpPr>
          <p:nvPr/>
        </p:nvSpPr>
        <p:spPr>
          <a:xfrm>
            <a:off x="457200" y="3840480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Role prompting</a:t>
            </a:r>
            <a:endParaRPr sz="1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E21754D-E9F6-4466-ABC7-75CC9CCE4BAC}"/>
              </a:ext>
            </a:extLst>
          </p:cNvPr>
          <p:cNvSpPr>
            <a:spLocks noGrp="1"/>
          </p:cNvSpPr>
          <p:nvPr/>
        </p:nvSpPr>
        <p:spPr>
          <a:xfrm>
            <a:off x="548640" y="4206240"/>
            <a:ext cx="2468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ctr">
              <a:buNone/>
            </a:pPr>
            <a:r>
              <a:rPr sz="10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Steers tone, priorities,</a:t>
            </a:r>
            <a:endParaRPr sz="1000"/>
          </a:p>
          <a:p>
            <a:pPr marL="0" indent="0" algn="ctr">
              <a:buNone/>
            </a:pPr>
            <a:r>
              <a:rPr sz="10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and assumptions</a:t>
            </a:r>
            <a:endParaRPr sz="10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5D0B4E2-7A4D-438A-84E8-B281615271F5}"/>
              </a:ext>
            </a:extLst>
          </p:cNvPr>
          <p:cNvSpPr>
            <a:spLocks noGrp="1"/>
          </p:cNvSpPr>
          <p:nvPr/>
        </p:nvSpPr>
        <p:spPr>
          <a:xfrm>
            <a:off x="3355848" y="374904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842655D-F2E0-4576-AA48-81E66446E0FC}"/>
              </a:ext>
            </a:extLst>
          </p:cNvPr>
          <p:cNvSpPr>
            <a:spLocks noGrp="1"/>
          </p:cNvSpPr>
          <p:nvPr/>
        </p:nvSpPr>
        <p:spPr>
          <a:xfrm>
            <a:off x="4568561" y="3611880"/>
            <a:ext cx="230866" cy="23086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1949ED6-5B52-4A43-AADC-22CBA2468C20}"/>
              </a:ext>
            </a:extLst>
          </p:cNvPr>
          <p:cNvSpPr>
            <a:spLocks noGrp="1"/>
          </p:cNvSpPr>
          <p:nvPr/>
        </p:nvSpPr>
        <p:spPr>
          <a:xfrm>
            <a:off x="3355848" y="3840480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34D399"/>
                </a:solidFill>
                <a:latin typeface="Calibri"/>
                <a:ea typeface="Calibri"/>
                <a:cs typeface="Calibri"/>
              </a:rPr>
              <a:t>Structured reasoning</a:t>
            </a:r>
            <a:endParaRPr sz="12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76A60BA-915A-41A5-9F50-F3E08A077296}"/>
              </a:ext>
            </a:extLst>
          </p:cNvPr>
          <p:cNvSpPr>
            <a:spLocks noGrp="1"/>
          </p:cNvSpPr>
          <p:nvPr/>
        </p:nvSpPr>
        <p:spPr>
          <a:xfrm>
            <a:off x="3447288" y="4206240"/>
            <a:ext cx="2468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ctr">
              <a:buNone/>
            </a:pPr>
            <a:r>
              <a:rPr sz="10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Adds a plan or checks</a:t>
            </a:r>
            <a:endParaRPr sz="1000"/>
          </a:p>
          <a:p>
            <a:pPr marL="0" indent="0" algn="ctr">
              <a:buNone/>
            </a:pPr>
            <a:r>
              <a:rPr sz="10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before the final answer</a:t>
            </a:r>
            <a:endParaRPr sz="10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05EBC8F-7720-4BB6-A26A-B843A561A470}"/>
              </a:ext>
            </a:extLst>
          </p:cNvPr>
          <p:cNvSpPr>
            <a:spLocks noGrp="1"/>
          </p:cNvSpPr>
          <p:nvPr/>
        </p:nvSpPr>
        <p:spPr>
          <a:xfrm>
            <a:off x="6254496" y="374904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1A451CDD-FF9C-498E-854E-ABFD34566E09}"/>
              </a:ext>
            </a:extLst>
          </p:cNvPr>
          <p:cNvSpPr>
            <a:spLocks noGrp="1"/>
          </p:cNvSpPr>
          <p:nvPr/>
        </p:nvSpPr>
        <p:spPr>
          <a:xfrm>
            <a:off x="7467209" y="3611880"/>
            <a:ext cx="230866" cy="23086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16E5D50-7242-4FB9-817B-E8D614877F63}"/>
              </a:ext>
            </a:extLst>
          </p:cNvPr>
          <p:cNvSpPr>
            <a:spLocks noGrp="1"/>
          </p:cNvSpPr>
          <p:nvPr/>
        </p:nvSpPr>
        <p:spPr>
          <a:xfrm>
            <a:off x="6254496" y="3840480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A78BFA"/>
                </a:solidFill>
                <a:latin typeface="Calibri"/>
                <a:ea typeface="Calibri"/>
                <a:cs typeface="Calibri"/>
              </a:rPr>
              <a:t>Few-shot</a:t>
            </a:r>
            <a:endParaRPr sz="12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74DC3DD-ED79-40A8-AC55-925EAD232EA9}"/>
              </a:ext>
            </a:extLst>
          </p:cNvPr>
          <p:cNvSpPr>
            <a:spLocks noGrp="1"/>
          </p:cNvSpPr>
          <p:nvPr/>
        </p:nvSpPr>
        <p:spPr>
          <a:xfrm>
            <a:off x="6345936" y="4206240"/>
            <a:ext cx="2468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ctr">
              <a:buNone/>
            </a:pPr>
            <a:r>
              <a:rPr sz="10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Shows the pattern you</a:t>
            </a:r>
            <a:endParaRPr sz="1000"/>
          </a:p>
          <a:p>
            <a:pPr marL="0" indent="0" algn="ctr">
              <a:buNone/>
            </a:pPr>
            <a:r>
              <a:rPr sz="10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want the model to continue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601788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1485E05-A103-4D07-9F70-C7BB24C2D2DD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Technique 1  ·  Role &amp; Persona</a:t>
            </a:r>
            <a:endParaRPr sz="30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DF9C310-1830-4CD5-A48B-3745EE97442A}"/>
              </a:ext>
            </a:extLst>
          </p:cNvPr>
          <p:cNvSpPr>
            <a:spLocks noGrp="1"/>
          </p:cNvSpPr>
          <p:nvPr/>
        </p:nvSpPr>
        <p:spPr>
          <a:xfrm>
            <a:off x="457200" y="100584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0A2235"/>
          </a:solidFill>
          <a:ln w="12700">
            <a:solidFill>
              <a:srgbClr val="0A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22A2B48-A701-4DC6-977F-5B072C90E395}"/>
              </a:ext>
            </a:extLst>
          </p:cNvPr>
          <p:cNvSpPr>
            <a:spLocks noGrp="1"/>
          </p:cNvSpPr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You're not giving it an identity — you're loading a context heavily associated with a certain kind of output.</a:t>
            </a:r>
            <a:endParaRPr sz="12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14DCB9F-4BF1-4FD5-B506-EEB798C3F8BC}"/>
              </a:ext>
            </a:extLst>
          </p:cNvPr>
          <p:cNvSpPr>
            <a:spLocks noGrp="1"/>
          </p:cNvSpPr>
          <p:nvPr/>
        </p:nvSpPr>
        <p:spPr>
          <a:xfrm>
            <a:off x="457200" y="160020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4910DA1-473D-4F77-8D2C-D3C6F2E6BEAD}"/>
              </a:ext>
            </a:extLst>
          </p:cNvPr>
          <p:cNvSpPr>
            <a:spLocks noGrp="1"/>
          </p:cNvSpPr>
          <p:nvPr/>
        </p:nvSpPr>
        <p:spPr>
          <a:xfrm>
            <a:off x="457200" y="1600200"/>
            <a:ext cx="2651760" cy="64008"/>
          </a:xfrm>
          <a:prstGeom prst="rect">
            <a:avLst/>
          </a:prstGeom>
          <a:solidFill>
            <a:srgbClr val="6B8FAD"/>
          </a:solidFill>
          <a:ln w="12700">
            <a:solidFill>
              <a:srgbClr val="6B8FA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79184B0-5C00-4FC3-AA6F-0B336717142B}"/>
              </a:ext>
            </a:extLst>
          </p:cNvPr>
          <p:cNvSpPr>
            <a:spLocks noGrp="1"/>
          </p:cNvSpPr>
          <p:nvPr/>
        </p:nvSpPr>
        <p:spPr>
          <a:xfrm>
            <a:off x="548640" y="1691640"/>
            <a:ext cx="24688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No role</a:t>
            </a:r>
            <a:endParaRPr sz="12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7735AAD-42C1-4B5E-9723-E1467F6F3D99}"/>
              </a:ext>
            </a:extLst>
          </p:cNvPr>
          <p:cNvSpPr>
            <a:spLocks noGrp="1"/>
          </p:cNvSpPr>
          <p:nvPr/>
        </p:nvSpPr>
        <p:spPr>
          <a:xfrm>
            <a:off x="548640" y="2103120"/>
            <a:ext cx="2468880" cy="1325880"/>
          </a:xfrm>
          <a:prstGeom prst="roundRect">
            <a:avLst>
              <a:gd name="adj" fmla="val 6897"/>
            </a:avLst>
          </a:prstGeom>
          <a:solidFill>
            <a:srgbClr val="040C18"/>
          </a:solidFill>
          <a:ln w="12700">
            <a:solidFill>
              <a:srgbClr val="152A42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5EF6A38-1127-4045-A785-F6F6445444A4}"/>
              </a:ext>
            </a:extLst>
          </p:cNvPr>
          <p:cNvSpPr>
            <a:spLocks noGrp="1"/>
          </p:cNvSpPr>
          <p:nvPr/>
        </p:nvSpPr>
        <p:spPr>
          <a:xfrm>
            <a:off x="713232" y="222199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4D4C931-7ADE-4F9B-BE1E-6EB271DCC0CF}"/>
              </a:ext>
            </a:extLst>
          </p:cNvPr>
          <p:cNvSpPr>
            <a:spLocks noGrp="1"/>
          </p:cNvSpPr>
          <p:nvPr/>
        </p:nvSpPr>
        <p:spPr>
          <a:xfrm>
            <a:off x="832104" y="222199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237E3C8-7311-494A-9E58-E3B2F1D79AFE}"/>
              </a:ext>
            </a:extLst>
          </p:cNvPr>
          <p:cNvSpPr>
            <a:spLocks noGrp="1"/>
          </p:cNvSpPr>
          <p:nvPr/>
        </p:nvSpPr>
        <p:spPr>
          <a:xfrm>
            <a:off x="950976" y="222199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7960E06-33C0-4376-85AF-8F15317B1D93}"/>
              </a:ext>
            </a:extLst>
          </p:cNvPr>
          <p:cNvSpPr>
            <a:spLocks noGrp="1"/>
          </p:cNvSpPr>
          <p:nvPr/>
        </p:nvSpPr>
        <p:spPr>
          <a:xfrm>
            <a:off x="685800" y="2441448"/>
            <a:ext cx="2194560" cy="89611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What should I think about when</a:t>
            </a:r>
            <a:endParaRPr sz="800"/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storing user passwords?</a:t>
            </a:r>
            <a:endParaRPr sz="8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099A829-070D-4151-8DE0-FC497DDA7A86}"/>
              </a:ext>
            </a:extLst>
          </p:cNvPr>
          <p:cNvSpPr>
            <a:spLocks noGrp="1"/>
          </p:cNvSpPr>
          <p:nvPr/>
        </p:nvSpPr>
        <p:spPr>
          <a:xfrm>
            <a:off x="548640" y="3493008"/>
            <a:ext cx="24688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0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Generic, shallow, misses key points</a:t>
            </a:r>
            <a:endParaRPr sz="10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BFA5C7A-C933-4633-AF5F-005DC09394FD}"/>
              </a:ext>
            </a:extLst>
          </p:cNvPr>
          <p:cNvSpPr>
            <a:spLocks noGrp="1"/>
          </p:cNvSpPr>
          <p:nvPr/>
        </p:nvSpPr>
        <p:spPr>
          <a:xfrm>
            <a:off x="3337560" y="160020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947C248-5A8E-4F2D-83EC-2AF796E86172}"/>
              </a:ext>
            </a:extLst>
          </p:cNvPr>
          <p:cNvSpPr>
            <a:spLocks noGrp="1"/>
          </p:cNvSpPr>
          <p:nvPr/>
        </p:nvSpPr>
        <p:spPr>
          <a:xfrm>
            <a:off x="3337560" y="1600200"/>
            <a:ext cx="265176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F7015F1-1FD7-40EC-BF15-CB2DBD09B53D}"/>
              </a:ext>
            </a:extLst>
          </p:cNvPr>
          <p:cNvSpPr>
            <a:spLocks noGrp="1"/>
          </p:cNvSpPr>
          <p:nvPr/>
        </p:nvSpPr>
        <p:spPr>
          <a:xfrm>
            <a:off x="3429000" y="1691640"/>
            <a:ext cx="24688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Security engineer</a:t>
            </a:r>
            <a:endParaRPr sz="12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6FB8DB4-EB94-473B-9FBE-6C51E3D3CDBA}"/>
              </a:ext>
            </a:extLst>
          </p:cNvPr>
          <p:cNvSpPr>
            <a:spLocks noGrp="1"/>
          </p:cNvSpPr>
          <p:nvPr/>
        </p:nvSpPr>
        <p:spPr>
          <a:xfrm>
            <a:off x="3429000" y="2103120"/>
            <a:ext cx="2468880" cy="1325880"/>
          </a:xfrm>
          <a:prstGeom prst="roundRect">
            <a:avLst>
              <a:gd name="adj" fmla="val 6897"/>
            </a:avLst>
          </a:prstGeom>
          <a:solidFill>
            <a:srgbClr val="040C18"/>
          </a:solidFill>
          <a:ln w="12700">
            <a:solidFill>
              <a:srgbClr val="152A42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ECC7566-057C-4443-8F11-01DF84E469D4}"/>
              </a:ext>
            </a:extLst>
          </p:cNvPr>
          <p:cNvSpPr>
            <a:spLocks noGrp="1"/>
          </p:cNvSpPr>
          <p:nvPr/>
        </p:nvSpPr>
        <p:spPr>
          <a:xfrm>
            <a:off x="3593592" y="222199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12B705FA-3475-4A2B-BBE3-8DB6EFC5A070}"/>
              </a:ext>
            </a:extLst>
          </p:cNvPr>
          <p:cNvSpPr>
            <a:spLocks noGrp="1"/>
          </p:cNvSpPr>
          <p:nvPr/>
        </p:nvSpPr>
        <p:spPr>
          <a:xfrm>
            <a:off x="3712464" y="222199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0EDD043-C8C3-4658-B2D1-4815F7C28DD2}"/>
              </a:ext>
            </a:extLst>
          </p:cNvPr>
          <p:cNvSpPr>
            <a:spLocks noGrp="1"/>
          </p:cNvSpPr>
          <p:nvPr/>
        </p:nvSpPr>
        <p:spPr>
          <a:xfrm>
            <a:off x="3831336" y="222199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68C08A2-BE98-417B-91E6-A822513B7C70}"/>
              </a:ext>
            </a:extLst>
          </p:cNvPr>
          <p:cNvSpPr>
            <a:spLocks noGrp="1"/>
          </p:cNvSpPr>
          <p:nvPr/>
        </p:nvSpPr>
        <p:spPr>
          <a:xfrm>
            <a:off x="3566160" y="2441448"/>
            <a:ext cx="2194560" cy="89611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You are a senior security engineer.</a:t>
            </a:r>
            <a:endParaRPr sz="800"/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What should I think about when</a:t>
            </a:r>
            <a:endParaRPr sz="800"/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storing user passwords?</a:t>
            </a:r>
            <a:endParaRPr sz="8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2E89767-F2C7-485D-BBD6-9E0B96338A5B}"/>
              </a:ext>
            </a:extLst>
          </p:cNvPr>
          <p:cNvSpPr>
            <a:spLocks noGrp="1"/>
          </p:cNvSpPr>
          <p:nvPr/>
        </p:nvSpPr>
        <p:spPr>
          <a:xfrm>
            <a:off x="3429000" y="3493008"/>
            <a:ext cx="24688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0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Hashing, salting, bcrypt, timing attacks, logging risks</a:t>
            </a:r>
            <a:endParaRPr sz="100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B92E1AFF-6F2A-435A-AAFD-240BC0800875}"/>
              </a:ext>
            </a:extLst>
          </p:cNvPr>
          <p:cNvSpPr>
            <a:spLocks noGrp="1"/>
          </p:cNvSpPr>
          <p:nvPr/>
        </p:nvSpPr>
        <p:spPr>
          <a:xfrm>
            <a:off x="6217920" y="160020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DB6AE826-5871-4CEB-BEEC-9E70F8865069}"/>
              </a:ext>
            </a:extLst>
          </p:cNvPr>
          <p:cNvSpPr>
            <a:spLocks noGrp="1"/>
          </p:cNvSpPr>
          <p:nvPr/>
        </p:nvSpPr>
        <p:spPr>
          <a:xfrm>
            <a:off x="6217920" y="1600200"/>
            <a:ext cx="265176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46ECD29F-820E-48A1-A606-3240632D6FB9}"/>
              </a:ext>
            </a:extLst>
          </p:cNvPr>
          <p:cNvSpPr>
            <a:spLocks noGrp="1"/>
          </p:cNvSpPr>
          <p:nvPr/>
        </p:nvSpPr>
        <p:spPr>
          <a:xfrm>
            <a:off x="6309360" y="1691640"/>
            <a:ext cx="24688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A78BFA"/>
                </a:solidFill>
                <a:latin typeface="Calibri"/>
                <a:ea typeface="Calibri"/>
                <a:cs typeface="Calibri"/>
              </a:rPr>
              <a:t>UX designer</a:t>
            </a:r>
            <a:endParaRPr sz="120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5ED3C74C-677E-4AF4-9DF6-9ABAD28051F0}"/>
              </a:ext>
            </a:extLst>
          </p:cNvPr>
          <p:cNvSpPr>
            <a:spLocks noGrp="1"/>
          </p:cNvSpPr>
          <p:nvPr/>
        </p:nvSpPr>
        <p:spPr>
          <a:xfrm>
            <a:off x="6309360" y="2103120"/>
            <a:ext cx="2468880" cy="1325880"/>
          </a:xfrm>
          <a:prstGeom prst="roundRect">
            <a:avLst>
              <a:gd name="adj" fmla="val 6897"/>
            </a:avLst>
          </a:prstGeom>
          <a:solidFill>
            <a:srgbClr val="040C18"/>
          </a:solidFill>
          <a:ln w="12700">
            <a:solidFill>
              <a:srgbClr val="152A42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9DEFCB66-1A94-482A-879C-BE2711AAEA19}"/>
              </a:ext>
            </a:extLst>
          </p:cNvPr>
          <p:cNvSpPr>
            <a:spLocks noGrp="1"/>
          </p:cNvSpPr>
          <p:nvPr/>
        </p:nvSpPr>
        <p:spPr>
          <a:xfrm>
            <a:off x="6473952" y="222199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E7192392-FAE3-441B-B507-24CEA5D411D3}"/>
              </a:ext>
            </a:extLst>
          </p:cNvPr>
          <p:cNvSpPr>
            <a:spLocks noGrp="1"/>
          </p:cNvSpPr>
          <p:nvPr/>
        </p:nvSpPr>
        <p:spPr>
          <a:xfrm>
            <a:off x="6592824" y="222199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882A7ED2-6799-42E7-82A8-41D851D52317}"/>
              </a:ext>
            </a:extLst>
          </p:cNvPr>
          <p:cNvSpPr>
            <a:spLocks noGrp="1"/>
          </p:cNvSpPr>
          <p:nvPr/>
        </p:nvSpPr>
        <p:spPr>
          <a:xfrm>
            <a:off x="6711696" y="222199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00FF9809-DAEE-47FF-B39A-9CDBCAF6C5E9}"/>
              </a:ext>
            </a:extLst>
          </p:cNvPr>
          <p:cNvSpPr>
            <a:spLocks noGrp="1"/>
          </p:cNvSpPr>
          <p:nvPr/>
        </p:nvSpPr>
        <p:spPr>
          <a:xfrm>
            <a:off x="6446520" y="2441448"/>
            <a:ext cx="2194560" cy="89611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You are a UX designer reducing signup</a:t>
            </a:r>
            <a:endParaRPr sz="800"/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friction. What should I think about</a:t>
            </a:r>
            <a:endParaRPr sz="800"/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when storing passwords?</a:t>
            </a:r>
            <a:endParaRPr sz="80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987CAC2E-3DAE-490C-BDCA-D5AE794B55B2}"/>
              </a:ext>
            </a:extLst>
          </p:cNvPr>
          <p:cNvSpPr>
            <a:spLocks noGrp="1"/>
          </p:cNvSpPr>
          <p:nvPr/>
        </p:nvSpPr>
        <p:spPr>
          <a:xfrm>
            <a:off x="6309360" y="3493008"/>
            <a:ext cx="24688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0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Still valid — just optimises for a different concern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8210223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2EF2BFF-F1D1-4DF7-A088-367C66D1BE2C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Technique 2  ·  Structured Reasoning</a:t>
            </a:r>
            <a:endParaRPr sz="30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B25EB1C-D2AB-4D09-B1DA-0F7BFD8BA919}"/>
              </a:ext>
            </a:extLst>
          </p:cNvPr>
          <p:cNvSpPr>
            <a:spLocks noGrp="1"/>
          </p:cNvSpPr>
          <p:nvPr/>
        </p:nvSpPr>
        <p:spPr>
          <a:xfrm>
            <a:off x="457200" y="100584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0A2235"/>
          </a:solidFill>
          <a:ln w="12700">
            <a:solidFill>
              <a:srgbClr val="0A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27957FE-CBBC-4C10-8676-CF4EDE4C4BFF}"/>
              </a:ext>
            </a:extLst>
          </p:cNvPr>
          <p:cNvSpPr>
            <a:spLocks noGrp="1"/>
          </p:cNvSpPr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For harder tasks, ask for a short plan, the calculation, or a final check. Treat the explanation as evidence to review, not proof.</a:t>
            </a:r>
            <a:endParaRPr sz="12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B3B937D-AE2D-4A77-BC7D-6AE795C9272A}"/>
              </a:ext>
            </a:extLst>
          </p:cNvPr>
          <p:cNvSpPr>
            <a:spLocks noGrp="1"/>
          </p:cNvSpPr>
          <p:nvPr/>
        </p:nvSpPr>
        <p:spPr>
          <a:xfrm>
            <a:off x="457200" y="155448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308EEBB-2EA3-4F38-9F4C-5FA7DFBD41B3}"/>
              </a:ext>
            </a:extLst>
          </p:cNvPr>
          <p:cNvSpPr>
            <a:spLocks noGrp="1"/>
          </p:cNvSpPr>
          <p:nvPr/>
        </p:nvSpPr>
        <p:spPr>
          <a:xfrm>
            <a:off x="457200" y="1554480"/>
            <a:ext cx="4114800" cy="64008"/>
          </a:xfrm>
          <a:prstGeom prst="rect">
            <a:avLst/>
          </a:prstGeom>
          <a:solidFill>
            <a:srgbClr val="6B8FAD"/>
          </a:solidFill>
          <a:ln w="12700">
            <a:solidFill>
              <a:srgbClr val="6B8FA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83F1623-FB49-490A-954A-7F24E5665C0F}"/>
              </a:ext>
            </a:extLst>
          </p:cNvPr>
          <p:cNvSpPr>
            <a:spLocks noGrp="1"/>
          </p:cNvSpPr>
          <p:nvPr/>
        </p:nvSpPr>
        <p:spPr>
          <a:xfrm>
            <a:off x="594360" y="1645920"/>
            <a:ext cx="38404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Direct answer</a:t>
            </a:r>
            <a:endParaRPr sz="12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7A819E6-C324-4384-9596-47632EF698DA}"/>
              </a:ext>
            </a:extLst>
          </p:cNvPr>
          <p:cNvSpPr>
            <a:spLocks noGrp="1"/>
          </p:cNvSpPr>
          <p:nvPr/>
        </p:nvSpPr>
        <p:spPr>
          <a:xfrm>
            <a:off x="548640" y="205740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040C18"/>
          </a:solidFill>
          <a:ln w="12700">
            <a:solidFill>
              <a:srgbClr val="152A42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8309688-D45C-49F5-BC05-00E13A972C14}"/>
              </a:ext>
            </a:extLst>
          </p:cNvPr>
          <p:cNvSpPr>
            <a:spLocks noGrp="1"/>
          </p:cNvSpPr>
          <p:nvPr/>
        </p:nvSpPr>
        <p:spPr>
          <a:xfrm>
            <a:off x="713232" y="217627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214A7E2-7166-4027-B67F-885AE19C2CE4}"/>
              </a:ext>
            </a:extLst>
          </p:cNvPr>
          <p:cNvSpPr>
            <a:spLocks noGrp="1"/>
          </p:cNvSpPr>
          <p:nvPr/>
        </p:nvSpPr>
        <p:spPr>
          <a:xfrm>
            <a:off x="832104" y="217627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7D99221-613F-464C-BFE8-A8CE5A120F5C}"/>
              </a:ext>
            </a:extLst>
          </p:cNvPr>
          <p:cNvSpPr>
            <a:spLocks noGrp="1"/>
          </p:cNvSpPr>
          <p:nvPr/>
        </p:nvSpPr>
        <p:spPr>
          <a:xfrm>
            <a:off x="950976" y="217627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4344AD4-7FF5-4C14-B71F-6A58007FF4D5}"/>
              </a:ext>
            </a:extLst>
          </p:cNvPr>
          <p:cNvSpPr>
            <a:spLocks noGrp="1"/>
          </p:cNvSpPr>
          <p:nvPr/>
        </p:nvSpPr>
        <p:spPr>
          <a:xfrm>
            <a:off x="685800" y="2395728"/>
            <a:ext cx="3657600" cy="94183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I went to the market and bought 10 apples.</a:t>
            </a:r>
            <a:endParaRPr sz="800"/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I gave 2 to my neighbour and 2 to the</a:t>
            </a:r>
            <a:endParaRPr sz="800"/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repairman. I then bought 5 more and ate 1.</a:t>
            </a:r>
            <a:endParaRPr sz="800"/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How many apples do I have left?</a:t>
            </a:r>
            <a:endParaRPr sz="8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D0B3C2C-F66A-4D22-B542-FA03383C0CFD}"/>
              </a:ext>
            </a:extLst>
          </p:cNvPr>
          <p:cNvSpPr>
            <a:spLocks noGrp="1"/>
          </p:cNvSpPr>
          <p:nvPr/>
        </p:nvSpPr>
        <p:spPr>
          <a:xfrm>
            <a:off x="548640" y="3520440"/>
            <a:ext cx="3931920" cy="1115568"/>
          </a:xfrm>
          <a:prstGeom prst="roundRect">
            <a:avLst>
              <a:gd name="adj" fmla="val 6557"/>
            </a:avLst>
          </a:prstGeom>
          <a:solidFill>
            <a:srgbClr val="0C1620"/>
          </a:solidFill>
          <a:ln w="12700">
            <a:solidFill>
              <a:srgbClr val="0C16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119D6CE-64A1-4A1B-B585-D2AF4EA549D1}"/>
              </a:ext>
            </a:extLst>
          </p:cNvPr>
          <p:cNvSpPr>
            <a:spLocks noGrp="1"/>
          </p:cNvSpPr>
          <p:nvPr/>
        </p:nvSpPr>
        <p:spPr>
          <a:xfrm>
            <a:off x="685800" y="3566160"/>
            <a:ext cx="365760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A direct answer can hide skipped steps.</a:t>
            </a:r>
            <a:endParaRPr sz="11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E2C7BC0-D823-48AC-9F16-0813236C0D43}"/>
              </a:ext>
            </a:extLst>
          </p:cNvPr>
          <p:cNvSpPr>
            <a:spLocks noGrp="1"/>
          </p:cNvSpPr>
          <p:nvPr/>
        </p:nvSpPr>
        <p:spPr>
          <a:xfrm>
            <a:off x="4663440" y="155448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A2389F5-EC4E-4C1E-977D-8110E5F3A869}"/>
              </a:ext>
            </a:extLst>
          </p:cNvPr>
          <p:cNvSpPr>
            <a:spLocks noGrp="1"/>
          </p:cNvSpPr>
          <p:nvPr/>
        </p:nvSpPr>
        <p:spPr>
          <a:xfrm>
            <a:off x="4663440" y="1554480"/>
            <a:ext cx="411480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8C20FD5-F977-498F-B284-22AA0035CA21}"/>
              </a:ext>
            </a:extLst>
          </p:cNvPr>
          <p:cNvSpPr>
            <a:spLocks noGrp="1"/>
          </p:cNvSpPr>
          <p:nvPr/>
        </p:nvSpPr>
        <p:spPr>
          <a:xfrm>
            <a:off x="4800600" y="1645920"/>
            <a:ext cx="38404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34D399"/>
                </a:solidFill>
                <a:latin typeface="Calibri"/>
                <a:ea typeface="Calibri"/>
                <a:cs typeface="Calibri"/>
              </a:rPr>
              <a:t>With working steps</a:t>
            </a:r>
            <a:endParaRPr sz="12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97C3C0F-96D2-4DC4-977C-0F0EA5D2FC3B}"/>
              </a:ext>
            </a:extLst>
          </p:cNvPr>
          <p:cNvSpPr>
            <a:spLocks noGrp="1"/>
          </p:cNvSpPr>
          <p:nvPr/>
        </p:nvSpPr>
        <p:spPr>
          <a:xfrm>
            <a:off x="4754880" y="205740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040C18"/>
          </a:solidFill>
          <a:ln w="12700">
            <a:solidFill>
              <a:srgbClr val="152A42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CEF0E4B-FB5F-4E2D-9F8D-0F9800C02697}"/>
              </a:ext>
            </a:extLst>
          </p:cNvPr>
          <p:cNvSpPr>
            <a:spLocks noGrp="1"/>
          </p:cNvSpPr>
          <p:nvPr/>
        </p:nvSpPr>
        <p:spPr>
          <a:xfrm>
            <a:off x="4919472" y="217627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3EB44E3C-A506-4C73-B21A-770E162FB2FA}"/>
              </a:ext>
            </a:extLst>
          </p:cNvPr>
          <p:cNvSpPr>
            <a:spLocks noGrp="1"/>
          </p:cNvSpPr>
          <p:nvPr/>
        </p:nvSpPr>
        <p:spPr>
          <a:xfrm>
            <a:off x="5038344" y="217627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52795F21-03A5-4951-ACC6-DB9B3E83319E}"/>
              </a:ext>
            </a:extLst>
          </p:cNvPr>
          <p:cNvSpPr>
            <a:spLocks noGrp="1"/>
          </p:cNvSpPr>
          <p:nvPr/>
        </p:nvSpPr>
        <p:spPr>
          <a:xfrm>
            <a:off x="5157216" y="217627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B30F10E-D672-4801-9A61-E53B86633E8F}"/>
              </a:ext>
            </a:extLst>
          </p:cNvPr>
          <p:cNvSpPr>
            <a:spLocks noGrp="1"/>
          </p:cNvSpPr>
          <p:nvPr/>
        </p:nvSpPr>
        <p:spPr>
          <a:xfrm>
            <a:off x="4892040" y="2395728"/>
            <a:ext cx="3657600" cy="94183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I went to the market and bought 10 apples.</a:t>
            </a:r>
            <a:endParaRPr sz="800"/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I gave 2 to my neighbour and 2 to the</a:t>
            </a:r>
            <a:endParaRPr sz="800"/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repairman. I then bought 5 more and ate 1.</a:t>
            </a:r>
            <a:endParaRPr sz="800"/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How many apples do I have left?</a:t>
            </a:r>
            <a:endParaRPr sz="800"/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Show the calculation, then check the result.</a:t>
            </a:r>
            <a:endParaRPr sz="80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BB18193E-0D54-4F71-890F-0BECAB2FC25F}"/>
              </a:ext>
            </a:extLst>
          </p:cNvPr>
          <p:cNvSpPr>
            <a:spLocks noGrp="1"/>
          </p:cNvSpPr>
          <p:nvPr/>
        </p:nvSpPr>
        <p:spPr>
          <a:xfrm>
            <a:off x="4754880" y="3520440"/>
            <a:ext cx="3931920" cy="1115568"/>
          </a:xfrm>
          <a:prstGeom prst="roundRect">
            <a:avLst>
              <a:gd name="adj" fmla="val 6557"/>
            </a:avLst>
          </a:prstGeom>
          <a:solidFill>
            <a:srgbClr val="0A1E10"/>
          </a:solidFill>
          <a:ln w="12700">
            <a:solidFill>
              <a:srgbClr val="0A1E1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C895526-2E3D-4C05-94AF-E29737B6ECFF}"/>
              </a:ext>
            </a:extLst>
          </p:cNvPr>
          <p:cNvSpPr>
            <a:spLocks noGrp="1"/>
          </p:cNvSpPr>
          <p:nvPr/>
        </p:nvSpPr>
        <p:spPr>
          <a:xfrm>
            <a:off x="4892040" y="3566160"/>
            <a:ext cx="365760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>
                <a:solidFill>
                  <a:srgbClr val="34D399"/>
                </a:solidFill>
                <a:latin typeface="Calibri"/>
                <a:ea typeface="Calibri"/>
                <a:cs typeface="Calibri"/>
              </a:rPr>
              <a:t>Visible working steps make mistakes easier to spot. They can still be wrong.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8877914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C42017D-B7FA-4E6B-9370-389EF31B79E8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Technique 3  ·  Few-Shot Examples</a:t>
            </a:r>
            <a:endParaRPr sz="30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7A7C284-21C9-4DC0-822D-62D2B2FD7875}"/>
              </a:ext>
            </a:extLst>
          </p:cNvPr>
          <p:cNvSpPr>
            <a:spLocks noGrp="1"/>
          </p:cNvSpPr>
          <p:nvPr/>
        </p:nvSpPr>
        <p:spPr>
          <a:xfrm>
            <a:off x="457200" y="100584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0A2235"/>
          </a:solidFill>
          <a:ln w="12700">
            <a:solidFill>
              <a:srgbClr val="0A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4A399A4-7C5D-422C-8F4A-C15A77D9AF12}"/>
              </a:ext>
            </a:extLst>
          </p:cNvPr>
          <p:cNvSpPr>
            <a:spLocks noGrp="1"/>
          </p:cNvSpPr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Show the pattern you want continued. The model will match the format, tone, and structure of your examples.</a:t>
            </a:r>
            <a:endParaRPr sz="12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761B8DA-EE5A-4433-8C7F-0F991FDDBF45}"/>
              </a:ext>
            </a:extLst>
          </p:cNvPr>
          <p:cNvSpPr>
            <a:spLocks noGrp="1"/>
          </p:cNvSpPr>
          <p:nvPr/>
        </p:nvSpPr>
        <p:spPr>
          <a:xfrm>
            <a:off x="457200" y="155448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4248378-4009-46B0-A650-7B69B5E6B4F8}"/>
              </a:ext>
            </a:extLst>
          </p:cNvPr>
          <p:cNvSpPr>
            <a:spLocks noGrp="1"/>
          </p:cNvSpPr>
          <p:nvPr/>
        </p:nvSpPr>
        <p:spPr>
          <a:xfrm>
            <a:off x="594360" y="1627632"/>
            <a:ext cx="3657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Without examples</a:t>
            </a:r>
            <a:endParaRPr sz="12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AAC9923-80E6-4203-86C7-0F937D25785E}"/>
              </a:ext>
            </a:extLst>
          </p:cNvPr>
          <p:cNvSpPr>
            <a:spLocks noGrp="1"/>
          </p:cNvSpPr>
          <p:nvPr/>
        </p:nvSpPr>
        <p:spPr>
          <a:xfrm>
            <a:off x="548640" y="2011680"/>
            <a:ext cx="3749040" cy="2103120"/>
          </a:xfrm>
          <a:prstGeom prst="roundRect">
            <a:avLst>
              <a:gd name="adj" fmla="val 4348"/>
            </a:avLst>
          </a:prstGeom>
          <a:solidFill>
            <a:srgbClr val="040C18"/>
          </a:solidFill>
          <a:ln w="12700">
            <a:solidFill>
              <a:srgbClr val="152A42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351145B-6F83-49F9-A446-1A9A12078FF9}"/>
              </a:ext>
            </a:extLst>
          </p:cNvPr>
          <p:cNvSpPr>
            <a:spLocks noGrp="1"/>
          </p:cNvSpPr>
          <p:nvPr/>
        </p:nvSpPr>
        <p:spPr>
          <a:xfrm>
            <a:off x="713232" y="213055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FEA796A-9637-445D-9FF5-1CD0EF950908}"/>
              </a:ext>
            </a:extLst>
          </p:cNvPr>
          <p:cNvSpPr>
            <a:spLocks noGrp="1"/>
          </p:cNvSpPr>
          <p:nvPr/>
        </p:nvSpPr>
        <p:spPr>
          <a:xfrm>
            <a:off x="832104" y="213055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2A6D146-6B46-4077-B8C1-5A44706EAD1D}"/>
              </a:ext>
            </a:extLst>
          </p:cNvPr>
          <p:cNvSpPr>
            <a:spLocks noGrp="1"/>
          </p:cNvSpPr>
          <p:nvPr/>
        </p:nvSpPr>
        <p:spPr>
          <a:xfrm>
            <a:off x="950976" y="213055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0900E81-2A68-465C-9077-445F2DA552BA}"/>
              </a:ext>
            </a:extLst>
          </p:cNvPr>
          <p:cNvSpPr>
            <a:spLocks noGrp="1"/>
          </p:cNvSpPr>
          <p:nvPr/>
        </p:nvSpPr>
        <p:spPr>
          <a:xfrm>
            <a:off x="685800" y="2350008"/>
            <a:ext cx="3474720" cy="167335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Write a code review comment for:</a:t>
            </a:r>
            <a:endParaRPr sz="800"/>
          </a:p>
          <a:p>
            <a:pPr marL="0" indent="0">
              <a:buNone/>
            </a:pPr>
            <a:endParaRPr sz="800"/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def get_user(id):</a:t>
            </a:r>
            <a:endParaRPr sz="800"/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    return db.query(</a:t>
            </a:r>
            <a:endParaRPr sz="800"/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        "SELECT * FROM users "</a:t>
            </a:r>
            <a:endParaRPr sz="800"/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        "WHERE id=" + id</a:t>
            </a:r>
            <a:endParaRPr sz="800"/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    )</a:t>
            </a:r>
            <a:endParaRPr sz="8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28D9B57-9066-416B-85E0-6433A0148A45}"/>
              </a:ext>
            </a:extLst>
          </p:cNvPr>
          <p:cNvSpPr>
            <a:spLocks noGrp="1"/>
          </p:cNvSpPr>
          <p:nvPr/>
        </p:nvSpPr>
        <p:spPr>
          <a:xfrm>
            <a:off x="594360" y="4178808"/>
            <a:ext cx="374904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Result: some kind of comment — format varies every run.</a:t>
            </a:r>
            <a:endParaRPr sz="10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9086CB4-2DCF-425D-A38C-81530857E25B}"/>
              </a:ext>
            </a:extLst>
          </p:cNvPr>
          <p:cNvSpPr>
            <a:spLocks noGrp="1"/>
          </p:cNvSpPr>
          <p:nvPr/>
        </p:nvSpPr>
        <p:spPr>
          <a:xfrm>
            <a:off x="4572000" y="155448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AEE3669-6108-4A28-92BC-34CB8ED485E7}"/>
              </a:ext>
            </a:extLst>
          </p:cNvPr>
          <p:cNvSpPr>
            <a:spLocks noGrp="1"/>
          </p:cNvSpPr>
          <p:nvPr/>
        </p:nvSpPr>
        <p:spPr>
          <a:xfrm>
            <a:off x="4572000" y="1554480"/>
            <a:ext cx="41148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17CFCE8-F8A5-4752-8919-EF58E9B16B91}"/>
              </a:ext>
            </a:extLst>
          </p:cNvPr>
          <p:cNvSpPr>
            <a:spLocks noGrp="1"/>
          </p:cNvSpPr>
          <p:nvPr/>
        </p:nvSpPr>
        <p:spPr>
          <a:xfrm>
            <a:off x="4709160" y="1627632"/>
            <a:ext cx="38404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With two examples</a:t>
            </a:r>
            <a:endParaRPr sz="12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781AC30-F4CE-4DAE-BD6C-B7E6B17853D9}"/>
              </a:ext>
            </a:extLst>
          </p:cNvPr>
          <p:cNvSpPr>
            <a:spLocks noGrp="1"/>
          </p:cNvSpPr>
          <p:nvPr/>
        </p:nvSpPr>
        <p:spPr>
          <a:xfrm>
            <a:off x="4663440" y="2011680"/>
            <a:ext cx="3931920" cy="2423160"/>
          </a:xfrm>
          <a:prstGeom prst="roundRect">
            <a:avLst>
              <a:gd name="adj" fmla="val 3774"/>
            </a:avLst>
          </a:prstGeom>
          <a:solidFill>
            <a:srgbClr val="040C18"/>
          </a:solidFill>
          <a:ln w="12700">
            <a:solidFill>
              <a:srgbClr val="152A42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83D7A4B-2FC2-4382-A167-B12F4F3D50EC}"/>
              </a:ext>
            </a:extLst>
          </p:cNvPr>
          <p:cNvSpPr>
            <a:spLocks noGrp="1"/>
          </p:cNvSpPr>
          <p:nvPr/>
        </p:nvSpPr>
        <p:spPr>
          <a:xfrm>
            <a:off x="4828032" y="213055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BE1351E-831C-4690-998E-C7EA0A333FF2}"/>
              </a:ext>
            </a:extLst>
          </p:cNvPr>
          <p:cNvSpPr>
            <a:spLocks noGrp="1"/>
          </p:cNvSpPr>
          <p:nvPr/>
        </p:nvSpPr>
        <p:spPr>
          <a:xfrm>
            <a:off x="4946904" y="213055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17FC095-32B9-42D1-BE60-6CCBCD99C085}"/>
              </a:ext>
            </a:extLst>
          </p:cNvPr>
          <p:cNvSpPr>
            <a:spLocks noGrp="1"/>
          </p:cNvSpPr>
          <p:nvPr/>
        </p:nvSpPr>
        <p:spPr>
          <a:xfrm>
            <a:off x="5065776" y="213055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022B88A-C2EC-4B54-BAB3-FA034987D247}"/>
              </a:ext>
            </a:extLst>
          </p:cNvPr>
          <p:cNvSpPr>
            <a:spLocks noGrp="1"/>
          </p:cNvSpPr>
          <p:nvPr/>
        </p:nvSpPr>
        <p:spPr>
          <a:xfrm>
            <a:off x="4800600" y="2350008"/>
            <a:ext cx="3657600" cy="199339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75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# Example 1</a:t>
            </a:r>
            <a:endParaRPr sz="750"/>
          </a:p>
          <a:p>
            <a:pPr marL="0" indent="0">
              <a:buNone/>
            </a:pPr>
            <a:r>
              <a:rPr sz="75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Code: return items[0]</a:t>
            </a:r>
            <a:endParaRPr sz="750"/>
          </a:p>
          <a:p>
            <a:pPr marL="0" indent="0">
              <a:buNone/>
            </a:pPr>
            <a:r>
              <a:rPr sz="75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Comment: [BUG] No bounds check.</a:t>
            </a:r>
            <a:endParaRPr sz="750"/>
          </a:p>
          <a:p>
            <a:pPr marL="0" indent="0">
              <a:buNone/>
            </a:pPr>
            <a:r>
              <a:rPr sz="75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Suggest: return items[0] if items else None</a:t>
            </a:r>
            <a:endParaRPr sz="750"/>
          </a:p>
          <a:p>
            <a:pPr marL="0" indent="0">
              <a:buNone/>
            </a:pPr>
            <a:endParaRPr sz="750"/>
          </a:p>
          <a:p>
            <a:pPr marL="0" indent="0">
              <a:buNone/>
            </a:pPr>
            <a:r>
              <a:rPr sz="75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# Example 2</a:t>
            </a:r>
            <a:endParaRPr sz="750"/>
          </a:p>
          <a:p>
            <a:pPr marL="0" indent="0">
              <a:buNone/>
            </a:pPr>
            <a:r>
              <a:rPr sz="75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Code: password = request.get("password")</a:t>
            </a:r>
            <a:endParaRPr sz="750"/>
          </a:p>
          <a:p>
            <a:pPr marL="0" indent="0">
              <a:buNone/>
            </a:pPr>
            <a:r>
              <a:rPr sz="75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Comment: [SECURITY] Never log this.</a:t>
            </a:r>
            <a:endParaRPr sz="750"/>
          </a:p>
          <a:p>
            <a:pPr marL="0" indent="0">
              <a:buNone/>
            </a:pPr>
            <a:r>
              <a:rPr sz="75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Suggest: treat as sensitive from entry.</a:t>
            </a:r>
            <a:endParaRPr sz="750"/>
          </a:p>
          <a:p>
            <a:pPr marL="0" indent="0">
              <a:buNone/>
            </a:pPr>
            <a:endParaRPr sz="750"/>
          </a:p>
          <a:p>
            <a:pPr marL="0" indent="0">
              <a:buNone/>
            </a:pPr>
            <a:r>
              <a:rPr sz="75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# Now review:</a:t>
            </a:r>
            <a:endParaRPr sz="750"/>
          </a:p>
          <a:p>
            <a:pPr marL="0" indent="0">
              <a:buNone/>
            </a:pPr>
            <a:r>
              <a:rPr sz="75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def get_user(id): ...</a:t>
            </a:r>
            <a:endParaRPr sz="75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690A566-C1FC-4B84-AA08-D39EFD3C4788}"/>
              </a:ext>
            </a:extLst>
          </p:cNvPr>
          <p:cNvSpPr>
            <a:spLocks noGrp="1"/>
          </p:cNvSpPr>
          <p:nvPr/>
        </p:nvSpPr>
        <p:spPr>
          <a:xfrm>
            <a:off x="4663440" y="4498848"/>
            <a:ext cx="384048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Result: consistent format, severity tag, actionable fix — every time.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4861561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4DC518C-C77D-44CD-A17A-FE8E15C14C2C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Technique 4  ·  Output Format Control</a:t>
            </a:r>
            <a:endParaRPr sz="30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34362E3-87A4-4B3F-9D29-9DC07DEB988A}"/>
              </a:ext>
            </a:extLst>
          </p:cNvPr>
          <p:cNvSpPr>
            <a:spLocks noGrp="1"/>
          </p:cNvSpPr>
          <p:nvPr/>
        </p:nvSpPr>
        <p:spPr>
          <a:xfrm>
            <a:off x="457200" y="100584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0A2235"/>
          </a:solidFill>
          <a:ln w="12700">
            <a:solidFill>
              <a:srgbClr val="0A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57EFCB8-2BAC-4A5A-B0DB-E5758A4424D1}"/>
              </a:ext>
            </a:extLst>
          </p:cNvPr>
          <p:cNvSpPr>
            <a:spLocks noGrp="1"/>
          </p:cNvSpPr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Specify the structure — JSON, table, numbered steps. The model has seen these formats and will continue them reliably.</a:t>
            </a:r>
            <a:endParaRPr sz="12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2D866B8-54A2-411D-84E8-8D181C2D485F}"/>
              </a:ext>
            </a:extLst>
          </p:cNvPr>
          <p:cNvSpPr>
            <a:spLocks noGrp="1"/>
          </p:cNvSpPr>
          <p:nvPr/>
        </p:nvSpPr>
        <p:spPr>
          <a:xfrm>
            <a:off x="457200" y="1554480"/>
            <a:ext cx="8229600" cy="1600200"/>
          </a:xfrm>
          <a:prstGeom prst="roundRect">
            <a:avLst>
              <a:gd name="adj" fmla="val 5714"/>
            </a:avLst>
          </a:prstGeom>
          <a:solidFill>
            <a:srgbClr val="040C18"/>
          </a:solidFill>
          <a:ln w="12700">
            <a:solidFill>
              <a:srgbClr val="152A42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5ABF36D-DD1F-48CA-9DB4-F37654C773C8}"/>
              </a:ext>
            </a:extLst>
          </p:cNvPr>
          <p:cNvSpPr>
            <a:spLocks noGrp="1"/>
          </p:cNvSpPr>
          <p:nvPr/>
        </p:nvSpPr>
        <p:spPr>
          <a:xfrm>
            <a:off x="621792" y="167335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71C8767-E6E8-4145-9279-655FE471AA0E}"/>
              </a:ext>
            </a:extLst>
          </p:cNvPr>
          <p:cNvSpPr>
            <a:spLocks noGrp="1"/>
          </p:cNvSpPr>
          <p:nvPr/>
        </p:nvSpPr>
        <p:spPr>
          <a:xfrm>
            <a:off x="740664" y="167335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D46AE5F-DDD3-4782-9843-BC02E1BA6841}"/>
              </a:ext>
            </a:extLst>
          </p:cNvPr>
          <p:cNvSpPr>
            <a:spLocks noGrp="1"/>
          </p:cNvSpPr>
          <p:nvPr/>
        </p:nvSpPr>
        <p:spPr>
          <a:xfrm>
            <a:off x="859536" y="167335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A0B8388-241F-4FF7-AEE5-066187D9265F}"/>
              </a:ext>
            </a:extLst>
          </p:cNvPr>
          <p:cNvSpPr>
            <a:spLocks noGrp="1"/>
          </p:cNvSpPr>
          <p:nvPr/>
        </p:nvSpPr>
        <p:spPr>
          <a:xfrm>
            <a:off x="594360" y="1892808"/>
            <a:ext cx="7955280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85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Review this function. Respond ONLY with a JSON object with these exact fields:</a:t>
            </a:r>
            <a:endParaRPr sz="850"/>
          </a:p>
          <a:p>
            <a:pPr marL="0" indent="0">
              <a:buNone/>
            </a:pPr>
            <a:r>
              <a:rPr sz="85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"severity" (low | medium | high), "issue" (one sentence), "suggestion" (one sentence),</a:t>
            </a:r>
            <a:endParaRPr sz="850"/>
          </a:p>
          <a:p>
            <a:pPr marL="0" indent="0">
              <a:buNone/>
            </a:pPr>
            <a:r>
              <a:rPr sz="85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"example_fix" (code only). No explanation outside the JSON.</a:t>
            </a:r>
            <a:endParaRPr sz="850"/>
          </a:p>
          <a:p>
            <a:pPr marL="0" indent="0">
              <a:buNone/>
            </a:pPr>
            <a:endParaRPr sz="850"/>
          </a:p>
          <a:p>
            <a:pPr marL="0" indent="0">
              <a:buNone/>
            </a:pPr>
            <a:r>
              <a:rPr sz="85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def calculate_discount(price, discount):</a:t>
            </a:r>
            <a:endParaRPr sz="850"/>
          </a:p>
          <a:p>
            <a:pPr marL="0" indent="0">
              <a:buNone/>
            </a:pPr>
            <a:r>
              <a:rPr sz="85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    return price - discount</a:t>
            </a:r>
            <a:endParaRPr sz="8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C37962F-3003-4C49-989F-2D464961FFBE}"/>
              </a:ext>
            </a:extLst>
          </p:cNvPr>
          <p:cNvSpPr>
            <a:spLocks noGrp="1"/>
          </p:cNvSpPr>
          <p:nvPr/>
        </p:nvSpPr>
        <p:spPr>
          <a:xfrm>
            <a:off x="4039870" y="3313430"/>
            <a:ext cx="36576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FD0DE68-1F99-4688-90A1-A93BDA3A2DD1}"/>
              </a:ext>
            </a:extLst>
          </p:cNvPr>
          <p:cNvSpPr>
            <a:spLocks noGrp="1"/>
          </p:cNvSpPr>
          <p:nvPr/>
        </p:nvSpPr>
        <p:spPr>
          <a:xfrm>
            <a:off x="457200" y="3420110"/>
            <a:ext cx="5303520" cy="1645920"/>
          </a:xfrm>
          <a:prstGeom prst="roundRect">
            <a:avLst>
              <a:gd name="adj" fmla="val 5556"/>
            </a:avLst>
          </a:prstGeom>
          <a:solidFill>
            <a:srgbClr val="040C18"/>
          </a:solidFill>
          <a:ln w="12700">
            <a:solidFill>
              <a:srgbClr val="152A42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22359AE-B9E8-44AB-8DB5-BAF84CD12FD3}"/>
              </a:ext>
            </a:extLst>
          </p:cNvPr>
          <p:cNvSpPr>
            <a:spLocks noGrp="1"/>
          </p:cNvSpPr>
          <p:nvPr/>
        </p:nvSpPr>
        <p:spPr>
          <a:xfrm>
            <a:off x="621792" y="353898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A135506-86DB-41AE-9159-E362ADF8DF7B}"/>
              </a:ext>
            </a:extLst>
          </p:cNvPr>
          <p:cNvSpPr>
            <a:spLocks noGrp="1"/>
          </p:cNvSpPr>
          <p:nvPr/>
        </p:nvSpPr>
        <p:spPr>
          <a:xfrm>
            <a:off x="740664" y="353898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A96F32B-3E0F-4A5D-B5B1-D5E1744B4F0A}"/>
              </a:ext>
            </a:extLst>
          </p:cNvPr>
          <p:cNvSpPr>
            <a:spLocks noGrp="1"/>
          </p:cNvSpPr>
          <p:nvPr/>
        </p:nvSpPr>
        <p:spPr>
          <a:xfrm>
            <a:off x="859536" y="353898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6506174-D941-4F92-925D-DE26DE400888}"/>
              </a:ext>
            </a:extLst>
          </p:cNvPr>
          <p:cNvSpPr>
            <a:spLocks noGrp="1"/>
          </p:cNvSpPr>
          <p:nvPr/>
        </p:nvSpPr>
        <p:spPr>
          <a:xfrm>
            <a:off x="594360" y="3752088"/>
            <a:ext cx="5029200" cy="121615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{</a:t>
            </a:r>
            <a:endParaRPr sz="800"/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  "severity": "high",</a:t>
            </a:r>
            <a:endParaRPr sz="800"/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  "issue": "No validation — negative discount or discount &gt; price produces wrong results.",</a:t>
            </a:r>
            <a:endParaRPr sz="800"/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  "suggestion": "Add guard clauses for discount range and type before computing.",</a:t>
            </a:r>
            <a:endParaRPr sz="800"/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  "example_fix": "if not (0 &lt;= discount &lt;= price): raise ValueError('Invalid discount')"</a:t>
            </a:r>
            <a:endParaRPr sz="800"/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}</a:t>
            </a:r>
            <a:endParaRPr sz="8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33D404D-1A2C-4803-927A-3255F3FD36FB}"/>
              </a:ext>
            </a:extLst>
          </p:cNvPr>
          <p:cNvSpPr>
            <a:spLocks noGrp="1"/>
          </p:cNvSpPr>
          <p:nvPr/>
        </p:nvSpPr>
        <p:spPr>
          <a:xfrm>
            <a:off x="5943600" y="3420110"/>
            <a:ext cx="2788920" cy="1645920"/>
          </a:xfrm>
          <a:prstGeom prst="roundRect">
            <a:avLst>
              <a:gd name="adj" fmla="val 5556"/>
            </a:avLst>
          </a:prstGeom>
          <a:solidFill>
            <a:srgbClr val="0A1430"/>
          </a:solidFill>
          <a:ln w="12700">
            <a:solidFill>
              <a:srgbClr val="0A1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715E839-6DE2-4FC3-BB1A-E9FF6159005B}"/>
              </a:ext>
            </a:extLst>
          </p:cNvPr>
          <p:cNvSpPr>
            <a:spLocks noGrp="1"/>
          </p:cNvSpPr>
          <p:nvPr/>
        </p:nvSpPr>
        <p:spPr>
          <a:xfrm>
            <a:off x="6035040" y="3657600"/>
            <a:ext cx="260604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This is now a</a:t>
            </a:r>
            <a:endParaRPr sz="1100"/>
          </a:p>
          <a:p>
            <a:pPr marL="0" indent="0">
              <a:buNone/>
            </a:pPr>
            <a:r>
              <a:rPr sz="11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program interface:</a:t>
            </a:r>
            <a:endParaRPr sz="11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BA84AC5-6862-40A8-8190-AE1C6C6D6B47}"/>
              </a:ext>
            </a:extLst>
          </p:cNvPr>
          <p:cNvSpPr>
            <a:spLocks noGrp="1"/>
          </p:cNvSpPr>
          <p:nvPr/>
        </p:nvSpPr>
        <p:spPr>
          <a:xfrm>
            <a:off x="6035040" y="4206240"/>
            <a:ext cx="26060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review = json.loads(result)
if review["severity"] == "high":
</a:t>
            </a:r>
            <a:r>
              <a:rPr sz="800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    block_merge(review["suggestion"])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213305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D485B60-E542-464E-8C56-8933142C01B4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Technique 5  ·  System Prompt vs User Prompt</a:t>
            </a:r>
            <a:endParaRPr sz="30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7CBD2FB-D57E-429C-A4A1-320BE3443B6E}"/>
              </a:ext>
            </a:extLst>
          </p:cNvPr>
          <p:cNvSpPr>
            <a:spLocks noGrp="1"/>
          </p:cNvSpPr>
          <p:nvPr/>
        </p:nvSpPr>
        <p:spPr>
          <a:xfrm>
            <a:off x="457200" y="100584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0A2235"/>
          </a:solidFill>
          <a:ln w="12700">
            <a:solidFill>
              <a:srgbClr val="0A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E48A68A-0D8F-40B0-B75C-4958E3F55E8D}"/>
              </a:ext>
            </a:extLst>
          </p:cNvPr>
          <p:cNvSpPr>
            <a:spLocks noGrp="1"/>
          </p:cNvSpPr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The application sends system instructions before the user message. They define general behaviour for the request or session.</a:t>
            </a:r>
            <a:endParaRPr sz="12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3D28911-356D-4513-97F9-2073754059F3}"/>
              </a:ext>
            </a:extLst>
          </p:cNvPr>
          <p:cNvSpPr>
            <a:spLocks noGrp="1"/>
          </p:cNvSpPr>
          <p:nvPr/>
        </p:nvSpPr>
        <p:spPr>
          <a:xfrm>
            <a:off x="457200" y="160020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9BE151D-9A0C-4697-A325-0E61347D495F}"/>
              </a:ext>
            </a:extLst>
          </p:cNvPr>
          <p:cNvSpPr>
            <a:spLocks noGrp="1"/>
          </p:cNvSpPr>
          <p:nvPr/>
        </p:nvSpPr>
        <p:spPr>
          <a:xfrm>
            <a:off x="594360" y="1664208"/>
            <a:ext cx="3657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System prompt A</a:t>
            </a:r>
            <a:endParaRPr sz="11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1DA989A-85FA-42AB-89A4-A2FC30DC7136}"/>
              </a:ext>
            </a:extLst>
          </p:cNvPr>
          <p:cNvSpPr>
            <a:spLocks noGrp="1"/>
          </p:cNvSpPr>
          <p:nvPr/>
        </p:nvSpPr>
        <p:spPr>
          <a:xfrm>
            <a:off x="548640" y="2011680"/>
            <a:ext cx="3749040" cy="1051560"/>
          </a:xfrm>
          <a:prstGeom prst="roundRect">
            <a:avLst>
              <a:gd name="adj" fmla="val 8696"/>
            </a:avLst>
          </a:prstGeom>
          <a:solidFill>
            <a:srgbClr val="040C18"/>
          </a:solidFill>
          <a:ln w="12700">
            <a:solidFill>
              <a:srgbClr val="152A42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36AD63E-61EF-49A6-9411-D669A6415574}"/>
              </a:ext>
            </a:extLst>
          </p:cNvPr>
          <p:cNvSpPr>
            <a:spLocks noGrp="1"/>
          </p:cNvSpPr>
          <p:nvPr/>
        </p:nvSpPr>
        <p:spPr>
          <a:xfrm>
            <a:off x="713232" y="213055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A1858B9-F876-4092-B2D3-48E5FEF8E809}"/>
              </a:ext>
            </a:extLst>
          </p:cNvPr>
          <p:cNvSpPr>
            <a:spLocks noGrp="1"/>
          </p:cNvSpPr>
          <p:nvPr/>
        </p:nvSpPr>
        <p:spPr>
          <a:xfrm>
            <a:off x="832104" y="213055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D9FAE79-4808-4E05-9187-361BF68A8B27}"/>
              </a:ext>
            </a:extLst>
          </p:cNvPr>
          <p:cNvSpPr>
            <a:spLocks noGrp="1"/>
          </p:cNvSpPr>
          <p:nvPr/>
        </p:nvSpPr>
        <p:spPr>
          <a:xfrm>
            <a:off x="950976" y="213055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3F29467-D2D2-47CA-90D1-A32EE4B3B46D}"/>
              </a:ext>
            </a:extLst>
          </p:cNvPr>
          <p:cNvSpPr>
            <a:spLocks noGrp="1"/>
          </p:cNvSpPr>
          <p:nvPr/>
        </p:nvSpPr>
        <p:spPr>
          <a:xfrm>
            <a:off x="685800" y="2350008"/>
            <a:ext cx="347472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You are a senior engineer mentoring a junior dev.</a:t>
            </a:r>
            <a:endParaRPr sz="800"/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Explain everything with everyday analogies.</a:t>
            </a:r>
            <a:endParaRPr sz="800"/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Never use jargon without defining it first.</a:t>
            </a:r>
            <a:endParaRPr sz="8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0DB3EDE-1CBD-4393-AA2F-220FCCD5EF62}"/>
              </a:ext>
            </a:extLst>
          </p:cNvPr>
          <p:cNvSpPr>
            <a:spLocks noGrp="1"/>
          </p:cNvSpPr>
          <p:nvPr/>
        </p:nvSpPr>
        <p:spPr>
          <a:xfrm>
            <a:off x="4754880" y="160020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8F09B68-3456-4884-83F3-719DE3BA0A73}"/>
              </a:ext>
            </a:extLst>
          </p:cNvPr>
          <p:cNvSpPr>
            <a:spLocks noGrp="1"/>
          </p:cNvSpPr>
          <p:nvPr/>
        </p:nvSpPr>
        <p:spPr>
          <a:xfrm>
            <a:off x="4892040" y="1664208"/>
            <a:ext cx="3657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A78BFA"/>
                </a:solidFill>
                <a:latin typeface="Calibri"/>
                <a:ea typeface="Calibri"/>
                <a:cs typeface="Calibri"/>
              </a:rPr>
              <a:t>System prompt B</a:t>
            </a:r>
            <a:endParaRPr sz="11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1DC4B6A-4633-4C7E-90F8-ADFCD8C5058F}"/>
              </a:ext>
            </a:extLst>
          </p:cNvPr>
          <p:cNvSpPr>
            <a:spLocks noGrp="1"/>
          </p:cNvSpPr>
          <p:nvPr/>
        </p:nvSpPr>
        <p:spPr>
          <a:xfrm>
            <a:off x="4846320" y="2011680"/>
            <a:ext cx="3749040" cy="1051560"/>
          </a:xfrm>
          <a:prstGeom prst="roundRect">
            <a:avLst>
              <a:gd name="adj" fmla="val 8696"/>
            </a:avLst>
          </a:prstGeom>
          <a:solidFill>
            <a:srgbClr val="040C18"/>
          </a:solidFill>
          <a:ln w="12700">
            <a:solidFill>
              <a:srgbClr val="152A42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C4FE522-C392-4E18-A074-7E9C5863B9DD}"/>
              </a:ext>
            </a:extLst>
          </p:cNvPr>
          <p:cNvSpPr>
            <a:spLocks noGrp="1"/>
          </p:cNvSpPr>
          <p:nvPr/>
        </p:nvSpPr>
        <p:spPr>
          <a:xfrm>
            <a:off x="5010912" y="213055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93B01EA-61CD-44A3-AE77-66FC458AA4E9}"/>
              </a:ext>
            </a:extLst>
          </p:cNvPr>
          <p:cNvSpPr>
            <a:spLocks noGrp="1"/>
          </p:cNvSpPr>
          <p:nvPr/>
        </p:nvSpPr>
        <p:spPr>
          <a:xfrm>
            <a:off x="5129784" y="213055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19670DD-084F-4213-B0CC-7F595EB8612B}"/>
              </a:ext>
            </a:extLst>
          </p:cNvPr>
          <p:cNvSpPr>
            <a:spLocks noGrp="1"/>
          </p:cNvSpPr>
          <p:nvPr/>
        </p:nvSpPr>
        <p:spPr>
          <a:xfrm>
            <a:off x="5248656" y="213055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B4A4B63-0306-4EB8-90BC-66B85DFB6787}"/>
              </a:ext>
            </a:extLst>
          </p:cNvPr>
          <p:cNvSpPr>
            <a:spLocks noGrp="1"/>
          </p:cNvSpPr>
          <p:nvPr/>
        </p:nvSpPr>
        <p:spPr>
          <a:xfrm>
            <a:off x="4983480" y="2350008"/>
            <a:ext cx="347472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You are a code reviewer for a senior team.</a:t>
            </a:r>
            <a:endParaRPr sz="800"/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Be terse. Identify issues only.</a:t>
            </a:r>
            <a:endParaRPr sz="800"/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Output as bullet points. No encouragement.</a:t>
            </a:r>
            <a:endParaRPr sz="8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084F5B6C-FD3F-413D-8E4F-55E0A3346CB2}"/>
              </a:ext>
            </a:extLst>
          </p:cNvPr>
          <p:cNvSpPr>
            <a:spLocks noGrp="1"/>
          </p:cNvSpPr>
          <p:nvPr/>
        </p:nvSpPr>
        <p:spPr>
          <a:xfrm>
            <a:off x="2377440" y="3200400"/>
            <a:ext cx="0" cy="32004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A3BD7B83-4235-4088-9E93-05719200EFE8}"/>
              </a:ext>
            </a:extLst>
          </p:cNvPr>
          <p:cNvSpPr>
            <a:spLocks noGrp="1"/>
          </p:cNvSpPr>
          <p:nvPr/>
        </p:nvSpPr>
        <p:spPr>
          <a:xfrm>
            <a:off x="6720840" y="3200400"/>
            <a:ext cx="0" cy="32004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F5D28AD-91F9-4369-B0D2-2596853F3709}"/>
              </a:ext>
            </a:extLst>
          </p:cNvPr>
          <p:cNvSpPr>
            <a:spLocks noGrp="1"/>
          </p:cNvSpPr>
          <p:nvPr/>
        </p:nvSpPr>
        <p:spPr>
          <a:xfrm>
            <a:off x="1371600" y="3566160"/>
            <a:ext cx="6400800" cy="822960"/>
          </a:xfrm>
          <a:prstGeom prst="roundRect">
            <a:avLst>
              <a:gd name="adj" fmla="val 11111"/>
            </a:avLst>
          </a:prstGeom>
          <a:solidFill>
            <a:srgbClr val="0D2840"/>
          </a:solidFill>
          <a:ln w="12700">
            <a:solidFill>
              <a:srgbClr val="0D28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03826DD-E879-4381-ADBC-94AE8A4B4900}"/>
              </a:ext>
            </a:extLst>
          </p:cNvPr>
          <p:cNvSpPr>
            <a:spLocks noGrp="1"/>
          </p:cNvSpPr>
          <p:nvPr/>
        </p:nvSpPr>
        <p:spPr>
          <a:xfrm>
            <a:off x="1508760" y="3593592"/>
            <a:ext cx="18288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User prompt (identical):</a:t>
            </a:r>
            <a:endParaRPr sz="10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5E9EAF8-C3CB-431E-8143-6684992B6E30}"/>
              </a:ext>
            </a:extLst>
          </p:cNvPr>
          <p:cNvSpPr>
            <a:spLocks noGrp="1"/>
          </p:cNvSpPr>
          <p:nvPr/>
        </p:nvSpPr>
        <p:spPr>
          <a:xfrm>
            <a:off x="3429000" y="3593592"/>
            <a:ext cx="416052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What is a database index and when should I use one?</a:t>
            </a:r>
            <a:endParaRPr sz="100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C8823BB1-FB90-4E73-8B3B-86791E163C75}"/>
              </a:ext>
            </a:extLst>
          </p:cNvPr>
          <p:cNvSpPr>
            <a:spLocks noGrp="1"/>
          </p:cNvSpPr>
          <p:nvPr/>
        </p:nvSpPr>
        <p:spPr>
          <a:xfrm>
            <a:off x="457200" y="4572000"/>
            <a:ext cx="8229600" cy="384048"/>
          </a:xfrm>
          <a:prstGeom prst="roundRect">
            <a:avLst>
              <a:gd name="adj" fmla="val 19048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860D632-AB5E-4768-8411-B2CB9ED8A6E3}"/>
              </a:ext>
            </a:extLst>
          </p:cNvPr>
          <p:cNvSpPr>
            <a:spLocks noGrp="1"/>
          </p:cNvSpPr>
          <p:nvPr/>
        </p:nvSpPr>
        <p:spPr>
          <a:xfrm>
            <a:off x="594360" y="4590288"/>
            <a:ext cx="79552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85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&gt; docker model run ai/smollm2 </a:t>
            </a:r>
            <a:br/>
            <a:r>
              <a:rPr sz="85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&gt; /set system "You are a terse code reviewer. Identify issues only. Bullet points."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5190488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3C61F9F-AF1D-CA26-5A9B-15000615AB85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Practice 2: Prompting techniques</a:t>
            </a:r>
            <a:endParaRPr sz="300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81C4F5F6-A6BB-B75A-2D27-9800BC263D41}"/>
              </a:ext>
            </a:extLst>
          </p:cNvPr>
          <p:cNvSpPr>
            <a:spLocks noGrp="1"/>
          </p:cNvSpPr>
          <p:nvPr/>
        </p:nvSpPr>
        <p:spPr>
          <a:xfrm>
            <a:off x="355962" y="1286690"/>
            <a:ext cx="8432075" cy="3277145"/>
          </a:xfrm>
          <a:prstGeom prst="roundRect">
            <a:avLst>
              <a:gd name="adj" fmla="val 8696"/>
            </a:avLst>
          </a:prstGeom>
          <a:solidFill>
            <a:srgbClr val="040C18"/>
          </a:solidFill>
          <a:ln w="12700">
            <a:solidFill>
              <a:srgbClr val="152A42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AD16ED52-8E48-A287-7D4D-7E6A010697B1}"/>
              </a:ext>
            </a:extLst>
          </p:cNvPr>
          <p:cNvSpPr>
            <a:spLocks noGrp="1"/>
          </p:cNvSpPr>
          <p:nvPr/>
        </p:nvSpPr>
        <p:spPr>
          <a:xfrm>
            <a:off x="520555" y="1405563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F4BAD6D2-6051-CDA6-933B-57FA762FED36}"/>
              </a:ext>
            </a:extLst>
          </p:cNvPr>
          <p:cNvSpPr>
            <a:spLocks noGrp="1"/>
          </p:cNvSpPr>
          <p:nvPr/>
        </p:nvSpPr>
        <p:spPr>
          <a:xfrm>
            <a:off x="639427" y="1405563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494DA8F6-DA6A-8A75-A0A1-28AC577D0A3D}"/>
              </a:ext>
            </a:extLst>
          </p:cNvPr>
          <p:cNvSpPr>
            <a:spLocks noGrp="1"/>
          </p:cNvSpPr>
          <p:nvPr/>
        </p:nvSpPr>
        <p:spPr>
          <a:xfrm>
            <a:off x="758299" y="1405563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CF083CDE-EFA0-2DCE-E445-FD7ADED63825}"/>
              </a:ext>
            </a:extLst>
          </p:cNvPr>
          <p:cNvSpPr>
            <a:spLocks noGrp="1"/>
          </p:cNvSpPr>
          <p:nvPr/>
        </p:nvSpPr>
        <p:spPr>
          <a:xfrm>
            <a:off x="493122" y="1625018"/>
            <a:ext cx="8172451" cy="2546931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4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# Checkout Practice 2</a:t>
            </a:r>
          </a:p>
          <a:p>
            <a:pPr marL="0" indent="0">
              <a:buNone/>
            </a:pPr>
            <a:r>
              <a:rPr sz="14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git fetch origin</a:t>
            </a:r>
          </a:p>
          <a:p>
            <a:pPr marL="0" indent="0">
              <a:buNone/>
            </a:pPr>
            <a:r>
              <a:rPr sz="14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git switch practice-2</a:t>
            </a:r>
          </a:p>
          <a:p>
            <a:pPr marL="0" indent="0">
              <a:buNone/>
            </a:pPr>
            <a:endParaRPr sz="1400">
              <a:solidFill>
                <a:srgbClr val="A8C6DF"/>
              </a:solidFill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sz="14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# Start reading MD guidelines</a:t>
            </a:r>
          </a:p>
        </p:txBody>
      </p:sp>
    </p:spTree>
    <p:extLst>
      <p:ext uri="{BB962C8B-B14F-4D97-AF65-F5344CB8AC3E}">
        <p14:creationId xmlns:p14="http://schemas.microsoft.com/office/powerpoint/2010/main" val="42658953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418AD54-F6C8-40DC-8F2E-C10DC96120B8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Build a Prompt in Layers</a:t>
            </a:r>
            <a:endParaRPr sz="30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9D05917-3CCF-3540-E025-FF3778B1937E}"/>
              </a:ext>
            </a:extLst>
          </p:cNvPr>
          <p:cNvSpPr>
            <a:spLocks noGrp="1"/>
          </p:cNvSpPr>
          <p:nvPr/>
        </p:nvSpPr>
        <p:spPr>
          <a:xfrm>
            <a:off x="457200" y="1463040"/>
            <a:ext cx="457200" cy="502920"/>
          </a:xfrm>
          <a:prstGeom prst="roundRect">
            <a:avLst>
              <a:gd name="adj" fmla="val 16000"/>
            </a:avLst>
          </a:prstGeom>
          <a:solidFill>
            <a:srgbClr val="6B8FAD"/>
          </a:solidFill>
          <a:ln w="12700">
            <a:solidFill>
              <a:srgbClr val="6B8FA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E599324-F3E9-316F-7C84-8CFB841A56E0}"/>
              </a:ext>
            </a:extLst>
          </p:cNvPr>
          <p:cNvSpPr>
            <a:spLocks noGrp="1"/>
          </p:cNvSpPr>
          <p:nvPr/>
        </p:nvSpPr>
        <p:spPr>
          <a:xfrm>
            <a:off x="457200" y="1463040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07111F"/>
                </a:solidFill>
                <a:latin typeface="Trebuchet MS"/>
                <a:ea typeface="Trebuchet MS"/>
                <a:cs typeface="Trebuchet MS"/>
              </a:rPr>
              <a:t>1</a:t>
            </a:r>
            <a:endParaRPr sz="18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7B712DE-E09C-1C28-8B35-CF3029163F41}"/>
              </a:ext>
            </a:extLst>
          </p:cNvPr>
          <p:cNvSpPr>
            <a:spLocks noGrp="1"/>
          </p:cNvSpPr>
          <p:nvPr/>
        </p:nvSpPr>
        <p:spPr>
          <a:xfrm>
            <a:off x="1051560" y="1481328"/>
            <a:ext cx="2743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Bare prompt</a:t>
            </a:r>
            <a:endParaRPr sz="12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2DED70D-80CA-3B58-2CF1-B96409B2C842}"/>
              </a:ext>
            </a:extLst>
          </p:cNvPr>
          <p:cNvSpPr>
            <a:spLocks noGrp="1"/>
          </p:cNvSpPr>
          <p:nvPr/>
        </p:nvSpPr>
        <p:spPr>
          <a:xfrm>
            <a:off x="1051560" y="1719072"/>
            <a:ext cx="749808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Just the question — observe the default</a:t>
            </a:r>
            <a:endParaRPr sz="10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4EB8EF8-2E11-21F1-9922-3E9C987AEF7C}"/>
              </a:ext>
            </a:extLst>
          </p:cNvPr>
          <p:cNvSpPr>
            <a:spLocks noGrp="1"/>
          </p:cNvSpPr>
          <p:nvPr/>
        </p:nvSpPr>
        <p:spPr>
          <a:xfrm>
            <a:off x="667512" y="1965960"/>
            <a:ext cx="0" cy="164592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4F4928A-64F1-FD26-16AF-D60F94B08E4A}"/>
              </a:ext>
            </a:extLst>
          </p:cNvPr>
          <p:cNvSpPr>
            <a:spLocks noGrp="1"/>
          </p:cNvSpPr>
          <p:nvPr/>
        </p:nvSpPr>
        <p:spPr>
          <a:xfrm>
            <a:off x="457200" y="2130552"/>
            <a:ext cx="457200" cy="502920"/>
          </a:xfrm>
          <a:prstGeom prst="roundRect">
            <a:avLst>
              <a:gd name="adj" fmla="val 16000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E6F81B7-88DE-E976-91B7-1B06E69C8754}"/>
              </a:ext>
            </a:extLst>
          </p:cNvPr>
          <p:cNvSpPr>
            <a:spLocks noGrp="1"/>
          </p:cNvSpPr>
          <p:nvPr/>
        </p:nvSpPr>
        <p:spPr>
          <a:xfrm>
            <a:off x="457200" y="2130552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07111F"/>
                </a:solidFill>
                <a:latin typeface="Trebuchet MS"/>
                <a:ea typeface="Trebuchet MS"/>
                <a:cs typeface="Trebuchet MS"/>
              </a:rPr>
              <a:t>2</a:t>
            </a:r>
            <a:endParaRPr sz="18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E8A81D2-F79A-75EE-A19E-E79AFDBEBC4B}"/>
              </a:ext>
            </a:extLst>
          </p:cNvPr>
          <p:cNvSpPr>
            <a:spLocks noGrp="1"/>
          </p:cNvSpPr>
          <p:nvPr/>
        </p:nvSpPr>
        <p:spPr>
          <a:xfrm>
            <a:off x="1051560" y="2148840"/>
            <a:ext cx="2743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+ Role</a:t>
            </a:r>
            <a:endParaRPr sz="12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4A16B02-AD1E-4859-B55F-F441D65EA245}"/>
              </a:ext>
            </a:extLst>
          </p:cNvPr>
          <p:cNvSpPr>
            <a:spLocks noGrp="1"/>
          </p:cNvSpPr>
          <p:nvPr/>
        </p:nvSpPr>
        <p:spPr>
          <a:xfrm>
            <a:off x="1051560" y="2386584"/>
            <a:ext cx="749808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Add senior engineer mentor — observe the shift</a:t>
            </a:r>
            <a:endParaRPr sz="10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81CAEFD-C2C3-899D-8586-F91E942B41C8}"/>
              </a:ext>
            </a:extLst>
          </p:cNvPr>
          <p:cNvSpPr>
            <a:spLocks noGrp="1"/>
          </p:cNvSpPr>
          <p:nvPr/>
        </p:nvSpPr>
        <p:spPr>
          <a:xfrm>
            <a:off x="667512" y="2633472"/>
            <a:ext cx="0" cy="164592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092C7FB-810F-43EB-B77B-88861959E35E}"/>
              </a:ext>
            </a:extLst>
          </p:cNvPr>
          <p:cNvSpPr>
            <a:spLocks noGrp="1"/>
          </p:cNvSpPr>
          <p:nvPr/>
        </p:nvSpPr>
        <p:spPr>
          <a:xfrm>
            <a:off x="457200" y="2798064"/>
            <a:ext cx="457200" cy="502920"/>
          </a:xfrm>
          <a:prstGeom prst="roundRect">
            <a:avLst>
              <a:gd name="adj" fmla="val 16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D17DECB-485E-9C4F-5459-675B7B1E7D4C}"/>
              </a:ext>
            </a:extLst>
          </p:cNvPr>
          <p:cNvSpPr>
            <a:spLocks noGrp="1"/>
          </p:cNvSpPr>
          <p:nvPr/>
        </p:nvSpPr>
        <p:spPr>
          <a:xfrm>
            <a:off x="457200" y="2798064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07111F"/>
                </a:solidFill>
                <a:latin typeface="Trebuchet MS"/>
                <a:ea typeface="Trebuchet MS"/>
                <a:cs typeface="Trebuchet MS"/>
              </a:rPr>
              <a:t>3</a:t>
            </a:r>
            <a:endParaRPr sz="18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2794622-E99C-0D62-6B34-6B7E4726EC36}"/>
              </a:ext>
            </a:extLst>
          </p:cNvPr>
          <p:cNvSpPr>
            <a:spLocks noGrp="1"/>
          </p:cNvSpPr>
          <p:nvPr/>
        </p:nvSpPr>
        <p:spPr>
          <a:xfrm>
            <a:off x="1051560" y="2816352"/>
            <a:ext cx="2743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34D399"/>
                </a:solidFill>
                <a:latin typeface="Calibri"/>
                <a:ea typeface="Calibri"/>
                <a:cs typeface="Calibri"/>
              </a:rPr>
              <a:t>+ Working steps</a:t>
            </a:r>
            <a:endParaRPr sz="12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99C0665-AD96-F1A3-E667-D5462A00452A}"/>
              </a:ext>
            </a:extLst>
          </p:cNvPr>
          <p:cNvSpPr>
            <a:spLocks noGrp="1"/>
          </p:cNvSpPr>
          <p:nvPr/>
        </p:nvSpPr>
        <p:spPr>
          <a:xfrm>
            <a:off x="1051560" y="3054096"/>
            <a:ext cx="749808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Ask for a short plan and a final trade-off check</a:t>
            </a:r>
            <a:endParaRPr sz="10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E2D72EC-CFE8-4CCA-1767-F9D3841AE699}"/>
              </a:ext>
            </a:extLst>
          </p:cNvPr>
          <p:cNvSpPr>
            <a:spLocks noGrp="1"/>
          </p:cNvSpPr>
          <p:nvPr/>
        </p:nvSpPr>
        <p:spPr>
          <a:xfrm>
            <a:off x="667512" y="3300984"/>
            <a:ext cx="0" cy="164592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7D67456B-8658-F9F0-5D44-791506FB018D}"/>
              </a:ext>
            </a:extLst>
          </p:cNvPr>
          <p:cNvSpPr>
            <a:spLocks noGrp="1"/>
          </p:cNvSpPr>
          <p:nvPr/>
        </p:nvSpPr>
        <p:spPr>
          <a:xfrm>
            <a:off x="457200" y="3465576"/>
            <a:ext cx="457200" cy="502920"/>
          </a:xfrm>
          <a:prstGeom prst="roundRect">
            <a:avLst>
              <a:gd name="adj" fmla="val 16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4EA5D6D-FC73-EFD9-5BD1-6FE938CFE8EA}"/>
              </a:ext>
            </a:extLst>
          </p:cNvPr>
          <p:cNvSpPr>
            <a:spLocks noGrp="1"/>
          </p:cNvSpPr>
          <p:nvPr/>
        </p:nvSpPr>
        <p:spPr>
          <a:xfrm>
            <a:off x="457200" y="3465576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07111F"/>
                </a:solidFill>
                <a:latin typeface="Trebuchet MS"/>
                <a:ea typeface="Trebuchet MS"/>
                <a:cs typeface="Trebuchet MS"/>
              </a:rPr>
              <a:t>4</a:t>
            </a:r>
            <a:endParaRPr sz="18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1594AE7-9D0D-11C2-5047-CBFF3FD49FA3}"/>
              </a:ext>
            </a:extLst>
          </p:cNvPr>
          <p:cNvSpPr>
            <a:spLocks noGrp="1"/>
          </p:cNvSpPr>
          <p:nvPr/>
        </p:nvSpPr>
        <p:spPr>
          <a:xfrm>
            <a:off x="1051560" y="3483864"/>
            <a:ext cx="2743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A78BFA"/>
                </a:solidFill>
                <a:latin typeface="Calibri"/>
                <a:ea typeface="Calibri"/>
                <a:cs typeface="Calibri"/>
              </a:rPr>
              <a:t>+ Format constraint</a:t>
            </a:r>
            <a:endParaRPr sz="12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CE51266-91CC-B52D-B2C2-6D3C07441F19}"/>
              </a:ext>
            </a:extLst>
          </p:cNvPr>
          <p:cNvSpPr>
            <a:spLocks noGrp="1"/>
          </p:cNvSpPr>
          <p:nvPr/>
        </p:nvSpPr>
        <p:spPr>
          <a:xfrm>
            <a:off x="1051560" y="3721608"/>
            <a:ext cx="749808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Require JSON: { definition, use_when, avoid_when, analogy }</a:t>
            </a:r>
            <a:endParaRPr sz="100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0DBFF01-366E-3D51-608D-61BCD23A3222}"/>
              </a:ext>
            </a:extLst>
          </p:cNvPr>
          <p:cNvSpPr>
            <a:spLocks noGrp="1"/>
          </p:cNvSpPr>
          <p:nvPr/>
        </p:nvSpPr>
        <p:spPr>
          <a:xfrm>
            <a:off x="667512" y="3968496"/>
            <a:ext cx="0" cy="164592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2005A367-A412-4D70-E5C9-168FCA05C87B}"/>
              </a:ext>
            </a:extLst>
          </p:cNvPr>
          <p:cNvSpPr>
            <a:spLocks noGrp="1"/>
          </p:cNvSpPr>
          <p:nvPr/>
        </p:nvSpPr>
        <p:spPr>
          <a:xfrm>
            <a:off x="457200" y="4133088"/>
            <a:ext cx="457200" cy="502920"/>
          </a:xfrm>
          <a:prstGeom prst="roundRect">
            <a:avLst>
              <a:gd name="adj" fmla="val 1600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2673093-F73E-6EFF-4834-D9E2A1A07A1F}"/>
              </a:ext>
            </a:extLst>
          </p:cNvPr>
          <p:cNvSpPr>
            <a:spLocks noGrp="1"/>
          </p:cNvSpPr>
          <p:nvPr/>
        </p:nvSpPr>
        <p:spPr>
          <a:xfrm>
            <a:off x="457200" y="4133088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07111F"/>
                </a:solidFill>
                <a:latin typeface="Trebuchet MS"/>
                <a:ea typeface="Trebuchet MS"/>
                <a:cs typeface="Trebuchet MS"/>
              </a:rPr>
              <a:t>5</a:t>
            </a:r>
            <a:endParaRPr sz="18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4BA595E-D9A3-0E4B-4126-1E5C896AD32E}"/>
              </a:ext>
            </a:extLst>
          </p:cNvPr>
          <p:cNvSpPr>
            <a:spLocks noGrp="1"/>
          </p:cNvSpPr>
          <p:nvPr/>
        </p:nvSpPr>
        <p:spPr>
          <a:xfrm>
            <a:off x="1051560" y="4151376"/>
            <a:ext cx="2743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FBBF24"/>
                </a:solidFill>
                <a:latin typeface="Calibri"/>
                <a:ea typeface="Calibri"/>
                <a:cs typeface="Calibri"/>
              </a:rPr>
              <a:t>Role → System prompt</a:t>
            </a:r>
            <a:endParaRPr sz="12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9FC4962-752C-493E-38D8-29D9997B4934}"/>
              </a:ext>
            </a:extLst>
          </p:cNvPr>
          <p:cNvSpPr>
            <a:spLocks noGrp="1"/>
          </p:cNvSpPr>
          <p:nvPr/>
        </p:nvSpPr>
        <p:spPr>
          <a:xfrm>
            <a:off x="1051560" y="4389120"/>
            <a:ext cx="749808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Move role + format to system prompt; keep only the question</a:t>
            </a:r>
            <a:endParaRPr sz="1000"/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6CDE2ED2-D58D-CA56-6EBF-AE3954120DE1}"/>
              </a:ext>
            </a:extLst>
          </p:cNvPr>
          <p:cNvSpPr>
            <a:spLocks noGrp="1"/>
          </p:cNvSpPr>
          <p:nvPr/>
        </p:nvSpPr>
        <p:spPr>
          <a:xfrm>
            <a:off x="502920" y="946404"/>
            <a:ext cx="8229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Rewrite task using 5 different techniques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7023690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9841924-6B28-FD01-E510-4534737B6D6A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Practice 2: Answers</a:t>
            </a:r>
            <a:endParaRPr sz="300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879EEC51-C984-FCF7-3D7F-79962BAB80FC}"/>
              </a:ext>
            </a:extLst>
          </p:cNvPr>
          <p:cNvSpPr>
            <a:spLocks noGrp="1"/>
          </p:cNvSpPr>
          <p:nvPr/>
        </p:nvSpPr>
        <p:spPr>
          <a:xfrm>
            <a:off x="355962" y="1286690"/>
            <a:ext cx="8432075" cy="3277145"/>
          </a:xfrm>
          <a:prstGeom prst="roundRect">
            <a:avLst>
              <a:gd name="adj" fmla="val 8696"/>
            </a:avLst>
          </a:prstGeom>
          <a:solidFill>
            <a:srgbClr val="040C18"/>
          </a:solidFill>
          <a:ln w="12700">
            <a:solidFill>
              <a:srgbClr val="152A42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793B97E6-EEEF-5B86-243C-D6E6938CF2A5}"/>
              </a:ext>
            </a:extLst>
          </p:cNvPr>
          <p:cNvSpPr>
            <a:spLocks noGrp="1"/>
          </p:cNvSpPr>
          <p:nvPr/>
        </p:nvSpPr>
        <p:spPr>
          <a:xfrm>
            <a:off x="520555" y="1405563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E0DCE01B-AF78-3CF7-5FE6-D2F42D98C9A6}"/>
              </a:ext>
            </a:extLst>
          </p:cNvPr>
          <p:cNvSpPr>
            <a:spLocks noGrp="1"/>
          </p:cNvSpPr>
          <p:nvPr/>
        </p:nvSpPr>
        <p:spPr>
          <a:xfrm>
            <a:off x="639427" y="1405563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9B62E3C6-2EF0-2B7D-E782-92BCEDA8108C}"/>
              </a:ext>
            </a:extLst>
          </p:cNvPr>
          <p:cNvSpPr>
            <a:spLocks noGrp="1"/>
          </p:cNvSpPr>
          <p:nvPr/>
        </p:nvSpPr>
        <p:spPr>
          <a:xfrm>
            <a:off x="758299" y="1405563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5868E0DD-BACE-B6A3-AC0D-F6367ECB0393}"/>
              </a:ext>
            </a:extLst>
          </p:cNvPr>
          <p:cNvSpPr>
            <a:spLocks noGrp="1"/>
          </p:cNvSpPr>
          <p:nvPr/>
        </p:nvSpPr>
        <p:spPr>
          <a:xfrm>
            <a:off x="493122" y="1625018"/>
            <a:ext cx="8172451" cy="2546931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4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# Pull the answers</a:t>
            </a:r>
          </a:p>
          <a:p>
            <a:pPr marL="0" indent="0">
              <a:buNone/>
            </a:pPr>
            <a:r>
              <a:rPr sz="14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git fetch origin</a:t>
            </a:r>
          </a:p>
          <a:p>
            <a:pPr marL="0" indent="0">
              <a:buNone/>
            </a:pPr>
            <a:r>
              <a:rPr sz="14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git switch practice-2-solution</a:t>
            </a:r>
          </a:p>
        </p:txBody>
      </p:sp>
    </p:spTree>
    <p:extLst>
      <p:ext uri="{BB962C8B-B14F-4D97-AF65-F5344CB8AC3E}">
        <p14:creationId xmlns:p14="http://schemas.microsoft.com/office/powerpoint/2010/main" val="8197269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68E1298-67EB-0A5A-D2D0-177CE71BA0FC}"/>
              </a:ext>
            </a:extLst>
          </p:cNvPr>
          <p:cNvSpPr>
            <a:spLocks noGrp="1"/>
          </p:cNvSpPr>
          <p:nvPr/>
        </p:nvSpPr>
        <p:spPr>
          <a:xfrm>
            <a:off x="3474720" y="182880"/>
            <a:ext cx="5486400" cy="4572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 algn="r">
              <a:buNone/>
            </a:pPr>
            <a:r>
              <a:rPr sz="23000" b="1">
                <a:solidFill>
                  <a:srgbClr val="0B1E34"/>
                </a:solidFill>
                <a:latin typeface="Trebuchet MS"/>
                <a:ea typeface="Trebuchet MS"/>
                <a:cs typeface="Trebuchet MS"/>
              </a:rPr>
              <a:t>04</a:t>
            </a:r>
            <a:endParaRPr sz="230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0FF8979-4956-7208-6573-06299C01F30A}"/>
              </a:ext>
            </a:extLst>
          </p:cNvPr>
          <p:cNvSpPr>
            <a:spLocks noGrp="1"/>
          </p:cNvSpPr>
          <p:nvPr/>
        </p:nvSpPr>
        <p:spPr>
          <a:xfrm>
            <a:off x="502920" y="64008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0A2C50"/>
          </a:solidFill>
          <a:ln w="12700">
            <a:solidFill>
              <a:srgbClr val="0A2C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64DEE2F-E1E6-C8DE-E105-F16F07A52EB3}"/>
              </a:ext>
            </a:extLst>
          </p:cNvPr>
          <p:cNvSpPr>
            <a:spLocks noGrp="1"/>
          </p:cNvSpPr>
          <p:nvPr/>
        </p:nvSpPr>
        <p:spPr>
          <a:xfrm>
            <a:off x="502920" y="640080"/>
            <a:ext cx="128016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 spc="300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PART 04</a:t>
            </a:r>
            <a:endParaRPr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0B0E643-695E-712F-31FE-D6B690C3B031}"/>
              </a:ext>
            </a:extLst>
          </p:cNvPr>
          <p:cNvSpPr>
            <a:spLocks noGrp="1"/>
          </p:cNvSpPr>
          <p:nvPr/>
        </p:nvSpPr>
        <p:spPr>
          <a:xfrm>
            <a:off x="502920" y="1234440"/>
            <a:ext cx="777240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46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MCP</a:t>
            </a:r>
            <a:endParaRPr sz="46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B4748F8-C256-FCA7-4EE1-971C007B0156}"/>
              </a:ext>
            </a:extLst>
          </p:cNvPr>
          <p:cNvSpPr>
            <a:spLocks noGrp="1"/>
          </p:cNvSpPr>
          <p:nvPr/>
        </p:nvSpPr>
        <p:spPr>
          <a:xfrm>
            <a:off x="502920" y="2423160"/>
            <a:ext cx="64008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5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Giving the model hands, not just a mouth.</a:t>
            </a:r>
            <a:endParaRPr sz="15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9FAF5B8-ED46-C939-B2A7-37D7B85530F6}"/>
              </a:ext>
            </a:extLst>
          </p:cNvPr>
          <p:cNvSpPr>
            <a:spLocks noGrp="1"/>
          </p:cNvSpPr>
          <p:nvPr/>
        </p:nvSpPr>
        <p:spPr>
          <a:xfrm>
            <a:off x="457200" y="3703320"/>
            <a:ext cx="868680" cy="868680"/>
          </a:xfrm>
          <a:prstGeom prst="ellipse">
            <a:avLst/>
          </a:prstGeom>
          <a:solidFill>
            <a:srgbClr val="0A2C50"/>
          </a:solidFill>
          <a:ln w="12700">
            <a:solidFill>
              <a:srgbClr val="0A2C5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Graphic 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12064" y="3758184"/>
            <a:ext cx="758952" cy="75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2622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1BF846C-D2DC-2B02-9829-205BE2F9A1D4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MCP</a:t>
            </a:r>
            <a:endParaRPr sz="30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7800ACB-9FE7-683D-9347-F71D35C2AA62}"/>
              </a:ext>
            </a:extLst>
          </p:cNvPr>
          <p:cNvSpPr>
            <a:spLocks noGrp="1"/>
          </p:cNvSpPr>
          <p:nvPr/>
        </p:nvSpPr>
        <p:spPr>
          <a:xfrm>
            <a:off x="502920" y="1126672"/>
            <a:ext cx="8229600" cy="767442"/>
          </a:xfrm>
          <a:prstGeom prst="roundRect">
            <a:avLst>
              <a:gd name="adj" fmla="val 4762"/>
            </a:avLst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E2FE643-29D5-253D-482D-4DD981BBC458}"/>
              </a:ext>
            </a:extLst>
          </p:cNvPr>
          <p:cNvSpPr>
            <a:spLocks noGrp="1"/>
          </p:cNvSpPr>
          <p:nvPr/>
        </p:nvSpPr>
        <p:spPr>
          <a:xfrm>
            <a:off x="502920" y="1126672"/>
            <a:ext cx="45720" cy="76744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BB37C63-C5B2-2B18-89A9-B5EDF3EA2726}"/>
              </a:ext>
            </a:extLst>
          </p:cNvPr>
          <p:cNvSpPr>
            <a:spLocks noGrp="1"/>
          </p:cNvSpPr>
          <p:nvPr/>
        </p:nvSpPr>
        <p:spPr>
          <a:xfrm>
            <a:off x="777240" y="1126672"/>
            <a:ext cx="7680960" cy="76744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600">
                <a:solidFill>
                  <a:srgbClr val="FFFFFF"/>
                </a:solidFill>
              </a:rPr>
              <a:t>Model Context Protocol (MCP) is an open standard that lets AI applications connect models to external tools and data sources.</a:t>
            </a:r>
            <a:endParaRPr sz="1500"/>
          </a:p>
        </p:txBody>
      </p:sp>
      <p:pic>
        <p:nvPicPr>
          <p:cNvPr id="12" name="Picture 4"/>
          <p:cNvPicPr>
            <a:picLocks noChangeAspect="1"/>
          </p:cNvPicPr>
          <p:nvPr/>
        </p:nvPicPr>
        <p:blipFill rotWithShape="1">
          <a:blip r:embed="rId3"/>
          <a:srcRect l="7153" t="16045" r="7411" b="8183"/>
          <a:stretch>
            <a:fillRect/>
          </a:stretch>
        </p:blipFill>
        <p:spPr>
          <a:xfrm>
            <a:off x="926304" y="2274082"/>
            <a:ext cx="7291392" cy="252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4346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A999B3E-AB13-9D18-F0F6-75F547FB0809}"/>
              </a:ext>
            </a:extLst>
          </p:cNvPr>
          <p:cNvSpPr>
            <a:spLocks noGrp="1"/>
          </p:cNvSpPr>
          <p:nvPr/>
        </p:nvSpPr>
        <p:spPr>
          <a:xfrm>
            <a:off x="502920" y="457200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MCP: Motivation</a:t>
            </a:r>
            <a:endParaRPr sz="30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85AE95B-AD30-9B85-5A17-C076DD5531FC}"/>
              </a:ext>
            </a:extLst>
          </p:cNvPr>
          <p:cNvSpPr>
            <a:spLocks noGrp="1"/>
          </p:cNvSpPr>
          <p:nvPr/>
        </p:nvSpPr>
        <p:spPr>
          <a:xfrm>
            <a:off x="502920" y="1298121"/>
            <a:ext cx="8229600" cy="2939143"/>
          </a:xfrm>
          <a:prstGeom prst="roundRect">
            <a:avLst>
              <a:gd name="adj" fmla="val 4762"/>
            </a:avLst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AD47E3C-B136-3666-5E53-3E56862A0CD1}"/>
              </a:ext>
            </a:extLst>
          </p:cNvPr>
          <p:cNvSpPr>
            <a:spLocks noGrp="1"/>
          </p:cNvSpPr>
          <p:nvPr/>
        </p:nvSpPr>
        <p:spPr>
          <a:xfrm>
            <a:off x="502920" y="1298121"/>
            <a:ext cx="45720" cy="2939143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78EC4C9-3690-C3CD-90F1-D873D7E98CD7}"/>
              </a:ext>
            </a:extLst>
          </p:cNvPr>
          <p:cNvSpPr>
            <a:spLocks noGrp="1"/>
          </p:cNvSpPr>
          <p:nvPr/>
        </p:nvSpPr>
        <p:spPr>
          <a:xfrm>
            <a:off x="777240" y="1298121"/>
            <a:ext cx="7680960" cy="2939143"/>
          </a:xfrm>
          <a:prstGeom prst="rect">
            <a:avLst/>
          </a:prstGeom>
          <a:noFill/>
        </p:spPr>
        <p:txBody>
          <a:bodyPr wrap="square" anchor="ctr"/>
          <a:lstStyle/>
          <a:p>
            <a:pPr marL="285750" indent="-285750">
              <a:buFont typeface="Arial"/>
              <a:buChar char="•"/>
            </a:pPr>
            <a:r>
              <a:rPr sz="2000">
                <a:solidFill>
                  <a:srgbClr val="FFFFFF"/>
                </a:solidFill>
              </a:rPr>
              <a:t>Tools can be complete systems, API operations, database queries, or small functions</a:t>
            </a:r>
          </a:p>
          <a:p>
            <a:pPr marL="285750" indent="-285750">
              <a:buFont typeface="Arial"/>
              <a:buChar char="•"/>
            </a:pPr>
            <a:r>
              <a:rPr sz="2000">
                <a:solidFill>
                  <a:srgbClr val="FFFFFF"/>
                </a:solidFill>
              </a:rPr>
              <a:t>A single agent may use many tools</a:t>
            </a:r>
          </a:p>
          <a:p>
            <a:pPr marL="285750" indent="-285750">
              <a:buFont typeface="Arial"/>
              <a:buChar char="•"/>
            </a:pPr>
            <a:r>
              <a:rPr sz="2000">
                <a:solidFill>
                  <a:srgbClr val="FFFFFF"/>
                </a:solidFill>
              </a:rPr>
              <a:t>The model needs a clear description of what each tool does</a:t>
            </a:r>
          </a:p>
          <a:p>
            <a:pPr marL="285750" indent="-285750">
              <a:buFont typeface="Arial"/>
              <a:buChar char="•"/>
            </a:pPr>
            <a:r>
              <a:rPr sz="2000">
                <a:solidFill>
                  <a:srgbClr val="FFFFFF"/>
                </a:solidFill>
              </a:rPr>
              <a:t>Without a standard, every tool requires custom integration</a:t>
            </a:r>
          </a:p>
          <a:p>
            <a:pPr marL="285750" indent="-285750">
              <a:buFont typeface="Arial"/>
              <a:buChar char="•"/>
            </a:pPr>
            <a:r>
              <a:rPr sz="2000">
                <a:solidFill>
                  <a:srgbClr val="FFFFFF"/>
                </a:solidFill>
              </a:rPr>
              <a:t>Tools can ground answers in live data and reduce unsupported guesses</a:t>
            </a:r>
          </a:p>
        </p:txBody>
      </p:sp>
    </p:spTree>
    <p:extLst>
      <p:ext uri="{BB962C8B-B14F-4D97-AF65-F5344CB8AC3E}">
        <p14:creationId xmlns:p14="http://schemas.microsoft.com/office/powerpoint/2010/main" val="33669218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14A8CD3-ADFA-19C2-87B3-2F73BE5F449E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chemeClr val="accent1">
                    <a:lumMod val="50000"/>
                  </a:schemeClr>
                </a:solidFill>
                <a:latin typeface="Trebuchet MS"/>
                <a:ea typeface="Trebuchet MS"/>
                <a:cs typeface="Trebuchet MS"/>
              </a:rPr>
              <a:t>MCP: Architecture</a:t>
            </a:r>
            <a:endParaRPr sz="300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94188" y="1096500"/>
            <a:ext cx="7955624" cy="3699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1450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04107" y="1062476"/>
            <a:ext cx="8735786" cy="3733552"/>
          </a:xfrm>
          <a:prstGeom prst="rect">
            <a:avLst/>
          </a:prstGeom>
        </p:spPr>
      </p:pic>
      <p:sp>
        <p:nvSpPr>
          <p:cNvPr id="4" name="MCP example title">
            <a:extLst>
              <a:ext uri="{FF2B5EF4-FFF2-40B4-BE49-F238E27FC236}">
                <a16:creationId xmlns:a16="http://schemas.microsoft.com/office/drawing/2014/main" id="{ABD1613A-749E-4BA1-A0A2-C7EB1CCA86BD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4000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3000" b="1">
                <a:solidFill>
                  <a:srgbClr val="203B6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3B6A"/>
                </a:solidFill>
                <a:latin typeface="Arial"/>
                <a:ea typeface="Arial"/>
                <a:cs typeface="Arial"/>
              </a:rPr>
              <a:t>MCP: Example</a:t>
            </a:r>
          </a:p>
        </p:txBody>
      </p:sp>
      <p:sp>
        <p:nvSpPr>
          <p:cNvPr id="5" name="Corrected sales report prompt">
            <a:extLst>
              <a:ext uri="{FF2B5EF4-FFF2-40B4-BE49-F238E27FC236}">
                <a16:creationId xmlns:a16="http://schemas.microsoft.com/office/drawing/2014/main" id="{198619E1-9D23-42D2-A81D-EBE99AEF29A1}"/>
              </a:ext>
            </a:extLst>
          </p:cNvPr>
          <p:cNvSpPr>
            <a:spLocks noGrp="1"/>
          </p:cNvSpPr>
          <p:nvPr/>
        </p:nvSpPr>
        <p:spPr>
          <a:xfrm>
            <a:off x="723900" y="2124075"/>
            <a:ext cx="1838325" cy="685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ctr"/>
          <a:lstStyle/>
          <a:p>
            <a:pPr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000000"/>
                </a:solidFill>
                <a:latin typeface="Arial"/>
                <a:ea typeface="Arial"/>
                <a:cs typeface="Arial"/>
              </a:rPr>
              <a:t>"Generate weekly</a:t>
            </a:r>
          </a:p>
          <a:p>
            <a:pPr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000000"/>
                </a:solidFill>
                <a:latin typeface="Arial"/>
                <a:ea typeface="Arial"/>
                <a:cs typeface="Arial"/>
              </a:rPr>
              <a:t>sales report and send</a:t>
            </a:r>
          </a:p>
          <a:p>
            <a:pPr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000000"/>
                </a:solidFill>
                <a:latin typeface="Arial"/>
                <a:ea typeface="Arial"/>
                <a:cs typeface="Arial"/>
              </a:rPr>
              <a:t>it to my manager"</a:t>
            </a:r>
          </a:p>
        </p:txBody>
      </p:sp>
      <p:sp>
        <p:nvSpPr>
          <p:cNvPr id="6" name="Corrected recipient finder label">
            <a:extLst>
              <a:ext uri="{FF2B5EF4-FFF2-40B4-BE49-F238E27FC236}">
                <a16:creationId xmlns:a16="http://schemas.microsoft.com/office/drawing/2014/main" id="{0341D71C-CCA7-4579-B1DA-E9CCF2D00E57}"/>
              </a:ext>
            </a:extLst>
          </p:cNvPr>
          <p:cNvSpPr>
            <a:spLocks noGrp="1"/>
          </p:cNvSpPr>
          <p:nvPr/>
        </p:nvSpPr>
        <p:spPr>
          <a:xfrm>
            <a:off x="5905500" y="3695700"/>
            <a:ext cx="1104900" cy="638175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1430">
            <a:solidFill>
              <a:srgbClr val="000000"/>
            </a:solidFill>
          </a:ln>
        </p:spPr>
        <p:txBody>
          <a:bodyPr lIns="19050" tIns="19050" rIns="19050" bIns="19050" anchor="ctr"/>
          <a:lstStyle/>
          <a:p>
            <a:pPr algn="ctr">
              <a:buNone/>
              <a:defRPr sz="8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000000"/>
                </a:solidFill>
                <a:latin typeface="Arial"/>
                <a:ea typeface="Arial"/>
                <a:cs typeface="Arial"/>
              </a:rPr>
              <a:t>Email templates and</a:t>
            </a:r>
          </a:p>
          <a:p>
            <a:pPr algn="ctr">
              <a:buNone/>
              <a:defRPr sz="8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000000"/>
                </a:solidFill>
                <a:latin typeface="Arial"/>
                <a:ea typeface="Arial"/>
                <a:cs typeface="Arial"/>
              </a:rPr>
              <a:t>recipient finder</a:t>
            </a:r>
          </a:p>
        </p:txBody>
      </p:sp>
    </p:spTree>
    <p:extLst>
      <p:ext uri="{BB962C8B-B14F-4D97-AF65-F5344CB8AC3E}">
        <p14:creationId xmlns:p14="http://schemas.microsoft.com/office/powerpoint/2010/main" val="34120734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3EDECF3-B49D-24C5-FF97-5915DCE1B4B5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Practice 3: MCP with Kit</a:t>
            </a:r>
            <a:endParaRPr sz="300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1F1CB273-4B7B-4AF4-67ED-8E8AECD6DD96}"/>
              </a:ext>
            </a:extLst>
          </p:cNvPr>
          <p:cNvSpPr>
            <a:spLocks noGrp="1"/>
          </p:cNvSpPr>
          <p:nvPr/>
        </p:nvSpPr>
        <p:spPr>
          <a:xfrm>
            <a:off x="355962" y="1286690"/>
            <a:ext cx="8432075" cy="3277145"/>
          </a:xfrm>
          <a:prstGeom prst="roundRect">
            <a:avLst>
              <a:gd name="adj" fmla="val 8696"/>
            </a:avLst>
          </a:prstGeom>
          <a:solidFill>
            <a:srgbClr val="040C18"/>
          </a:solidFill>
          <a:ln w="12700">
            <a:solidFill>
              <a:srgbClr val="152A42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D879ADFB-2D5A-B83E-F622-0E27EDA6C9CA}"/>
              </a:ext>
            </a:extLst>
          </p:cNvPr>
          <p:cNvSpPr>
            <a:spLocks noGrp="1"/>
          </p:cNvSpPr>
          <p:nvPr/>
        </p:nvSpPr>
        <p:spPr>
          <a:xfrm>
            <a:off x="520555" y="1405563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4D86802B-0A3A-4A5C-43CE-90A38720EC79}"/>
              </a:ext>
            </a:extLst>
          </p:cNvPr>
          <p:cNvSpPr>
            <a:spLocks noGrp="1"/>
          </p:cNvSpPr>
          <p:nvPr/>
        </p:nvSpPr>
        <p:spPr>
          <a:xfrm>
            <a:off x="639427" y="1405563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3CE312EC-DB98-6C6E-D8B6-D8E53E966689}"/>
              </a:ext>
            </a:extLst>
          </p:cNvPr>
          <p:cNvSpPr>
            <a:spLocks noGrp="1"/>
          </p:cNvSpPr>
          <p:nvPr/>
        </p:nvSpPr>
        <p:spPr>
          <a:xfrm>
            <a:off x="758299" y="1405563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083CC45F-8A6B-9644-B90B-8222BF796DFB}"/>
              </a:ext>
            </a:extLst>
          </p:cNvPr>
          <p:cNvSpPr>
            <a:spLocks noGrp="1"/>
          </p:cNvSpPr>
          <p:nvPr/>
        </p:nvSpPr>
        <p:spPr>
          <a:xfrm>
            <a:off x="493122" y="1625018"/>
            <a:ext cx="8172451" cy="2546931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4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# Checkout Practice 3</a:t>
            </a:r>
          </a:p>
          <a:p>
            <a:pPr marL="0" indent="0">
              <a:buNone/>
            </a:pPr>
            <a:r>
              <a:rPr sz="14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git fetch origin</a:t>
            </a:r>
          </a:p>
          <a:p>
            <a:pPr marL="0" indent="0">
              <a:buNone/>
            </a:pPr>
            <a:r>
              <a:rPr sz="14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git switch practice-3</a:t>
            </a:r>
          </a:p>
          <a:p>
            <a:pPr marL="0" indent="0">
              <a:buNone/>
            </a:pPr>
            <a:endParaRPr sz="1400">
              <a:solidFill>
                <a:srgbClr val="A8C6DF"/>
              </a:solidFill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sz="14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# Start reading MD guidelines</a:t>
            </a:r>
          </a:p>
        </p:txBody>
      </p:sp>
    </p:spTree>
    <p:extLst>
      <p:ext uri="{BB962C8B-B14F-4D97-AF65-F5344CB8AC3E}">
        <p14:creationId xmlns:p14="http://schemas.microsoft.com/office/powerpoint/2010/main" val="5298370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18D3536-7F4E-D315-C880-324301423587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Practice 3: MCP with Kit</a:t>
            </a:r>
            <a:endParaRPr sz="3000"/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C0745EBC-7100-844D-1669-E0F3E65A7BA5}"/>
              </a:ext>
            </a:extLst>
          </p:cNvPr>
          <p:cNvSpPr>
            <a:spLocks noGrp="1"/>
          </p:cNvSpPr>
          <p:nvPr/>
        </p:nvSpPr>
        <p:spPr>
          <a:xfrm>
            <a:off x="502920" y="946404"/>
            <a:ext cx="8229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Create a simple weather MCP server, connect it to Kit, and verify that the local model can use the new weather tool.</a:t>
            </a:r>
            <a:endParaRPr sz="120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B002459-6187-F355-DD68-7647810AC883}"/>
              </a:ext>
            </a:extLst>
          </p:cNvPr>
          <p:cNvSpPr>
            <a:spLocks noGrp="1"/>
          </p:cNvSpPr>
          <p:nvPr/>
        </p:nvSpPr>
        <p:spPr>
          <a:xfrm>
            <a:off x="660400" y="1505543"/>
            <a:ext cx="4377267" cy="19123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r>
              <a:t>KIT (Host + Client)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3D89BE93-DEA3-8D1B-A214-B31E9BDF6F02}"/>
              </a:ext>
            </a:extLst>
          </p:cNvPr>
          <p:cNvSpPr>
            <a:spLocks noGrp="1"/>
          </p:cNvSpPr>
          <p:nvPr/>
        </p:nvSpPr>
        <p:spPr>
          <a:xfrm>
            <a:off x="5791200" y="2094463"/>
            <a:ext cx="2184400" cy="7344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t>Weather MCP Service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9E48FA45-7F51-AB80-3C06-84EB03464C9E}"/>
              </a:ext>
            </a:extLst>
          </p:cNvPr>
          <p:cNvSpPr>
            <a:spLocks noGrp="1"/>
          </p:cNvSpPr>
          <p:nvPr/>
        </p:nvSpPr>
        <p:spPr>
          <a:xfrm>
            <a:off x="1756833" y="3829854"/>
            <a:ext cx="2184400" cy="7344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t>LLM</a:t>
            </a:r>
          </a:p>
        </p:txBody>
      </p:sp>
      <p:cxnSp>
        <p:nvCxnSpPr>
          <p:cNvPr id="94" name="Straight Arrow Connector 31"/>
          <p:cNvCxnSpPr>
            <a:stCxn id="3" idx="2"/>
            <a:endCxn id="30" idx="0"/>
          </p:cNvCxnSpPr>
          <p:nvPr/>
        </p:nvCxnSpPr>
        <p:spPr>
          <a:xfrm flipH="1">
            <a:off x="2849033" y="3417867"/>
            <a:ext cx="1" cy="4119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33"/>
          <p:cNvCxnSpPr>
            <a:stCxn id="3" idx="3"/>
            <a:endCxn id="29" idx="1"/>
          </p:cNvCxnSpPr>
          <p:nvPr/>
        </p:nvCxnSpPr>
        <p:spPr>
          <a:xfrm>
            <a:off x="5037667" y="2461705"/>
            <a:ext cx="7535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5E749142-DFD3-2C66-15E1-2E7324EBBFE1}"/>
              </a:ext>
            </a:extLst>
          </p:cNvPr>
          <p:cNvSpPr>
            <a:spLocks noGrp="1"/>
          </p:cNvSpPr>
          <p:nvPr/>
        </p:nvSpPr>
        <p:spPr>
          <a:xfrm>
            <a:off x="902705" y="2282870"/>
            <a:ext cx="31814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“What is the current weather in Kaunas? Use an available tool and do not guess.”</a:t>
            </a:r>
          </a:p>
        </p:txBody>
      </p:sp>
    </p:spTree>
    <p:extLst>
      <p:ext uri="{BB962C8B-B14F-4D97-AF65-F5344CB8AC3E}">
        <p14:creationId xmlns:p14="http://schemas.microsoft.com/office/powerpoint/2010/main" val="23123959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D1C6BBB-82B5-7815-5509-35BC9F3222FA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Practice 3: Answers</a:t>
            </a:r>
            <a:endParaRPr sz="300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482CF6F1-54E8-BE8B-5E01-2CA0EEF264F7}"/>
              </a:ext>
            </a:extLst>
          </p:cNvPr>
          <p:cNvSpPr>
            <a:spLocks noGrp="1"/>
          </p:cNvSpPr>
          <p:nvPr/>
        </p:nvSpPr>
        <p:spPr>
          <a:xfrm>
            <a:off x="355962" y="1286690"/>
            <a:ext cx="8432075" cy="3277145"/>
          </a:xfrm>
          <a:prstGeom prst="roundRect">
            <a:avLst>
              <a:gd name="adj" fmla="val 8696"/>
            </a:avLst>
          </a:prstGeom>
          <a:solidFill>
            <a:srgbClr val="040C18"/>
          </a:solidFill>
          <a:ln w="12700">
            <a:solidFill>
              <a:srgbClr val="152A42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A43CEF48-CA75-DA00-3B0C-7B270152C118}"/>
              </a:ext>
            </a:extLst>
          </p:cNvPr>
          <p:cNvSpPr>
            <a:spLocks noGrp="1"/>
          </p:cNvSpPr>
          <p:nvPr/>
        </p:nvSpPr>
        <p:spPr>
          <a:xfrm>
            <a:off x="520555" y="1405563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344972B5-BCB0-C37D-62BC-697E36D50DF3}"/>
              </a:ext>
            </a:extLst>
          </p:cNvPr>
          <p:cNvSpPr>
            <a:spLocks noGrp="1"/>
          </p:cNvSpPr>
          <p:nvPr/>
        </p:nvSpPr>
        <p:spPr>
          <a:xfrm>
            <a:off x="639427" y="1405563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86E97543-C77C-C275-502C-56ED03C2E828}"/>
              </a:ext>
            </a:extLst>
          </p:cNvPr>
          <p:cNvSpPr>
            <a:spLocks noGrp="1"/>
          </p:cNvSpPr>
          <p:nvPr/>
        </p:nvSpPr>
        <p:spPr>
          <a:xfrm>
            <a:off x="758299" y="1405563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25DB93FA-59C8-ACC4-2C30-8A1E78EE4F73}"/>
              </a:ext>
            </a:extLst>
          </p:cNvPr>
          <p:cNvSpPr>
            <a:spLocks noGrp="1"/>
          </p:cNvSpPr>
          <p:nvPr/>
        </p:nvSpPr>
        <p:spPr>
          <a:xfrm>
            <a:off x="493122" y="1625018"/>
            <a:ext cx="8172451" cy="2546931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4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# Pull the answers</a:t>
            </a:r>
          </a:p>
          <a:p>
            <a:pPr marL="0" indent="0">
              <a:buNone/>
            </a:pPr>
            <a:r>
              <a:rPr sz="14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git fetch origin</a:t>
            </a:r>
          </a:p>
          <a:p>
            <a:pPr marL="0" indent="0">
              <a:buNone/>
            </a:pPr>
            <a:r>
              <a:rPr sz="14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git switch practice-3-solution</a:t>
            </a:r>
          </a:p>
        </p:txBody>
      </p:sp>
    </p:spTree>
    <p:extLst>
      <p:ext uri="{BB962C8B-B14F-4D97-AF65-F5344CB8AC3E}">
        <p14:creationId xmlns:p14="http://schemas.microsoft.com/office/powerpoint/2010/main" val="34506176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C5168B2-8E5C-33F5-DA4F-B0E463479D20}"/>
              </a:ext>
            </a:extLst>
          </p:cNvPr>
          <p:cNvSpPr>
            <a:spLocks noGrp="1"/>
          </p:cNvSpPr>
          <p:nvPr/>
        </p:nvSpPr>
        <p:spPr>
          <a:xfrm>
            <a:off x="3474720" y="182880"/>
            <a:ext cx="5486400" cy="4572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 algn="r">
              <a:buNone/>
            </a:pPr>
            <a:r>
              <a:rPr sz="23000" b="1">
                <a:solidFill>
                  <a:srgbClr val="0B1E34"/>
                </a:solidFill>
                <a:latin typeface="Trebuchet MS"/>
                <a:ea typeface="Trebuchet MS"/>
                <a:cs typeface="Trebuchet MS"/>
              </a:rPr>
              <a:t>05</a:t>
            </a:r>
            <a:endParaRPr sz="230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A909B33-AFD1-0E08-F073-8D67840CC9DB}"/>
              </a:ext>
            </a:extLst>
          </p:cNvPr>
          <p:cNvSpPr>
            <a:spLocks noGrp="1"/>
          </p:cNvSpPr>
          <p:nvPr/>
        </p:nvSpPr>
        <p:spPr>
          <a:xfrm>
            <a:off x="502920" y="64008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0A2C50"/>
          </a:solidFill>
          <a:ln w="12700">
            <a:solidFill>
              <a:srgbClr val="0A2C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0D20023-9D82-0604-F28D-51751CF71C1D}"/>
              </a:ext>
            </a:extLst>
          </p:cNvPr>
          <p:cNvSpPr>
            <a:spLocks noGrp="1"/>
          </p:cNvSpPr>
          <p:nvPr/>
        </p:nvSpPr>
        <p:spPr>
          <a:xfrm>
            <a:off x="502920" y="640080"/>
            <a:ext cx="128016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 spc="300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PART 05</a:t>
            </a:r>
            <a:endParaRPr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5982CAA-EC0C-D988-EDA0-9B4B5F9C8AA3}"/>
              </a:ext>
            </a:extLst>
          </p:cNvPr>
          <p:cNvSpPr>
            <a:spLocks noGrp="1"/>
          </p:cNvSpPr>
          <p:nvPr/>
        </p:nvSpPr>
        <p:spPr>
          <a:xfrm>
            <a:off x="502920" y="1234440"/>
            <a:ext cx="777240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46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Skills</a:t>
            </a:r>
            <a:endParaRPr sz="46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ED5472D-46C9-E97C-0D50-EDAB2BEDFBD2}"/>
              </a:ext>
            </a:extLst>
          </p:cNvPr>
          <p:cNvSpPr>
            <a:spLocks noGrp="1"/>
          </p:cNvSpPr>
          <p:nvPr/>
        </p:nvSpPr>
        <p:spPr>
          <a:xfrm>
            <a:off x="502920" y="2423160"/>
            <a:ext cx="5016137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5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Reusable playbooks that teach the model how to do a job. Instructions that make AI useful.</a:t>
            </a:r>
            <a:endParaRPr sz="15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EA1333D-140B-099A-84B8-91A08E0345BE}"/>
              </a:ext>
            </a:extLst>
          </p:cNvPr>
          <p:cNvSpPr>
            <a:spLocks noGrp="1"/>
          </p:cNvSpPr>
          <p:nvPr/>
        </p:nvSpPr>
        <p:spPr>
          <a:xfrm>
            <a:off x="457200" y="3703320"/>
            <a:ext cx="868680" cy="868680"/>
          </a:xfrm>
          <a:prstGeom prst="ellipse">
            <a:avLst/>
          </a:prstGeom>
          <a:solidFill>
            <a:srgbClr val="0A2C50"/>
          </a:solidFill>
          <a:ln w="12700">
            <a:solidFill>
              <a:srgbClr val="0A2C5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Graphic 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12064" y="3758184"/>
            <a:ext cx="758952" cy="75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4418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8B1123E-181C-B21D-7D6B-6E62065CB0EB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Skills</a:t>
            </a:r>
            <a:endParaRPr sz="30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CA772F7-07BF-8743-502C-51DFC154C829}"/>
              </a:ext>
            </a:extLst>
          </p:cNvPr>
          <p:cNvSpPr>
            <a:spLocks noGrp="1"/>
          </p:cNvSpPr>
          <p:nvPr/>
        </p:nvSpPr>
        <p:spPr>
          <a:xfrm>
            <a:off x="457200" y="1136142"/>
            <a:ext cx="8229600" cy="1165860"/>
          </a:xfrm>
          <a:prstGeom prst="roundRect">
            <a:avLst>
              <a:gd name="adj" fmla="val 4762"/>
            </a:avLst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D0325A0-AA6A-A4F3-E013-662382FAD700}"/>
              </a:ext>
            </a:extLst>
          </p:cNvPr>
          <p:cNvSpPr>
            <a:spLocks noGrp="1"/>
          </p:cNvSpPr>
          <p:nvPr/>
        </p:nvSpPr>
        <p:spPr>
          <a:xfrm>
            <a:off x="731520" y="1250442"/>
            <a:ext cx="768096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5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A skill is a reusable, shareable workflow that tells the model how to perform a specific task. Instead of starting from scratch each time, you define the process once and apply it whenever the task comes up.</a:t>
            </a:r>
            <a:endParaRPr sz="15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F78807C-344E-4760-F18B-6B4BE63DDCD0}"/>
              </a:ext>
            </a:extLst>
          </p:cNvPr>
          <p:cNvSpPr>
            <a:spLocks noGrp="1"/>
          </p:cNvSpPr>
          <p:nvPr/>
        </p:nvSpPr>
        <p:spPr>
          <a:xfrm>
            <a:off x="457200" y="1136142"/>
            <a:ext cx="45720" cy="11658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BB06843-4FC7-9AD7-F363-567042605070}"/>
              </a:ext>
            </a:extLst>
          </p:cNvPr>
          <p:cNvSpPr>
            <a:spLocks noGrp="1"/>
          </p:cNvSpPr>
          <p:nvPr/>
        </p:nvSpPr>
        <p:spPr>
          <a:xfrm>
            <a:off x="457200" y="2818638"/>
            <a:ext cx="82296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A skill typically includes: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84D25CD-0D13-562C-9070-84EC04D88301}"/>
              </a:ext>
            </a:extLst>
          </p:cNvPr>
          <p:cNvSpPr>
            <a:spLocks noGrp="1"/>
          </p:cNvSpPr>
          <p:nvPr/>
        </p:nvSpPr>
        <p:spPr>
          <a:xfrm>
            <a:off x="457200" y="3481578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A09546C-2463-10A7-4968-C689C7CD15E4}"/>
              </a:ext>
            </a:extLst>
          </p:cNvPr>
          <p:cNvSpPr>
            <a:spLocks noGrp="1"/>
          </p:cNvSpPr>
          <p:nvPr/>
        </p:nvSpPr>
        <p:spPr>
          <a:xfrm>
            <a:off x="1669913" y="3344418"/>
            <a:ext cx="230866" cy="23086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0792BE2-3BEE-E348-43EB-D12D864C7C94}"/>
              </a:ext>
            </a:extLst>
          </p:cNvPr>
          <p:cNvSpPr>
            <a:spLocks noGrp="1"/>
          </p:cNvSpPr>
          <p:nvPr/>
        </p:nvSpPr>
        <p:spPr>
          <a:xfrm>
            <a:off x="457200" y="3573018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Name and description</a:t>
            </a:r>
            <a:endParaRPr sz="1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585710B-7C78-CC7D-C063-4FBA0F2FF8FF}"/>
              </a:ext>
            </a:extLst>
          </p:cNvPr>
          <p:cNvSpPr>
            <a:spLocks noGrp="1"/>
          </p:cNvSpPr>
          <p:nvPr/>
        </p:nvSpPr>
        <p:spPr>
          <a:xfrm>
            <a:off x="548640" y="3938778"/>
            <a:ext cx="2468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ctr">
              <a:buNone/>
            </a:pPr>
            <a:r>
              <a:rPr sz="10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Helps the model recognize when the skill is relevant.</a:t>
            </a:r>
            <a:endParaRPr sz="10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9677A33-5207-D48B-618D-5B20DA034286}"/>
              </a:ext>
            </a:extLst>
          </p:cNvPr>
          <p:cNvSpPr>
            <a:spLocks noGrp="1"/>
          </p:cNvSpPr>
          <p:nvPr/>
        </p:nvSpPr>
        <p:spPr>
          <a:xfrm>
            <a:off x="3355848" y="3481578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4517350-777C-44FA-CF14-BF834EE7F636}"/>
              </a:ext>
            </a:extLst>
          </p:cNvPr>
          <p:cNvSpPr>
            <a:spLocks noGrp="1"/>
          </p:cNvSpPr>
          <p:nvPr/>
        </p:nvSpPr>
        <p:spPr>
          <a:xfrm>
            <a:off x="4568561" y="3344418"/>
            <a:ext cx="230866" cy="23086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BE860F4-2BF6-4978-658E-D1AB3844886E}"/>
              </a:ext>
            </a:extLst>
          </p:cNvPr>
          <p:cNvSpPr>
            <a:spLocks noGrp="1"/>
          </p:cNvSpPr>
          <p:nvPr/>
        </p:nvSpPr>
        <p:spPr>
          <a:xfrm>
            <a:off x="3355848" y="3573018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34D399"/>
                </a:solidFill>
                <a:latin typeface="Calibri"/>
                <a:ea typeface="Calibri"/>
                <a:cs typeface="Calibri"/>
              </a:rPr>
              <a:t>Workflow instructions</a:t>
            </a:r>
            <a:endParaRPr sz="12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79900BA-F303-8589-0CFF-C0F46530828E}"/>
              </a:ext>
            </a:extLst>
          </p:cNvPr>
          <p:cNvSpPr>
            <a:spLocks noGrp="1"/>
          </p:cNvSpPr>
          <p:nvPr/>
        </p:nvSpPr>
        <p:spPr>
          <a:xfrm>
            <a:off x="3447288" y="3938778"/>
            <a:ext cx="2468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ctr">
              <a:buNone/>
            </a:pPr>
            <a:r>
              <a:rPr sz="10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Step-by-step guidance for the workflow, usually written in a file called SKILL.md.</a:t>
            </a:r>
            <a:endParaRPr sz="10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D23728C-EFCD-8395-FA41-ED1E4B7640D7}"/>
              </a:ext>
            </a:extLst>
          </p:cNvPr>
          <p:cNvSpPr>
            <a:spLocks noGrp="1"/>
          </p:cNvSpPr>
          <p:nvPr/>
        </p:nvSpPr>
        <p:spPr>
          <a:xfrm>
            <a:off x="6254496" y="3481578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859B347-8B73-8B3C-61CC-5B3A2F5B5FE6}"/>
              </a:ext>
            </a:extLst>
          </p:cNvPr>
          <p:cNvSpPr>
            <a:spLocks noGrp="1"/>
          </p:cNvSpPr>
          <p:nvPr/>
        </p:nvSpPr>
        <p:spPr>
          <a:xfrm>
            <a:off x="7467209" y="3344418"/>
            <a:ext cx="230866" cy="23086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070925B-1FDF-F5F2-61FF-EBF8E750822F}"/>
              </a:ext>
            </a:extLst>
          </p:cNvPr>
          <p:cNvSpPr>
            <a:spLocks noGrp="1"/>
          </p:cNvSpPr>
          <p:nvPr/>
        </p:nvSpPr>
        <p:spPr>
          <a:xfrm>
            <a:off x="6254496" y="3573018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A78BFA"/>
                </a:solidFill>
                <a:latin typeface="Calibri"/>
                <a:ea typeface="Calibri"/>
                <a:cs typeface="Calibri"/>
              </a:rPr>
              <a:t>Resources</a:t>
            </a:r>
            <a:endParaRPr sz="12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9D99E95-F40F-3A10-5C76-0AB91B2E2FE9}"/>
              </a:ext>
            </a:extLst>
          </p:cNvPr>
          <p:cNvSpPr>
            <a:spLocks noGrp="1"/>
          </p:cNvSpPr>
          <p:nvPr/>
        </p:nvSpPr>
        <p:spPr>
          <a:xfrm>
            <a:off x="6345936" y="3938778"/>
            <a:ext cx="2468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ctr">
              <a:buNone/>
            </a:pPr>
            <a:r>
              <a:rPr sz="1013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Supporting materials such as templates, examples, schemas, brand guidelines, and tool access.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30611446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433B91-860D-41DC-8666-ABE408CF42B2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Skills: Motivation</a:t>
            </a:r>
            <a:endParaRPr sz="30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1E728B2-E647-43BF-834D-14AFAF44AEF4}"/>
              </a:ext>
            </a:extLst>
          </p:cNvPr>
          <p:cNvSpPr>
            <a:spLocks noGrp="1"/>
          </p:cNvSpPr>
          <p:nvPr/>
        </p:nvSpPr>
        <p:spPr>
          <a:xfrm>
            <a:off x="457200" y="12344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220870D-AB39-4CE5-B566-46FD5BC6F94C}"/>
              </a:ext>
            </a:extLst>
          </p:cNvPr>
          <p:cNvSpPr>
            <a:spLocks noGrp="1"/>
          </p:cNvSpPr>
          <p:nvPr/>
        </p:nvSpPr>
        <p:spPr>
          <a:xfrm>
            <a:off x="1097280" y="1320655"/>
            <a:ext cx="69494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>
                <a:solidFill>
                  <a:srgbClr val="38BDF8"/>
                </a:solidFill>
                <a:latin typeface="Trebuchet MS"/>
                <a:ea typeface="Trebuchet MS"/>
                <a:cs typeface="Trebuchet MS"/>
              </a:rPr>
              <a:t>Consistency</a:t>
            </a:r>
            <a:endParaRPr sz="17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55D5ECC-F6E3-48C8-B069-529A914793DF}"/>
              </a:ext>
            </a:extLst>
          </p:cNvPr>
          <p:cNvSpPr>
            <a:spLocks noGrp="1"/>
          </p:cNvSpPr>
          <p:nvPr/>
        </p:nvSpPr>
        <p:spPr>
          <a:xfrm>
            <a:off x="1097280" y="1706989"/>
            <a:ext cx="69494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Fewer missed sections, less drift in tone or format, and closer adherence to preferred format.</a:t>
            </a:r>
            <a:endParaRPr sz="13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F0603E2-4B8D-4E7D-BE9B-C5BE179B0C75}"/>
              </a:ext>
            </a:extLst>
          </p:cNvPr>
          <p:cNvSpPr>
            <a:spLocks noGrp="1"/>
          </p:cNvSpPr>
          <p:nvPr/>
        </p:nvSpPr>
        <p:spPr>
          <a:xfrm>
            <a:off x="457200" y="23774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E2842513-A7F7-4956-B4EA-4876DF370F4E}"/>
              </a:ext>
            </a:extLst>
          </p:cNvPr>
          <p:cNvSpPr>
            <a:spLocks noGrp="1"/>
          </p:cNvSpPr>
          <p:nvPr/>
        </p:nvSpPr>
        <p:spPr>
          <a:xfrm>
            <a:off x="1097280" y="2455164"/>
            <a:ext cx="69494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>
                <a:solidFill>
                  <a:srgbClr val="FBBF24"/>
                </a:solidFill>
                <a:latin typeface="Trebuchet MS"/>
                <a:ea typeface="Trebuchet MS"/>
                <a:cs typeface="Trebuchet MS"/>
              </a:rPr>
              <a:t>Sharing the playbook</a:t>
            </a:r>
            <a:endParaRPr sz="17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1D4C676-25D1-4D16-AD76-FE1495FE9499}"/>
              </a:ext>
            </a:extLst>
          </p:cNvPr>
          <p:cNvSpPr>
            <a:spLocks noGrp="1"/>
          </p:cNvSpPr>
          <p:nvPr/>
        </p:nvSpPr>
        <p:spPr>
          <a:xfrm>
            <a:off x="1097280" y="2841498"/>
            <a:ext cx="69494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Teams can use the same standard process instead of relying on informal or undocumented knowledge.</a:t>
            </a:r>
            <a:endParaRPr sz="130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AFB3FF40-1EE1-4F1C-8BC0-68BA6D8909D1}"/>
              </a:ext>
            </a:extLst>
          </p:cNvPr>
          <p:cNvSpPr>
            <a:spLocks noGrp="1"/>
          </p:cNvSpPr>
          <p:nvPr/>
        </p:nvSpPr>
        <p:spPr>
          <a:xfrm>
            <a:off x="457200" y="35204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616F52DA-3EDA-43C0-B1B4-D84C734A1CC5}"/>
              </a:ext>
            </a:extLst>
          </p:cNvPr>
          <p:cNvSpPr>
            <a:spLocks noGrp="1"/>
          </p:cNvSpPr>
          <p:nvPr/>
        </p:nvSpPr>
        <p:spPr>
          <a:xfrm>
            <a:off x="1097280" y="3611880"/>
            <a:ext cx="69494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>
                <a:solidFill>
                  <a:srgbClr val="34D399"/>
                </a:solidFill>
                <a:latin typeface="Trebuchet MS"/>
                <a:ea typeface="Trebuchet MS"/>
                <a:cs typeface="Trebuchet MS"/>
              </a:rPr>
              <a:t>Reuse across surfaces</a:t>
            </a:r>
            <a:endParaRPr sz="170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C3A23815-8103-4571-A26B-1B6B1AB44F35}"/>
              </a:ext>
            </a:extLst>
          </p:cNvPr>
          <p:cNvSpPr>
            <a:spLocks noGrp="1"/>
          </p:cNvSpPr>
          <p:nvPr/>
        </p:nvSpPr>
        <p:spPr>
          <a:xfrm>
            <a:off x="1097280" y="3977640"/>
            <a:ext cx="69494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Build once and apply across different chats, use cases, and models.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7163807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5A2B0BA-DCC4-554A-CF07-04473241ABA5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SKILL.md</a:t>
            </a:r>
            <a:endParaRPr sz="300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D2FF4C48-2161-D276-F83F-3159C0718143}"/>
              </a:ext>
            </a:extLst>
          </p:cNvPr>
          <p:cNvSpPr>
            <a:spLocks noGrp="1"/>
          </p:cNvSpPr>
          <p:nvPr/>
        </p:nvSpPr>
        <p:spPr>
          <a:xfrm>
            <a:off x="4217669" y="941832"/>
            <a:ext cx="3856809" cy="3584568"/>
          </a:xfrm>
          <a:prstGeom prst="roundRect">
            <a:avLst>
              <a:gd name="adj" fmla="val 8696"/>
            </a:avLst>
          </a:prstGeom>
          <a:solidFill>
            <a:srgbClr val="040C18"/>
          </a:solidFill>
          <a:ln w="12700">
            <a:solidFill>
              <a:srgbClr val="152A42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E7241C6F-651B-5455-D0FE-609DFF912274}"/>
              </a:ext>
            </a:extLst>
          </p:cNvPr>
          <p:cNvSpPr>
            <a:spLocks noGrp="1"/>
          </p:cNvSpPr>
          <p:nvPr/>
        </p:nvSpPr>
        <p:spPr>
          <a:xfrm>
            <a:off x="4382262" y="1060705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C45E0CB-F11D-A6D3-15BE-13D93B319CEC}"/>
              </a:ext>
            </a:extLst>
          </p:cNvPr>
          <p:cNvSpPr>
            <a:spLocks noGrp="1"/>
          </p:cNvSpPr>
          <p:nvPr/>
        </p:nvSpPr>
        <p:spPr>
          <a:xfrm>
            <a:off x="4501134" y="1060705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0BC329F-9777-BD73-4360-BBADFC7192BB}"/>
              </a:ext>
            </a:extLst>
          </p:cNvPr>
          <p:cNvSpPr>
            <a:spLocks noGrp="1"/>
          </p:cNvSpPr>
          <p:nvPr/>
        </p:nvSpPr>
        <p:spPr>
          <a:xfrm>
            <a:off x="4620006" y="1060705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9D64D397-AC04-AEFF-D4C0-A4C9B184087B}"/>
              </a:ext>
            </a:extLst>
          </p:cNvPr>
          <p:cNvSpPr>
            <a:spLocks noGrp="1"/>
          </p:cNvSpPr>
          <p:nvPr/>
        </p:nvSpPr>
        <p:spPr>
          <a:xfrm>
            <a:off x="4354829" y="1280160"/>
            <a:ext cx="3597185" cy="317101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# Skill: Meeting Summary</a:t>
            </a:r>
          </a:p>
          <a:p>
            <a:pPr marL="0" indent="0">
              <a:buNone/>
            </a:pPr>
            <a:endParaRPr sz="800">
              <a:solidFill>
                <a:srgbClr val="A8C6DF"/>
              </a:solidFill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## Description</a:t>
            </a:r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Turns messy meeting notes into clear decisions and actions.</a:t>
            </a:r>
          </a:p>
          <a:p>
            <a:pPr marL="0" indent="0">
              <a:buNone/>
            </a:pPr>
            <a:endParaRPr sz="800">
              <a:solidFill>
                <a:srgbClr val="A8C6DF"/>
              </a:solidFill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## Required inputs</a:t>
            </a:r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- Meeting notes or transcript</a:t>
            </a:r>
          </a:p>
          <a:p>
            <a:pPr marL="0" indent="0">
              <a:buNone/>
            </a:pPr>
            <a:endParaRPr sz="800">
              <a:solidFill>
                <a:srgbClr val="A8C6DF"/>
              </a:solidFill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## Instructions</a:t>
            </a:r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1. Identify key topics discussed.</a:t>
            </a:r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2. Extract decisions that were made.</a:t>
            </a:r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3. Extract action items and owners.</a:t>
            </a:r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4. Ignore small talk and repetition.</a:t>
            </a:r>
          </a:p>
          <a:p>
            <a:pPr marL="0" indent="0">
              <a:buNone/>
            </a:pPr>
            <a:endParaRPr sz="800">
              <a:solidFill>
                <a:srgbClr val="A8C6DF"/>
              </a:solidFill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## Output format</a:t>
            </a:r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- **Summary:** 3–5 bullets</a:t>
            </a:r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- **Decisions:** what was agreed</a:t>
            </a:r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- **Actions:** owner + task + deadline</a:t>
            </a:r>
          </a:p>
          <a:p>
            <a:pPr marL="0" indent="0">
              <a:buNone/>
            </a:pPr>
            <a:endParaRPr sz="800">
              <a:solidFill>
                <a:srgbClr val="A8C6DF"/>
              </a:solidFill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## Final checks</a:t>
            </a:r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- Every action has an owner if known.</a:t>
            </a:r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- Do not invent decisions or deadlines.</a:t>
            </a:r>
          </a:p>
          <a:p>
            <a:pPr marL="0" indent="0">
              <a:buNone/>
            </a:pPr>
            <a:r>
              <a:rPr sz="8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- Keep the result concise.</a:t>
            </a:r>
          </a:p>
          <a:p>
            <a:pPr marL="0" indent="0">
              <a:buNone/>
            </a:pPr>
            <a:endParaRPr sz="800">
              <a:solidFill>
                <a:srgbClr val="A8C6D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96430924-233F-F9B2-7748-1E1179801456}"/>
              </a:ext>
            </a:extLst>
          </p:cNvPr>
          <p:cNvSpPr>
            <a:spLocks noGrp="1"/>
          </p:cNvSpPr>
          <p:nvPr/>
        </p:nvSpPr>
        <p:spPr>
          <a:xfrm>
            <a:off x="4020298" y="1536192"/>
            <a:ext cx="300119" cy="30144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8FF1472F-B1B8-3053-5798-1CDCBF5A1011}"/>
              </a:ext>
            </a:extLst>
          </p:cNvPr>
          <p:cNvSpPr>
            <a:spLocks noGrp="1"/>
          </p:cNvSpPr>
          <p:nvPr/>
        </p:nvSpPr>
        <p:spPr>
          <a:xfrm>
            <a:off x="4020297" y="1886164"/>
            <a:ext cx="300119" cy="30144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CCDDA35C-4FC1-C3E7-4B9C-BEE1450473D4}"/>
              </a:ext>
            </a:extLst>
          </p:cNvPr>
          <p:cNvSpPr>
            <a:spLocks noGrp="1"/>
          </p:cNvSpPr>
          <p:nvPr/>
        </p:nvSpPr>
        <p:spPr>
          <a:xfrm>
            <a:off x="4020296" y="2281951"/>
            <a:ext cx="300119" cy="67394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0AA6006C-3337-6729-F39A-635CAEE6F7E7}"/>
              </a:ext>
            </a:extLst>
          </p:cNvPr>
          <p:cNvSpPr>
            <a:spLocks noGrp="1"/>
          </p:cNvSpPr>
          <p:nvPr/>
        </p:nvSpPr>
        <p:spPr>
          <a:xfrm>
            <a:off x="4020295" y="3004423"/>
            <a:ext cx="300119" cy="52330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Left Brace 27">
            <a:extLst>
              <a:ext uri="{FF2B5EF4-FFF2-40B4-BE49-F238E27FC236}">
                <a16:creationId xmlns:a16="http://schemas.microsoft.com/office/drawing/2014/main" id="{C4C3458A-865E-AFA9-D537-0E7354B27711}"/>
              </a:ext>
            </a:extLst>
          </p:cNvPr>
          <p:cNvSpPr>
            <a:spLocks noGrp="1"/>
          </p:cNvSpPr>
          <p:nvPr/>
        </p:nvSpPr>
        <p:spPr>
          <a:xfrm>
            <a:off x="4020295" y="3621988"/>
            <a:ext cx="300119" cy="57968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074276-F66C-0008-B013-C5DE9FBE6591}"/>
              </a:ext>
            </a:extLst>
          </p:cNvPr>
          <p:cNvSpPr>
            <a:spLocks noGrp="1"/>
          </p:cNvSpPr>
          <p:nvPr/>
        </p:nvSpPr>
        <p:spPr>
          <a:xfrm>
            <a:off x="1755987" y="2406278"/>
            <a:ext cx="219572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chemeClr val="bg1">
                    <a:lumMod val="95000"/>
                  </a:schemeClr>
                </a:solidFill>
              </a:rPr>
              <a:t>Step-by-step instructions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4D4E3E-3BD4-19E8-C135-6D82923CBA3B}"/>
              </a:ext>
            </a:extLst>
          </p:cNvPr>
          <p:cNvSpPr>
            <a:spLocks noGrp="1"/>
          </p:cNvSpPr>
          <p:nvPr/>
        </p:nvSpPr>
        <p:spPr>
          <a:xfrm>
            <a:off x="2420750" y="1849053"/>
            <a:ext cx="150086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chemeClr val="bg1">
                    <a:lumMod val="95000"/>
                  </a:schemeClr>
                </a:solidFill>
              </a:rPr>
              <a:t>Required inputs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F43BBB-B218-B2FB-385C-5DC1DE86ED3C}"/>
              </a:ext>
            </a:extLst>
          </p:cNvPr>
          <p:cNvSpPr>
            <a:spLocks noGrp="1"/>
          </p:cNvSpPr>
          <p:nvPr/>
        </p:nvSpPr>
        <p:spPr>
          <a:xfrm>
            <a:off x="2151896" y="1504778"/>
            <a:ext cx="176971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chemeClr val="bg1">
                    <a:lumMod val="95000"/>
                  </a:schemeClr>
                </a:solidFill>
              </a:rPr>
              <a:t>What the skill does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E733894-DF11-28BE-FE93-671ABB3DC6EC}"/>
              </a:ext>
            </a:extLst>
          </p:cNvPr>
          <p:cNvSpPr>
            <a:spLocks noGrp="1"/>
          </p:cNvSpPr>
          <p:nvPr/>
        </p:nvSpPr>
        <p:spPr>
          <a:xfrm>
            <a:off x="1785417" y="3096797"/>
            <a:ext cx="216629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chemeClr val="bg1">
                    <a:lumMod val="95000"/>
                  </a:schemeClr>
                </a:solidFill>
              </a:rPr>
              <a:t>Required output format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9ED40C-B647-8729-CDE7-B91D18E4D7D7}"/>
              </a:ext>
            </a:extLst>
          </p:cNvPr>
          <p:cNvSpPr>
            <a:spLocks noGrp="1"/>
          </p:cNvSpPr>
          <p:nvPr/>
        </p:nvSpPr>
        <p:spPr>
          <a:xfrm>
            <a:off x="1191986" y="3742551"/>
            <a:ext cx="276319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chemeClr val="bg1">
                    <a:lumMod val="95000"/>
                  </a:schemeClr>
                </a:solidFill>
              </a:rPr>
              <a:t>Final checks before completion</a:t>
            </a:r>
          </a:p>
        </p:txBody>
      </p:sp>
    </p:spTree>
    <p:extLst>
      <p:ext uri="{BB962C8B-B14F-4D97-AF65-F5344CB8AC3E}">
        <p14:creationId xmlns:p14="http://schemas.microsoft.com/office/powerpoint/2010/main" val="34136769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EBBE396-C03B-2691-851B-65A0FE579461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Practice 4: Skills</a:t>
            </a:r>
            <a:endParaRPr sz="300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5B0217AC-2688-168C-3177-DD69E1B19DD5}"/>
              </a:ext>
            </a:extLst>
          </p:cNvPr>
          <p:cNvSpPr>
            <a:spLocks noGrp="1"/>
          </p:cNvSpPr>
          <p:nvPr/>
        </p:nvSpPr>
        <p:spPr>
          <a:xfrm>
            <a:off x="355962" y="1286690"/>
            <a:ext cx="8432075" cy="3277145"/>
          </a:xfrm>
          <a:prstGeom prst="roundRect">
            <a:avLst>
              <a:gd name="adj" fmla="val 8696"/>
            </a:avLst>
          </a:prstGeom>
          <a:solidFill>
            <a:srgbClr val="040C18"/>
          </a:solidFill>
          <a:ln w="12700">
            <a:solidFill>
              <a:srgbClr val="152A42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88EF1143-DB94-C749-D64C-09F05C33C233}"/>
              </a:ext>
            </a:extLst>
          </p:cNvPr>
          <p:cNvSpPr>
            <a:spLocks noGrp="1"/>
          </p:cNvSpPr>
          <p:nvPr/>
        </p:nvSpPr>
        <p:spPr>
          <a:xfrm>
            <a:off x="520555" y="1405563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3C4820BA-A59D-8113-69C7-145B9E192147}"/>
              </a:ext>
            </a:extLst>
          </p:cNvPr>
          <p:cNvSpPr>
            <a:spLocks noGrp="1"/>
          </p:cNvSpPr>
          <p:nvPr/>
        </p:nvSpPr>
        <p:spPr>
          <a:xfrm>
            <a:off x="639427" y="1405563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62AD9107-EAEC-6A4B-2EBE-2E9C7C76DC75}"/>
              </a:ext>
            </a:extLst>
          </p:cNvPr>
          <p:cNvSpPr>
            <a:spLocks noGrp="1"/>
          </p:cNvSpPr>
          <p:nvPr/>
        </p:nvSpPr>
        <p:spPr>
          <a:xfrm>
            <a:off x="758299" y="1405563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80218285-4011-136F-D9CE-CDDE07D7CCF2}"/>
              </a:ext>
            </a:extLst>
          </p:cNvPr>
          <p:cNvSpPr>
            <a:spLocks noGrp="1"/>
          </p:cNvSpPr>
          <p:nvPr/>
        </p:nvSpPr>
        <p:spPr>
          <a:xfrm>
            <a:off x="493122" y="1625018"/>
            <a:ext cx="8172451" cy="2546931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4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# Checkout Practice 4</a:t>
            </a:r>
          </a:p>
          <a:p>
            <a:pPr marL="0" indent="0">
              <a:buNone/>
            </a:pPr>
            <a:r>
              <a:rPr sz="14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git fetch origin</a:t>
            </a:r>
          </a:p>
          <a:p>
            <a:pPr marL="0" indent="0">
              <a:buNone/>
            </a:pPr>
            <a:r>
              <a:rPr sz="14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git switch practice-4</a:t>
            </a:r>
          </a:p>
          <a:p>
            <a:pPr marL="0" indent="0">
              <a:buNone/>
            </a:pPr>
            <a:endParaRPr sz="1400">
              <a:solidFill>
                <a:srgbClr val="A8C6DF"/>
              </a:solidFill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sz="140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# Start reading MD guidelines</a:t>
            </a:r>
          </a:p>
        </p:txBody>
      </p:sp>
    </p:spTree>
    <p:extLst>
      <p:ext uri="{BB962C8B-B14F-4D97-AF65-F5344CB8AC3E}">
        <p14:creationId xmlns:p14="http://schemas.microsoft.com/office/powerpoint/2010/main" val="1015362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0041548-4FC5-FBF9-5808-FDE3EB0AD7F4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Practice 4: Skills</a:t>
            </a:r>
            <a:endParaRPr sz="3000"/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C101BB9A-674C-4498-CA8C-345CF43DB34D}"/>
              </a:ext>
            </a:extLst>
          </p:cNvPr>
          <p:cNvSpPr>
            <a:spLocks noGrp="1"/>
          </p:cNvSpPr>
          <p:nvPr/>
        </p:nvSpPr>
        <p:spPr>
          <a:xfrm>
            <a:off x="502920" y="946404"/>
            <a:ext cx="8229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Create a code-reviewer skill for Kit, validate it, and compare code-review results produced with and without the skill.</a:t>
            </a:r>
            <a:endParaRPr sz="120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358BE9E-65C8-0873-1229-9D1ADC3FFD8E}"/>
              </a:ext>
            </a:extLst>
          </p:cNvPr>
          <p:cNvSpPr>
            <a:spLocks noGrp="1"/>
          </p:cNvSpPr>
          <p:nvPr/>
        </p:nvSpPr>
        <p:spPr>
          <a:xfrm>
            <a:off x="304798" y="1505543"/>
            <a:ext cx="4377267" cy="19123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r>
              <a:t>KIT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E09AD782-2FE7-FF85-72D6-7FB32C392F4A}"/>
              </a:ext>
            </a:extLst>
          </p:cNvPr>
          <p:cNvSpPr>
            <a:spLocks noGrp="1"/>
          </p:cNvSpPr>
          <p:nvPr/>
        </p:nvSpPr>
        <p:spPr>
          <a:xfrm>
            <a:off x="5071532" y="2094463"/>
            <a:ext cx="3869267" cy="7344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t>.agents/skills/code-reviewer/SKILL.md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5BBEABC-176C-5472-4E1B-DD0FF9619E70}"/>
              </a:ext>
            </a:extLst>
          </p:cNvPr>
          <p:cNvSpPr>
            <a:spLocks noGrp="1"/>
          </p:cNvSpPr>
          <p:nvPr/>
        </p:nvSpPr>
        <p:spPr>
          <a:xfrm>
            <a:off x="1401231" y="3861224"/>
            <a:ext cx="2184400" cy="7344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t>LLM</a:t>
            </a:r>
          </a:p>
        </p:txBody>
      </p:sp>
      <p:cxnSp>
        <p:nvCxnSpPr>
          <p:cNvPr id="94" name="Straight Arrow Connector 31"/>
          <p:cNvCxnSpPr>
            <a:stCxn id="3" idx="2"/>
            <a:endCxn id="30" idx="0"/>
          </p:cNvCxnSpPr>
          <p:nvPr/>
        </p:nvCxnSpPr>
        <p:spPr>
          <a:xfrm flipH="1">
            <a:off x="2493431" y="3417867"/>
            <a:ext cx="1" cy="4433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33"/>
          <p:cNvCxnSpPr>
            <a:stCxn id="3" idx="3"/>
            <a:endCxn id="29" idx="1"/>
          </p:cNvCxnSpPr>
          <p:nvPr/>
        </p:nvCxnSpPr>
        <p:spPr>
          <a:xfrm>
            <a:off x="4682065" y="2461705"/>
            <a:ext cx="3894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7C43DA80-B2E3-D131-7593-CE092D258F3A}"/>
              </a:ext>
            </a:extLst>
          </p:cNvPr>
          <p:cNvSpPr>
            <a:spLocks noGrp="1"/>
          </p:cNvSpPr>
          <p:nvPr/>
        </p:nvSpPr>
        <p:spPr>
          <a:xfrm>
            <a:off x="464450" y="2360218"/>
            <a:ext cx="31814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“</a:t>
            </a:r>
            <a:r>
              <a:rPr>
                <a:solidFill>
                  <a:srgbClr val="C00000"/>
                </a:solidFill>
              </a:rPr>
              <a:t>/code-reviewer </a:t>
            </a:r>
            <a:r>
              <a:rPr>
                <a:solidFill>
                  <a:schemeClr val="bg1">
                    <a:lumMod val="95000"/>
                  </a:schemeClr>
                </a:solidFill>
              </a:rPr>
              <a:t>Review the following Node.js function….”</a:t>
            </a:r>
          </a:p>
        </p:txBody>
      </p:sp>
    </p:spTree>
    <p:extLst>
      <p:ext uri="{BB962C8B-B14F-4D97-AF65-F5344CB8AC3E}">
        <p14:creationId xmlns:p14="http://schemas.microsoft.com/office/powerpoint/2010/main" val="21131889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74CB684-5365-A51A-0D25-9CCCB469DD8D}"/>
              </a:ext>
            </a:extLst>
          </p:cNvPr>
          <p:cNvSpPr>
            <a:spLocks noGrp="1"/>
          </p:cNvSpPr>
          <p:nvPr/>
        </p:nvSpPr>
        <p:spPr>
          <a:xfrm>
            <a:off x="3474720" y="182880"/>
            <a:ext cx="5486400" cy="4572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 algn="r">
              <a:buNone/>
            </a:pPr>
            <a:r>
              <a:rPr sz="23000" b="1">
                <a:solidFill>
                  <a:srgbClr val="0B1E34"/>
                </a:solidFill>
                <a:latin typeface="Trebuchet MS"/>
                <a:ea typeface="Trebuchet MS"/>
                <a:cs typeface="Trebuchet MS"/>
              </a:rPr>
              <a:t>06</a:t>
            </a:r>
            <a:endParaRPr sz="230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31EBBF2-9120-32D1-6393-3CAA27F27D98}"/>
              </a:ext>
            </a:extLst>
          </p:cNvPr>
          <p:cNvSpPr>
            <a:spLocks noGrp="1"/>
          </p:cNvSpPr>
          <p:nvPr/>
        </p:nvSpPr>
        <p:spPr>
          <a:xfrm>
            <a:off x="502920" y="64008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0A2C50"/>
          </a:solidFill>
          <a:ln w="12700">
            <a:solidFill>
              <a:srgbClr val="0A2C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C9C8C61-E99F-DA51-1AEC-50E5175F6D7F}"/>
              </a:ext>
            </a:extLst>
          </p:cNvPr>
          <p:cNvSpPr>
            <a:spLocks noGrp="1"/>
          </p:cNvSpPr>
          <p:nvPr/>
        </p:nvSpPr>
        <p:spPr>
          <a:xfrm>
            <a:off x="502920" y="640080"/>
            <a:ext cx="128016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 spc="300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PART 06</a:t>
            </a:r>
            <a:endParaRPr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3BBFB07-B052-27E2-5182-1E1C5DD3E788}"/>
              </a:ext>
            </a:extLst>
          </p:cNvPr>
          <p:cNvSpPr>
            <a:spLocks noGrp="1"/>
          </p:cNvSpPr>
          <p:nvPr/>
        </p:nvSpPr>
        <p:spPr>
          <a:xfrm>
            <a:off x="502920" y="1234440"/>
            <a:ext cx="833628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46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The Rabbit Hole Goes Deeper</a:t>
            </a:r>
            <a:endParaRPr sz="46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95924BA-7EE2-1715-BE3D-B826CB259CD9}"/>
              </a:ext>
            </a:extLst>
          </p:cNvPr>
          <p:cNvSpPr>
            <a:spLocks noGrp="1"/>
          </p:cNvSpPr>
          <p:nvPr/>
        </p:nvSpPr>
        <p:spPr>
          <a:xfrm>
            <a:off x="502920" y="2423160"/>
            <a:ext cx="64008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5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More AI topics worth exploring</a:t>
            </a:r>
            <a:endParaRPr sz="15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ECB949B-7514-D80B-F6D1-01A9FF1E022B}"/>
              </a:ext>
            </a:extLst>
          </p:cNvPr>
          <p:cNvSpPr>
            <a:spLocks noGrp="1"/>
          </p:cNvSpPr>
          <p:nvPr/>
        </p:nvSpPr>
        <p:spPr>
          <a:xfrm>
            <a:off x="457200" y="3703320"/>
            <a:ext cx="868680" cy="868680"/>
          </a:xfrm>
          <a:prstGeom prst="ellipse">
            <a:avLst/>
          </a:prstGeom>
          <a:solidFill>
            <a:srgbClr val="0A2C50"/>
          </a:solidFill>
          <a:ln w="12700">
            <a:solidFill>
              <a:srgbClr val="0A2C5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Graphic 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12064" y="3758184"/>
            <a:ext cx="758952" cy="75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3424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6058DC-4FA1-FBE2-AF8E-A417123D5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E38D64C-A5EC-87A7-184E-0DE3586C2429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 dirty="0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Agent </a:t>
            </a:r>
            <a:r>
              <a:rPr lang="en-US" sz="3000" b="1" dirty="0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AI</a:t>
            </a:r>
            <a:endParaRPr sz="3000" dirty="0"/>
          </a:p>
        </p:txBody>
      </p:sp>
      <p:pic>
        <p:nvPicPr>
          <p:cNvPr id="17" name="Picture 2" descr="What is agentic AI and how will it reshape your work and organisation?">
            <a:extLst>
              <a:ext uri="{FF2B5EF4-FFF2-40B4-BE49-F238E27FC236}">
                <a16:creationId xmlns:a16="http://schemas.microsoft.com/office/drawing/2014/main" id="{F016C9EF-4C21-CAD6-D333-ED66F7D79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50643" y="998264"/>
            <a:ext cx="5842714" cy="3797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37648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2C5D2B5-466B-42E1-8994-664BB83E7814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 dirty="0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Agent </a:t>
            </a:r>
            <a:r>
              <a:rPr lang="en-US" sz="3000" b="1" dirty="0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AI</a:t>
            </a:r>
            <a:endParaRPr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37E497E-C964-4C0A-9DF4-0740AE03A117}"/>
              </a:ext>
            </a:extLst>
          </p:cNvPr>
          <p:cNvSpPr>
            <a:spLocks noGrp="1"/>
          </p:cNvSpPr>
          <p:nvPr/>
        </p:nvSpPr>
        <p:spPr>
          <a:xfrm>
            <a:off x="502920" y="987552"/>
            <a:ext cx="8229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An agent uses a model to choose actions, run tools, inspect results, and continue until it stops.</a:t>
            </a:r>
            <a:endParaRPr sz="13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8A9B887-83FF-4880-A8E4-50F376A43D6D}"/>
              </a:ext>
            </a:extLst>
          </p:cNvPr>
          <p:cNvSpPr>
            <a:spLocks noGrp="1"/>
          </p:cNvSpPr>
          <p:nvPr/>
        </p:nvSpPr>
        <p:spPr>
          <a:xfrm>
            <a:off x="914400" y="1508760"/>
            <a:ext cx="2926080" cy="777240"/>
          </a:xfrm>
          <a:prstGeom prst="roundRect">
            <a:avLst>
              <a:gd name="adj" fmla="val 11765"/>
            </a:avLst>
          </a:prstGeom>
          <a:solidFill>
            <a:srgbClr val="0C2840"/>
          </a:solidFill>
          <a:ln w="12700">
            <a:solidFill>
              <a:srgbClr val="0C28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8D89109-B0D8-4258-BDF0-C3E78B8433DD}"/>
              </a:ext>
            </a:extLst>
          </p:cNvPr>
          <p:cNvSpPr>
            <a:spLocks noGrp="1"/>
          </p:cNvSpPr>
          <p:nvPr/>
        </p:nvSpPr>
        <p:spPr>
          <a:xfrm>
            <a:off x="914400" y="1508760"/>
            <a:ext cx="292608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Goal +</a:t>
            </a:r>
            <a:endParaRPr sz="1100"/>
          </a:p>
          <a:p>
            <a:pPr marL="0" indent="0" algn="ctr">
              <a:buNone/>
            </a:pPr>
            <a:r>
              <a:rPr sz="11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Context</a:t>
            </a:r>
            <a:endParaRPr sz="11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1D2D4C6-C05A-41B0-9961-F196A9E9B150}"/>
              </a:ext>
            </a:extLst>
          </p:cNvPr>
          <p:cNvSpPr>
            <a:spLocks noGrp="1"/>
          </p:cNvSpPr>
          <p:nvPr/>
        </p:nvSpPr>
        <p:spPr>
          <a:xfrm>
            <a:off x="5303520" y="1508760"/>
            <a:ext cx="2926080" cy="777240"/>
          </a:xfrm>
          <a:prstGeom prst="roundRect">
            <a:avLst>
              <a:gd name="adj" fmla="val 11765"/>
            </a:avLst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480E864-6FE4-47BB-B45C-5A9A7A86965D}"/>
              </a:ext>
            </a:extLst>
          </p:cNvPr>
          <p:cNvSpPr>
            <a:spLocks noGrp="1"/>
          </p:cNvSpPr>
          <p:nvPr/>
        </p:nvSpPr>
        <p:spPr>
          <a:xfrm>
            <a:off x="5303520" y="1508760"/>
            <a:ext cx="292608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A78BFA"/>
                </a:solidFill>
                <a:latin typeface="Calibri"/>
                <a:ea typeface="Calibri"/>
                <a:cs typeface="Calibri"/>
              </a:rPr>
              <a:t>Model Chooses
Action</a:t>
            </a:r>
            <a:endParaRPr sz="11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08B1AF8-3438-4EB5-8864-9CF1C464CAC6}"/>
              </a:ext>
            </a:extLst>
          </p:cNvPr>
          <p:cNvSpPr>
            <a:spLocks noGrp="1"/>
          </p:cNvSpPr>
          <p:nvPr/>
        </p:nvSpPr>
        <p:spPr>
          <a:xfrm>
            <a:off x="914400" y="3429000"/>
            <a:ext cx="2926080" cy="777240"/>
          </a:xfrm>
          <a:prstGeom prst="roundRect">
            <a:avLst>
              <a:gd name="adj" fmla="val 11765"/>
            </a:avLst>
          </a:prstGeom>
          <a:solidFill>
            <a:srgbClr val="0C2840"/>
          </a:solidFill>
          <a:ln w="12700">
            <a:solidFill>
              <a:srgbClr val="0C28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B2453ED-DE30-4077-B10C-58ABE6085728}"/>
              </a:ext>
            </a:extLst>
          </p:cNvPr>
          <p:cNvSpPr>
            <a:spLocks noGrp="1"/>
          </p:cNvSpPr>
          <p:nvPr/>
        </p:nvSpPr>
        <p:spPr>
          <a:xfrm>
            <a:off x="914400" y="3429000"/>
            <a:ext cx="292608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34D399"/>
                </a:solidFill>
                <a:latin typeface="Calibri"/>
                <a:ea typeface="Calibri"/>
                <a:cs typeface="Calibri"/>
              </a:rPr>
              <a:t>Tool Result →</a:t>
            </a:r>
            <a:endParaRPr sz="1100"/>
          </a:p>
          <a:p>
            <a:pPr marL="0" indent="0" algn="ctr">
              <a:buNone/>
            </a:pPr>
            <a:r>
              <a:rPr sz="1100" b="1">
                <a:solidFill>
                  <a:srgbClr val="34D399"/>
                </a:solidFill>
                <a:latin typeface="Calibri"/>
                <a:ea typeface="Calibri"/>
                <a:cs typeface="Calibri"/>
              </a:rPr>
              <a:t>Context</a:t>
            </a:r>
            <a:endParaRPr sz="11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9E3B52A-981B-4798-A146-63D1D711D904}"/>
              </a:ext>
            </a:extLst>
          </p:cNvPr>
          <p:cNvSpPr>
            <a:spLocks noGrp="1"/>
          </p:cNvSpPr>
          <p:nvPr/>
        </p:nvSpPr>
        <p:spPr>
          <a:xfrm>
            <a:off x="5303520" y="3429000"/>
            <a:ext cx="2926080" cy="777240"/>
          </a:xfrm>
          <a:prstGeom prst="roundRect">
            <a:avLst>
              <a:gd name="adj" fmla="val 11765"/>
            </a:avLst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824D181-9D48-4058-9BAF-DDE436DCECFA}"/>
              </a:ext>
            </a:extLst>
          </p:cNvPr>
          <p:cNvSpPr>
            <a:spLocks noGrp="1"/>
          </p:cNvSpPr>
          <p:nvPr/>
        </p:nvSpPr>
        <p:spPr>
          <a:xfrm>
            <a:off x="5303520" y="3429000"/>
            <a:ext cx="292608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FBBF24"/>
                </a:solidFill>
                <a:latin typeface="Calibri"/>
                <a:ea typeface="Calibri"/>
                <a:cs typeface="Calibri"/>
              </a:rPr>
              <a:t>Code Runs</a:t>
            </a:r>
            <a:endParaRPr sz="1100"/>
          </a:p>
          <a:p>
            <a:pPr marL="0" indent="0" algn="ctr">
              <a:buNone/>
            </a:pPr>
            <a:r>
              <a:rPr sz="1100" b="1">
                <a:solidFill>
                  <a:srgbClr val="FBBF24"/>
                </a:solidFill>
                <a:latin typeface="Calibri"/>
                <a:ea typeface="Calibri"/>
                <a:cs typeface="Calibri"/>
              </a:rPr>
              <a:t>Tool</a:t>
            </a:r>
            <a:endParaRPr sz="11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1767F00-7F47-49FB-A5AA-6F12AC14450E}"/>
              </a:ext>
            </a:extLst>
          </p:cNvPr>
          <p:cNvSpPr>
            <a:spLocks noGrp="1"/>
          </p:cNvSpPr>
          <p:nvPr/>
        </p:nvSpPr>
        <p:spPr>
          <a:xfrm>
            <a:off x="3840480" y="1897380"/>
            <a:ext cx="146304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364E55D-052E-44AB-A038-673F53EEC88B}"/>
              </a:ext>
            </a:extLst>
          </p:cNvPr>
          <p:cNvSpPr>
            <a:spLocks noGrp="1"/>
          </p:cNvSpPr>
          <p:nvPr/>
        </p:nvSpPr>
        <p:spPr>
          <a:xfrm>
            <a:off x="6766560" y="2286000"/>
            <a:ext cx="0" cy="114300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3E8D686-7CF8-4FBB-8975-FADDC775F09A}"/>
              </a:ext>
            </a:extLst>
          </p:cNvPr>
          <p:cNvSpPr>
            <a:spLocks noGrp="1"/>
          </p:cNvSpPr>
          <p:nvPr/>
        </p:nvSpPr>
        <p:spPr>
          <a:xfrm flipV="1">
            <a:off x="3840480" y="3817619"/>
            <a:ext cx="1463040" cy="22841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headEnd type="arrow"/>
          </a:ln>
        </p:spPr>
        <p:txBody>
          <a:bodyPr/>
          <a:lstStyle/>
          <a:p>
            <a:endParaRPr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23BAF62-4007-4E44-B0CA-F7D064B59CAE}"/>
              </a:ext>
            </a:extLst>
          </p:cNvPr>
          <p:cNvSpPr>
            <a:spLocks noGrp="1"/>
          </p:cNvSpPr>
          <p:nvPr/>
        </p:nvSpPr>
        <p:spPr>
          <a:xfrm>
            <a:off x="2377440" y="2286000"/>
            <a:ext cx="0" cy="114300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headEnd type="arrow"/>
          </a:ln>
        </p:spPr>
        <p:txBody>
          <a:bodyPr/>
          <a:lstStyle/>
          <a:p>
            <a:endParaRPr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D978C5B-8AA3-4D90-B5CC-EF3083E3C985}"/>
              </a:ext>
            </a:extLst>
          </p:cNvPr>
          <p:cNvSpPr>
            <a:spLocks noGrp="1"/>
          </p:cNvSpPr>
          <p:nvPr/>
        </p:nvSpPr>
        <p:spPr>
          <a:xfrm>
            <a:off x="4010660" y="2313940"/>
            <a:ext cx="1097280" cy="1097280"/>
          </a:xfrm>
          <a:prstGeom prst="ellipse">
            <a:avLst/>
          </a:prstGeom>
          <a:solidFill>
            <a:srgbClr val="0A1A2E"/>
          </a:solidFill>
          <a:ln w="12700">
            <a:solidFill>
              <a:srgbClr val="1A3A58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3812" y="2387092"/>
            <a:ext cx="950976" cy="950976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7688D4C8-04FB-4F21-BA48-2CCA43CA26FC}"/>
              </a:ext>
            </a:extLst>
          </p:cNvPr>
          <p:cNvSpPr>
            <a:spLocks noGrp="1"/>
          </p:cNvSpPr>
          <p:nvPr/>
        </p:nvSpPr>
        <p:spPr>
          <a:xfrm>
            <a:off x="457200" y="434340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3409432A-FB43-42AD-ABF8-0E5F68EF9D48}"/>
              </a:ext>
            </a:extLst>
          </p:cNvPr>
          <p:cNvSpPr>
            <a:spLocks noGrp="1"/>
          </p:cNvSpPr>
          <p:nvPr/>
        </p:nvSpPr>
        <p:spPr>
          <a:xfrm>
            <a:off x="640080" y="4370832"/>
            <a:ext cx="78638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Your code controls permissions, retries, stop conditions, approval steps, and logs.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3575979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AFE742E-997D-4F19-A16A-C208A4E7A62C}"/>
              </a:ext>
            </a:extLst>
          </p:cNvPr>
          <p:cNvSpPr>
            <a:spLocks noGrp="1"/>
          </p:cNvSpPr>
          <p:nvPr/>
        </p:nvSpPr>
        <p:spPr>
          <a:xfrm>
            <a:off x="502920" y="457200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Retrieval-Augmented Generation</a:t>
            </a:r>
            <a:endParaRPr sz="30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381D125-63EF-440D-8D5D-C3D18AEE7A8F}"/>
              </a:ext>
            </a:extLst>
          </p:cNvPr>
          <p:cNvSpPr>
            <a:spLocks noGrp="1"/>
          </p:cNvSpPr>
          <p:nvPr/>
        </p:nvSpPr>
        <p:spPr>
          <a:xfrm>
            <a:off x="457200" y="105156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E921B7D-E820-46BF-84BE-ACF4F23E78FC}"/>
              </a:ext>
            </a:extLst>
          </p:cNvPr>
          <p:cNvSpPr>
            <a:spLocks noGrp="1"/>
          </p:cNvSpPr>
          <p:nvPr/>
        </p:nvSpPr>
        <p:spPr>
          <a:xfrm>
            <a:off x="457200" y="1051560"/>
            <a:ext cx="91440" cy="10058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D77F0CE-09FF-4F79-BA6F-26AD7AEA936A}"/>
              </a:ext>
            </a:extLst>
          </p:cNvPr>
          <p:cNvSpPr>
            <a:spLocks noGrp="1"/>
          </p:cNvSpPr>
          <p:nvPr/>
        </p:nvSpPr>
        <p:spPr>
          <a:xfrm>
            <a:off x="731520" y="1097280"/>
            <a:ext cx="77266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9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Retrieve relevant information, add it to the prompt, then ask the model to answer from it.</a:t>
            </a:r>
            <a:endParaRPr sz="19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CE0F267-13FE-45E5-A2C6-D5F56B55CAEF}"/>
              </a:ext>
            </a:extLst>
          </p:cNvPr>
          <p:cNvSpPr>
            <a:spLocks noGrp="1"/>
          </p:cNvSpPr>
          <p:nvPr/>
        </p:nvSpPr>
        <p:spPr>
          <a:xfrm>
            <a:off x="457200" y="2286000"/>
            <a:ext cx="1874520" cy="914400"/>
          </a:xfrm>
          <a:prstGeom prst="roundRect">
            <a:avLst>
              <a:gd name="adj" fmla="val 10000"/>
            </a:avLst>
          </a:prstGeom>
          <a:solidFill>
            <a:srgbClr val="0C2840"/>
          </a:solidFill>
          <a:ln w="12700">
            <a:solidFill>
              <a:srgbClr val="0C28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87FA664-B9BF-4DC1-B08D-779E0621A65A}"/>
              </a:ext>
            </a:extLst>
          </p:cNvPr>
          <p:cNvSpPr>
            <a:spLocks noGrp="1"/>
          </p:cNvSpPr>
          <p:nvPr/>
        </p:nvSpPr>
        <p:spPr>
          <a:xfrm>
            <a:off x="457200" y="2286000"/>
            <a:ext cx="187452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User</a:t>
            </a:r>
            <a:endParaRPr sz="1100"/>
          </a:p>
          <a:p>
            <a:pPr marL="0" indent="0" algn="ctr">
              <a:buNone/>
            </a:pPr>
            <a:r>
              <a:rPr sz="11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Question</a:t>
            </a:r>
            <a:endParaRPr sz="11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B326D03-6725-426F-8B89-9A7FFFB0819A}"/>
              </a:ext>
            </a:extLst>
          </p:cNvPr>
          <p:cNvSpPr>
            <a:spLocks noGrp="1"/>
          </p:cNvSpPr>
          <p:nvPr/>
        </p:nvSpPr>
        <p:spPr>
          <a:xfrm>
            <a:off x="2331720" y="2743200"/>
            <a:ext cx="292608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3627DFC-86A4-45EC-BA96-A36A9A9AC5F6}"/>
              </a:ext>
            </a:extLst>
          </p:cNvPr>
          <p:cNvSpPr>
            <a:spLocks noGrp="1"/>
          </p:cNvSpPr>
          <p:nvPr/>
        </p:nvSpPr>
        <p:spPr>
          <a:xfrm>
            <a:off x="2624328" y="2286000"/>
            <a:ext cx="1874520" cy="914400"/>
          </a:xfrm>
          <a:prstGeom prst="roundRect">
            <a:avLst>
              <a:gd name="adj" fmla="val 10000"/>
            </a:avLst>
          </a:prstGeom>
          <a:solidFill>
            <a:srgbClr val="121E38"/>
          </a:solidFill>
          <a:ln w="12700">
            <a:solidFill>
              <a:srgbClr val="121E38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9158B0C-6713-43C9-9E93-ABEF38BFBCDC}"/>
              </a:ext>
            </a:extLst>
          </p:cNvPr>
          <p:cNvSpPr>
            <a:spLocks noGrp="1"/>
          </p:cNvSpPr>
          <p:nvPr/>
        </p:nvSpPr>
        <p:spPr>
          <a:xfrm>
            <a:off x="2624328" y="2286000"/>
            <a:ext cx="187452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34D399"/>
                </a:solidFill>
                <a:latin typeface="Calibri"/>
                <a:ea typeface="Calibri"/>
                <a:cs typeface="Calibri"/>
              </a:rPr>
              <a:t>Retrieve</a:t>
            </a:r>
            <a:endParaRPr sz="1100"/>
          </a:p>
          <a:p>
            <a:pPr marL="0" indent="0" algn="ctr">
              <a:buNone/>
            </a:pPr>
            <a:r>
              <a:rPr sz="1100" b="1">
                <a:solidFill>
                  <a:srgbClr val="34D399"/>
                </a:solidFill>
                <a:latin typeface="Calibri"/>
                <a:ea typeface="Calibri"/>
                <a:cs typeface="Calibri"/>
              </a:rPr>
              <a:t>Relevant Chunks</a:t>
            </a:r>
            <a:endParaRPr sz="11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4B89C8E-AB32-4CB5-A83E-5A748B01B45D}"/>
              </a:ext>
            </a:extLst>
          </p:cNvPr>
          <p:cNvSpPr>
            <a:spLocks noGrp="1"/>
          </p:cNvSpPr>
          <p:nvPr/>
        </p:nvSpPr>
        <p:spPr>
          <a:xfrm>
            <a:off x="4498848" y="2743200"/>
            <a:ext cx="292608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39A224D-BE25-426A-881E-3B419C397A85}"/>
              </a:ext>
            </a:extLst>
          </p:cNvPr>
          <p:cNvSpPr>
            <a:spLocks noGrp="1"/>
          </p:cNvSpPr>
          <p:nvPr/>
        </p:nvSpPr>
        <p:spPr>
          <a:xfrm>
            <a:off x="4791456" y="2286000"/>
            <a:ext cx="1874520" cy="914400"/>
          </a:xfrm>
          <a:prstGeom prst="roundRect">
            <a:avLst>
              <a:gd name="adj" fmla="val 10000"/>
            </a:avLst>
          </a:prstGeom>
          <a:solidFill>
            <a:srgbClr val="1A1838"/>
          </a:solidFill>
          <a:ln w="12700">
            <a:solidFill>
              <a:srgbClr val="1A1838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F60EF51-8FD3-41D3-8711-824529532335}"/>
              </a:ext>
            </a:extLst>
          </p:cNvPr>
          <p:cNvSpPr>
            <a:spLocks noGrp="1"/>
          </p:cNvSpPr>
          <p:nvPr/>
        </p:nvSpPr>
        <p:spPr>
          <a:xfrm>
            <a:off x="4791456" y="2286000"/>
            <a:ext cx="187452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A78BFA"/>
                </a:solidFill>
                <a:latin typeface="Calibri"/>
                <a:ea typeface="Calibri"/>
                <a:cs typeface="Calibri"/>
              </a:rPr>
              <a:t>Build</a:t>
            </a:r>
            <a:endParaRPr sz="1100"/>
          </a:p>
          <a:p>
            <a:pPr marL="0" indent="0" algn="ctr">
              <a:buNone/>
            </a:pPr>
            <a:r>
              <a:rPr sz="1100" b="1">
                <a:solidFill>
                  <a:srgbClr val="A78BFA"/>
                </a:solidFill>
                <a:latin typeface="Calibri"/>
                <a:ea typeface="Calibri"/>
                <a:cs typeface="Calibri"/>
              </a:rPr>
              <a:t>Context</a:t>
            </a:r>
            <a:endParaRPr sz="11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804A482-2047-483A-BB05-A9DED1D86DBF}"/>
              </a:ext>
            </a:extLst>
          </p:cNvPr>
          <p:cNvSpPr>
            <a:spLocks noGrp="1"/>
          </p:cNvSpPr>
          <p:nvPr/>
        </p:nvSpPr>
        <p:spPr>
          <a:xfrm>
            <a:off x="6665976" y="2743200"/>
            <a:ext cx="292608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FDFD06A-375F-4377-A182-328F35431EF4}"/>
              </a:ext>
            </a:extLst>
          </p:cNvPr>
          <p:cNvSpPr>
            <a:spLocks noGrp="1"/>
          </p:cNvSpPr>
          <p:nvPr/>
        </p:nvSpPr>
        <p:spPr>
          <a:xfrm>
            <a:off x="6958584" y="2286000"/>
            <a:ext cx="1874520" cy="914400"/>
          </a:xfrm>
          <a:prstGeom prst="roundRect">
            <a:avLst>
              <a:gd name="adj" fmla="val 10000"/>
            </a:avLst>
          </a:prstGeom>
          <a:solidFill>
            <a:srgbClr val="0C2020"/>
          </a:solidFill>
          <a:ln w="12700">
            <a:solidFill>
              <a:srgbClr val="0C202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916C75A-8B99-4224-8EE6-E019D092B9DA}"/>
              </a:ext>
            </a:extLst>
          </p:cNvPr>
          <p:cNvSpPr>
            <a:spLocks noGrp="1"/>
          </p:cNvSpPr>
          <p:nvPr/>
        </p:nvSpPr>
        <p:spPr>
          <a:xfrm>
            <a:off x="6958584" y="2286000"/>
            <a:ext cx="187452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34D399"/>
                </a:solidFill>
                <a:latin typeface="Calibri"/>
                <a:ea typeface="Calibri"/>
                <a:cs typeface="Calibri"/>
              </a:rPr>
              <a:t>Generate</a:t>
            </a:r>
            <a:endParaRPr sz="1100"/>
          </a:p>
          <a:p>
            <a:pPr marL="0" indent="0" algn="ctr">
              <a:buNone/>
            </a:pPr>
            <a:r>
              <a:rPr sz="1100" b="1">
                <a:solidFill>
                  <a:srgbClr val="34D399"/>
                </a:solidFill>
                <a:latin typeface="Calibri"/>
                <a:ea typeface="Calibri"/>
                <a:cs typeface="Calibri"/>
              </a:rPr>
              <a:t>Answer</a:t>
            </a:r>
            <a:endParaRPr sz="11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D996E6D-F6AF-48D1-B6A6-35A43C9E0EF1}"/>
              </a:ext>
            </a:extLst>
          </p:cNvPr>
          <p:cNvSpPr>
            <a:spLocks noGrp="1"/>
          </p:cNvSpPr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2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RAG can ground an answer in retrieved sources. Retrieval can miss useful text, and the model can misread it.</a:t>
            </a:r>
            <a:endParaRPr sz="12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DE26D6B-9E34-4C3F-9F8E-F7F1011175E4}"/>
              </a:ext>
            </a:extLst>
          </p:cNvPr>
          <p:cNvSpPr>
            <a:spLocks noGrp="1"/>
          </p:cNvSpPr>
          <p:nvPr/>
        </p:nvSpPr>
        <p:spPr>
          <a:xfrm>
            <a:off x="457200" y="378460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040C18"/>
          </a:solidFill>
          <a:ln w="12700">
            <a:solidFill>
              <a:srgbClr val="152A42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736EA7E-431D-49B0-B5FA-94018E3752D2}"/>
              </a:ext>
            </a:extLst>
          </p:cNvPr>
          <p:cNvSpPr>
            <a:spLocks noGrp="1"/>
          </p:cNvSpPr>
          <p:nvPr/>
        </p:nvSpPr>
        <p:spPr>
          <a:xfrm>
            <a:off x="621792" y="390347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56C7D1D-8FB2-4CB9-9EDA-B01674B8A06D}"/>
              </a:ext>
            </a:extLst>
          </p:cNvPr>
          <p:cNvSpPr>
            <a:spLocks noGrp="1"/>
          </p:cNvSpPr>
          <p:nvPr/>
        </p:nvSpPr>
        <p:spPr>
          <a:xfrm>
            <a:off x="740664" y="390347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63F572B-DD0E-45B7-B65A-B3434E16773B}"/>
              </a:ext>
            </a:extLst>
          </p:cNvPr>
          <p:cNvSpPr>
            <a:spLocks noGrp="1"/>
          </p:cNvSpPr>
          <p:nvPr/>
        </p:nvSpPr>
        <p:spPr>
          <a:xfrm>
            <a:off x="859536" y="390347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034A5B6-1E93-475E-88C9-EACD56FACE48}"/>
              </a:ext>
            </a:extLst>
          </p:cNvPr>
          <p:cNvSpPr>
            <a:spLocks noGrp="1"/>
          </p:cNvSpPr>
          <p:nvPr/>
        </p:nvSpPr>
        <p:spPr>
          <a:xfrm>
            <a:off x="594360" y="4026916"/>
            <a:ext cx="7955280" cy="66751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85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docs = vector_search(query, k=5)           # your code retrieves</a:t>
            </a:r>
            <a:endParaRPr sz="850"/>
          </a:p>
          <a:p>
            <a:pPr marL="0" indent="0">
              <a:buNone/>
            </a:pPr>
            <a:r>
              <a:rPr sz="85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context = "\n".join([d.text for d in docs])  # your code formats</a:t>
            </a:r>
            <a:endParaRPr sz="850"/>
          </a:p>
          <a:p>
            <a:pPr marL="0" indent="0">
              <a:buNone/>
            </a:pPr>
            <a:r>
              <a:rPr sz="85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response = model.complete(                 # now the model answers</a:t>
            </a:r>
            <a:endParaRPr sz="850"/>
          </a:p>
          <a:p>
            <a:pPr marL="0" indent="0">
              <a:buNone/>
            </a:pPr>
            <a:r>
              <a:rPr sz="85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    system="Use only the provided context.",</a:t>
            </a:r>
            <a:endParaRPr sz="850"/>
          </a:p>
          <a:p>
            <a:pPr marL="0" indent="0">
              <a:buNone/>
            </a:pPr>
            <a:r>
              <a:rPr sz="85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    user=f"Context:\n{context}\n\nQuestion: {query}"</a:t>
            </a:r>
            <a:endParaRPr sz="850"/>
          </a:p>
          <a:p>
            <a:pPr marL="0" indent="0">
              <a:buNone/>
            </a:pPr>
            <a:r>
              <a:rPr sz="850">
                <a:solidFill>
                  <a:srgbClr val="A8C6DF"/>
                </a:solidFill>
                <a:latin typeface="Consolas"/>
                <a:ea typeface="Consolas"/>
                <a:cs typeface="Consolas"/>
              </a:rPr>
              <a:t>)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8234853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7F9A91E-55CF-490E-9DBC-B86A51D33E61}"/>
              </a:ext>
            </a:extLst>
          </p:cNvPr>
          <p:cNvSpPr>
            <a:spLocks noGrp="1"/>
          </p:cNvSpPr>
          <p:nvPr/>
        </p:nvSpPr>
        <p:spPr>
          <a:xfrm>
            <a:off x="3474720" y="182880"/>
            <a:ext cx="5486400" cy="4572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 algn="r">
              <a:buNone/>
            </a:pPr>
            <a:r>
              <a:rPr sz="23000" b="1">
                <a:solidFill>
                  <a:srgbClr val="0B1E34"/>
                </a:solidFill>
                <a:latin typeface="Trebuchet MS"/>
                <a:ea typeface="Trebuchet MS"/>
                <a:cs typeface="Trebuchet MS"/>
              </a:rPr>
              <a:t>07</a:t>
            </a:r>
            <a:endParaRPr sz="230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F8A9D13-9813-4628-A073-315F7E0516CE}"/>
              </a:ext>
            </a:extLst>
          </p:cNvPr>
          <p:cNvSpPr>
            <a:spLocks noGrp="1"/>
          </p:cNvSpPr>
          <p:nvPr/>
        </p:nvSpPr>
        <p:spPr>
          <a:xfrm>
            <a:off x="502920" y="64008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0A2C50"/>
          </a:solidFill>
          <a:ln w="12700">
            <a:solidFill>
              <a:srgbClr val="0A2C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AB27E61-E25E-4C60-B135-DABEC7BDA786}"/>
              </a:ext>
            </a:extLst>
          </p:cNvPr>
          <p:cNvSpPr>
            <a:spLocks noGrp="1"/>
          </p:cNvSpPr>
          <p:nvPr/>
        </p:nvSpPr>
        <p:spPr>
          <a:xfrm>
            <a:off x="502920" y="640080"/>
            <a:ext cx="128016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 spc="300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PART 07</a:t>
            </a:r>
            <a:endParaRPr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B8D9CD6-3867-4CFA-9BB4-E441F518327F}"/>
              </a:ext>
            </a:extLst>
          </p:cNvPr>
          <p:cNvSpPr>
            <a:spLocks noGrp="1"/>
          </p:cNvSpPr>
          <p:nvPr/>
        </p:nvSpPr>
        <p:spPr>
          <a:xfrm>
            <a:off x="502920" y="1234440"/>
            <a:ext cx="777240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46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AI in SDLC</a:t>
            </a:r>
            <a:endParaRPr sz="46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9F7CFFF-8AEE-44E5-8333-24C59E565810}"/>
              </a:ext>
            </a:extLst>
          </p:cNvPr>
          <p:cNvSpPr>
            <a:spLocks noGrp="1"/>
          </p:cNvSpPr>
          <p:nvPr/>
        </p:nvSpPr>
        <p:spPr>
          <a:xfrm>
            <a:off x="502920" y="2423160"/>
            <a:ext cx="64008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5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What changes when AI joins the engineering team</a:t>
            </a:r>
            <a:endParaRPr sz="15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E55E7E8-E666-4777-8753-5CBE83B066B7}"/>
              </a:ext>
            </a:extLst>
          </p:cNvPr>
          <p:cNvSpPr>
            <a:spLocks noGrp="1"/>
          </p:cNvSpPr>
          <p:nvPr/>
        </p:nvSpPr>
        <p:spPr>
          <a:xfrm>
            <a:off x="457200" y="3703320"/>
            <a:ext cx="868680" cy="868680"/>
          </a:xfrm>
          <a:prstGeom prst="ellipse">
            <a:avLst/>
          </a:prstGeom>
          <a:solidFill>
            <a:srgbClr val="0A2C50"/>
          </a:solidFill>
          <a:ln w="12700">
            <a:solidFill>
              <a:srgbClr val="0A2C5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Graphic 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12064" y="3758184"/>
            <a:ext cx="758952" cy="75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958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8F8C992-5292-4F7F-B089-68F5B4E268D8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Engineering Practices</a:t>
            </a:r>
            <a:endParaRPr sz="30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423B4AD-C0F6-4E8B-9611-A03847F5C788}"/>
              </a:ext>
            </a:extLst>
          </p:cNvPr>
          <p:cNvSpPr>
            <a:spLocks noGrp="1"/>
          </p:cNvSpPr>
          <p:nvPr/>
        </p:nvSpPr>
        <p:spPr>
          <a:xfrm>
            <a:off x="457200" y="10972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4F27DE0-74B5-47FC-9B5A-FDD2E3C449D0}"/>
              </a:ext>
            </a:extLst>
          </p:cNvPr>
          <p:cNvSpPr>
            <a:spLocks noGrp="1"/>
          </p:cNvSpPr>
          <p:nvPr/>
        </p:nvSpPr>
        <p:spPr>
          <a:xfrm>
            <a:off x="457200" y="1097280"/>
            <a:ext cx="91440" cy="7772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0DF5D49-B975-447F-893E-C93F0B85D718}"/>
              </a:ext>
            </a:extLst>
          </p:cNvPr>
          <p:cNvSpPr>
            <a:spLocks noGrp="1"/>
          </p:cNvSpPr>
          <p:nvPr/>
        </p:nvSpPr>
        <p:spPr>
          <a:xfrm>
            <a:off x="731520" y="1143000"/>
            <a:ext cx="7726680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800" b="1">
                <a:solidFill>
                  <a:srgbClr val="FBBF24"/>
                </a:solidFill>
                <a:latin typeface="Trebuchet MS"/>
                <a:ea typeface="Trebuchet MS"/>
                <a:cs typeface="Trebuchet MS"/>
              </a:rPr>
              <a:t>AI can speed up work. Engineering practices keep that speed safe.</a:t>
            </a:r>
            <a:endParaRPr sz="1800"/>
          </a:p>
        </p:txBody>
      </p:sp>
      <p:pic>
        <p:nvPicPr>
          <p:cNvPr id="2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12848"/>
            <a:ext cx="384048" cy="384048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C29BB149-5004-489A-80E5-BAAB24337E17}"/>
              </a:ext>
            </a:extLst>
          </p:cNvPr>
          <p:cNvSpPr>
            <a:spLocks noGrp="1"/>
          </p:cNvSpPr>
          <p:nvPr/>
        </p:nvSpPr>
        <p:spPr>
          <a:xfrm>
            <a:off x="1097280" y="2103120"/>
            <a:ext cx="27432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 b="1">
                <a:solidFill>
                  <a:srgbClr val="FBBF24"/>
                </a:solidFill>
                <a:latin typeface="Calibri"/>
                <a:ea typeface="Calibri"/>
                <a:cs typeface="Calibri"/>
              </a:rPr>
              <a:t>Review generated code</a:t>
            </a:r>
            <a:endParaRPr sz="13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B32BC71-E039-4800-B833-C55F910DC5F6}"/>
              </a:ext>
            </a:extLst>
          </p:cNvPr>
          <p:cNvSpPr>
            <a:spLocks noGrp="1"/>
          </p:cNvSpPr>
          <p:nvPr/>
        </p:nvSpPr>
        <p:spPr>
          <a:xfrm>
            <a:off x="1097280" y="2423160"/>
            <a:ext cx="73609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Treat it like an unfamiliar pull request. Read it and test it.</a:t>
            </a:r>
            <a:endParaRPr sz="1100"/>
          </a:p>
        </p:txBody>
      </p:sp>
      <p:pic>
        <p:nvPicPr>
          <p:cNvPr id="29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71216"/>
            <a:ext cx="384048" cy="384048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EE722939-171A-40CB-BFFE-75C59CC42AD0}"/>
              </a:ext>
            </a:extLst>
          </p:cNvPr>
          <p:cNvSpPr>
            <a:spLocks noGrp="1"/>
          </p:cNvSpPr>
          <p:nvPr/>
        </p:nvSpPr>
        <p:spPr>
          <a:xfrm>
            <a:off x="1097280" y="2761488"/>
            <a:ext cx="27432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 b="1">
                <a:solidFill>
                  <a:srgbClr val="FBBF24"/>
                </a:solidFill>
                <a:latin typeface="Calibri"/>
                <a:ea typeface="Calibri"/>
                <a:cs typeface="Calibri"/>
              </a:rPr>
              <a:t>Validate structured output</a:t>
            </a:r>
            <a:endParaRPr sz="130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A3F8E1EF-2E2C-4AEA-A90C-27F93CE9B303}"/>
              </a:ext>
            </a:extLst>
          </p:cNvPr>
          <p:cNvSpPr>
            <a:spLocks noGrp="1"/>
          </p:cNvSpPr>
          <p:nvPr/>
        </p:nvSpPr>
        <p:spPr>
          <a:xfrm>
            <a:off x="1097280" y="3081528"/>
            <a:ext cx="73609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Treat model output as untrusted external data. Parse and validate it.</a:t>
            </a:r>
            <a:endParaRPr sz="1100"/>
          </a:p>
        </p:txBody>
      </p:sp>
      <p:pic>
        <p:nvPicPr>
          <p:cNvPr id="32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29584"/>
            <a:ext cx="384048" cy="384048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6EB535B0-4EB5-4711-9721-F26D33564707}"/>
              </a:ext>
            </a:extLst>
          </p:cNvPr>
          <p:cNvSpPr>
            <a:spLocks noGrp="1"/>
          </p:cNvSpPr>
          <p:nvPr/>
        </p:nvSpPr>
        <p:spPr>
          <a:xfrm>
            <a:off x="1097280" y="3419856"/>
            <a:ext cx="27432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 b="1">
                <a:solidFill>
                  <a:srgbClr val="FBBF24"/>
                </a:solidFill>
                <a:latin typeface="Calibri"/>
                <a:ea typeface="Calibri"/>
                <a:cs typeface="Calibri"/>
              </a:rPr>
              <a:t>Verify the result</a:t>
            </a:r>
            <a:endParaRPr sz="13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CAD1BF51-1B68-4EF9-9BA5-41FFEA64146A}"/>
              </a:ext>
            </a:extLst>
          </p:cNvPr>
          <p:cNvSpPr>
            <a:spLocks noGrp="1"/>
          </p:cNvSpPr>
          <p:nvPr/>
        </p:nvSpPr>
        <p:spPr>
          <a:xfrm>
            <a:off x="1097280" y="3739896"/>
            <a:ext cx="73609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Ask for evidence, run tests, and check important claims independently.</a:t>
            </a:r>
            <a:endParaRPr sz="1100"/>
          </a:p>
        </p:txBody>
      </p:sp>
      <p:pic>
        <p:nvPicPr>
          <p:cNvPr id="35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87952"/>
            <a:ext cx="384048" cy="384048"/>
          </a:xfrm>
          <a:prstGeom prst="rect">
            <a:avLst/>
          </a:prstGeom>
        </p:spPr>
      </p:pic>
      <p:sp>
        <p:nvSpPr>
          <p:cNvPr id="16" name="Text 10">
            <a:extLst>
              <a:ext uri="{FF2B5EF4-FFF2-40B4-BE49-F238E27FC236}">
                <a16:creationId xmlns:a16="http://schemas.microsoft.com/office/drawing/2014/main" id="{51F2B356-173E-40A3-9F9F-91A3262A2F45}"/>
              </a:ext>
            </a:extLst>
          </p:cNvPr>
          <p:cNvSpPr>
            <a:spLocks noGrp="1"/>
          </p:cNvSpPr>
          <p:nvPr/>
        </p:nvSpPr>
        <p:spPr>
          <a:xfrm>
            <a:off x="1097280" y="4078224"/>
            <a:ext cx="27432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 b="1">
                <a:solidFill>
                  <a:srgbClr val="FBBF24"/>
                </a:solidFill>
                <a:latin typeface="Calibri"/>
                <a:ea typeface="Calibri"/>
                <a:cs typeface="Calibri"/>
              </a:rPr>
              <a:t>Design for failure</a:t>
            </a:r>
            <a:endParaRPr sz="130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29224DD0-B2C5-4D1F-B75E-2B3373FC9E8A}"/>
              </a:ext>
            </a:extLst>
          </p:cNvPr>
          <p:cNvSpPr>
            <a:spLocks noGrp="1"/>
          </p:cNvSpPr>
          <p:nvPr/>
        </p:nvSpPr>
        <p:spPr>
          <a:xfrm>
            <a:off x="1097280" y="4398264"/>
            <a:ext cx="73609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Identify the worst outcome if the model is wrong. Add controls for that risk.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8120907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1C6C113-F57F-4503-8E62-4073ECD6AA0C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The Code Review Habit</a:t>
            </a:r>
            <a:endParaRPr sz="30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BD8144F-2918-4611-B874-766878E18D8B}"/>
              </a:ext>
            </a:extLst>
          </p:cNvPr>
          <p:cNvSpPr>
            <a:spLocks noGrp="1"/>
          </p:cNvSpPr>
          <p:nvPr/>
        </p:nvSpPr>
        <p:spPr>
          <a:xfrm>
            <a:off x="457200" y="1097280"/>
            <a:ext cx="8229600" cy="1645920"/>
          </a:xfrm>
          <a:prstGeom prst="roundRect">
            <a:avLst>
              <a:gd name="adj" fmla="val 5556"/>
            </a:avLst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D15D6DC-6AEE-4534-B974-C7366578C645}"/>
              </a:ext>
            </a:extLst>
          </p:cNvPr>
          <p:cNvSpPr>
            <a:spLocks noGrp="1"/>
          </p:cNvSpPr>
          <p:nvPr/>
        </p:nvSpPr>
        <p:spPr>
          <a:xfrm>
            <a:off x="457200" y="1097280"/>
            <a:ext cx="91440" cy="16459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685800" cy="68580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6F7C8195-34DE-46E7-9A78-065AB774109A}"/>
              </a:ext>
            </a:extLst>
          </p:cNvPr>
          <p:cNvSpPr>
            <a:spLocks noGrp="1"/>
          </p:cNvSpPr>
          <p:nvPr/>
        </p:nvSpPr>
        <p:spPr>
          <a:xfrm>
            <a:off x="1600200" y="1170432"/>
            <a:ext cx="690372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000" b="1">
                <a:solidFill>
                  <a:srgbClr val="FBBF24"/>
                </a:solidFill>
                <a:latin typeface="Trebuchet MS"/>
                <a:ea typeface="Trebuchet MS"/>
                <a:cs typeface="Trebuchet MS"/>
              </a:rPr>
              <a:t>Treat generated code like a PR from a junior dev you haven't met.</a:t>
            </a:r>
            <a:endParaRPr sz="20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ABA6496-FBF1-41A6-8E6C-36F11F83AC31}"/>
              </a:ext>
            </a:extLst>
          </p:cNvPr>
          <p:cNvSpPr>
            <a:spLocks noGrp="1"/>
          </p:cNvSpPr>
          <p:nvPr/>
        </p:nvSpPr>
        <p:spPr>
          <a:xfrm>
            <a:off x="1600200" y="1764792"/>
            <a:ext cx="690372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5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You review it. You test it. You don't merge it because it compiled.</a:t>
            </a:r>
            <a:endParaRPr sz="15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6801A83-2BB3-4C15-8B11-AE357D3EAD0D}"/>
              </a:ext>
            </a:extLst>
          </p:cNvPr>
          <p:cNvSpPr>
            <a:spLocks noGrp="1"/>
          </p:cNvSpPr>
          <p:nvPr/>
        </p:nvSpPr>
        <p:spPr>
          <a:xfrm>
            <a:off x="457200" y="2926080"/>
            <a:ext cx="8229600" cy="1234440"/>
          </a:xfrm>
          <a:prstGeom prst="roundRect">
            <a:avLst>
              <a:gd name="adj" fmla="val 4878"/>
            </a:avLst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56192F6-40D4-40C3-AC31-198DF3C51815}"/>
              </a:ext>
            </a:extLst>
          </p:cNvPr>
          <p:cNvSpPr>
            <a:spLocks noGrp="1"/>
          </p:cNvSpPr>
          <p:nvPr/>
        </p:nvSpPr>
        <p:spPr>
          <a:xfrm>
            <a:off x="640080" y="2999232"/>
            <a:ext cx="786384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 b="1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What the model consistently misses:</a:t>
            </a:r>
            <a:endParaRPr sz="13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7FBF62C-1D1C-4BC3-9608-AFF430D957F8}"/>
              </a:ext>
            </a:extLst>
          </p:cNvPr>
          <p:cNvSpPr>
            <a:spLocks noGrp="1"/>
          </p:cNvSpPr>
          <p:nvPr/>
        </p:nvSpPr>
        <p:spPr>
          <a:xfrm>
            <a:off x="640080" y="3383280"/>
            <a:ext cx="786384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300" b="1">
                <a:solidFill>
                  <a:srgbClr val="F87171"/>
                </a:solidFill>
                <a:latin typeface="Calibri"/>
                <a:ea typeface="Calibri"/>
                <a:cs typeface="Calibri"/>
              </a:rPr>
              <a:t>Edge cases  </a:t>
            </a:r>
            <a:r>
              <a:rPr sz="13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(empty lists, null inputs, out-of-bounds)   </a:t>
            </a:r>
            <a:r>
              <a:rPr sz="1300" b="1">
                <a:solidFill>
                  <a:srgbClr val="F87171"/>
                </a:solidFill>
                <a:latin typeface="Calibri"/>
                <a:ea typeface="Calibri"/>
                <a:cs typeface="Calibri"/>
              </a:rPr>
              <a:t>Security issues  </a:t>
            </a:r>
            <a:r>
              <a:rPr sz="13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(injection, unvalidated input)   </a:t>
            </a:r>
            <a:r>
              <a:rPr sz="1300" b="1">
                <a:solidFill>
                  <a:srgbClr val="F87171"/>
                </a:solidFill>
                <a:latin typeface="Calibri"/>
                <a:ea typeface="Calibri"/>
                <a:cs typeface="Calibri"/>
              </a:rPr>
              <a:t>Error handling  </a:t>
            </a:r>
            <a:r>
              <a:rPr sz="13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(happy path only)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7352147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2DE5B33-E5AE-EE7D-9529-D7B86EB76BDB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What This Means for Your Career</a:t>
            </a:r>
            <a:endParaRPr sz="30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8AC28C3-18EF-8661-B8F4-F0907DB1C5C8}"/>
              </a:ext>
            </a:extLst>
          </p:cNvPr>
          <p:cNvSpPr>
            <a:spLocks noGrp="1"/>
          </p:cNvSpPr>
          <p:nvPr/>
        </p:nvSpPr>
        <p:spPr>
          <a:xfrm>
            <a:off x="457200" y="12344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12B3CBC-6714-8BF6-E63B-5FB85BE551C1}"/>
              </a:ext>
            </a:extLst>
          </p:cNvPr>
          <p:cNvSpPr>
            <a:spLocks noGrp="1"/>
          </p:cNvSpPr>
          <p:nvPr/>
        </p:nvSpPr>
        <p:spPr>
          <a:xfrm>
            <a:off x="594360" y="1417320"/>
            <a:ext cx="658368" cy="658368"/>
          </a:xfrm>
          <a:prstGeom prst="ellipse">
            <a:avLst/>
          </a:prstGeom>
          <a:solidFill>
            <a:srgbClr val="0A2C50"/>
          </a:solidFill>
          <a:ln w="12700">
            <a:solidFill>
              <a:srgbClr val="0A2C5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435608"/>
            <a:ext cx="603504" cy="603504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D7E2FC57-EB1D-4585-1A17-999109A63B0F}"/>
              </a:ext>
            </a:extLst>
          </p:cNvPr>
          <p:cNvSpPr>
            <a:spLocks noGrp="1"/>
          </p:cNvSpPr>
          <p:nvPr/>
        </p:nvSpPr>
        <p:spPr>
          <a:xfrm>
            <a:off x="1463040" y="1298448"/>
            <a:ext cx="69494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>
                <a:solidFill>
                  <a:srgbClr val="38BDF8"/>
                </a:solidFill>
                <a:latin typeface="Trebuchet MS"/>
                <a:ea typeface="Trebuchet MS"/>
                <a:cs typeface="Trebuchet MS"/>
              </a:rPr>
              <a:t>You are designing context</a:t>
            </a:r>
            <a:endParaRPr sz="17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07ACDE8-2102-4E38-C923-A01AEB9B1227}"/>
              </a:ext>
            </a:extLst>
          </p:cNvPr>
          <p:cNvSpPr>
            <a:spLocks noGrp="1"/>
          </p:cNvSpPr>
          <p:nvPr/>
        </p:nvSpPr>
        <p:spPr>
          <a:xfrm>
            <a:off x="1463040" y="1691640"/>
            <a:ext cx="69494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Structuring prompts, wrapping model calls, validating outputs — that is the engineering skill</a:t>
            </a:r>
            <a:endParaRPr sz="13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A5F59DC5-2CF9-A67D-3B2C-1F68BFB24E1C}"/>
              </a:ext>
            </a:extLst>
          </p:cNvPr>
          <p:cNvSpPr>
            <a:spLocks noGrp="1"/>
          </p:cNvSpPr>
          <p:nvPr/>
        </p:nvSpPr>
        <p:spPr>
          <a:xfrm>
            <a:off x="457200" y="23774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872166AB-2DC5-0983-1F71-A47306C46242}"/>
              </a:ext>
            </a:extLst>
          </p:cNvPr>
          <p:cNvSpPr>
            <a:spLocks noGrp="1"/>
          </p:cNvSpPr>
          <p:nvPr/>
        </p:nvSpPr>
        <p:spPr>
          <a:xfrm>
            <a:off x="594360" y="2560320"/>
            <a:ext cx="658368" cy="658368"/>
          </a:xfrm>
          <a:prstGeom prst="ellipse">
            <a:avLst/>
          </a:prstGeom>
          <a:solidFill>
            <a:srgbClr val="0A2C50"/>
          </a:solidFill>
          <a:ln w="12700">
            <a:solidFill>
              <a:srgbClr val="0A2C5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9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578608"/>
            <a:ext cx="603504" cy="603504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3B6DCAA2-E13F-6B96-FBDC-F2BA6C236B86}"/>
              </a:ext>
            </a:extLst>
          </p:cNvPr>
          <p:cNvSpPr>
            <a:spLocks noGrp="1"/>
          </p:cNvSpPr>
          <p:nvPr/>
        </p:nvSpPr>
        <p:spPr>
          <a:xfrm>
            <a:off x="1463040" y="2441448"/>
            <a:ext cx="69494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>
                <a:solidFill>
                  <a:srgbClr val="FBBF24"/>
                </a:solidFill>
                <a:latin typeface="Trebuchet MS"/>
                <a:ea typeface="Trebuchet MS"/>
                <a:cs typeface="Trebuchet MS"/>
              </a:rPr>
              <a:t>Craft protects velocity</a:t>
            </a:r>
            <a:endParaRPr sz="17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9D650AE0-6230-6C6D-58C1-B404B151810B}"/>
              </a:ext>
            </a:extLst>
          </p:cNvPr>
          <p:cNvSpPr>
            <a:spLocks noGrp="1"/>
          </p:cNvSpPr>
          <p:nvPr/>
        </p:nvSpPr>
        <p:spPr>
          <a:xfrm>
            <a:off x="1463040" y="2834640"/>
            <a:ext cx="69494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The faster AI lets you go, the more damage a skipped review or missing test can cause</a:t>
            </a:r>
            <a:endParaRPr sz="130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F39A94CE-4F77-3F3D-7CA3-8F0A22AD39A0}"/>
              </a:ext>
            </a:extLst>
          </p:cNvPr>
          <p:cNvSpPr>
            <a:spLocks noGrp="1"/>
          </p:cNvSpPr>
          <p:nvPr/>
        </p:nvSpPr>
        <p:spPr>
          <a:xfrm>
            <a:off x="457200" y="35204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2F8A6669-390F-3D1E-A808-99F95698A238}"/>
              </a:ext>
            </a:extLst>
          </p:cNvPr>
          <p:cNvSpPr>
            <a:spLocks noGrp="1"/>
          </p:cNvSpPr>
          <p:nvPr/>
        </p:nvSpPr>
        <p:spPr>
          <a:xfrm>
            <a:off x="594360" y="3703320"/>
            <a:ext cx="658368" cy="658368"/>
          </a:xfrm>
          <a:prstGeom prst="ellipse">
            <a:avLst/>
          </a:prstGeom>
          <a:solidFill>
            <a:srgbClr val="0A2C50"/>
          </a:solidFill>
          <a:ln w="12700">
            <a:solidFill>
              <a:srgbClr val="0A2C5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4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721608"/>
            <a:ext cx="603504" cy="603504"/>
          </a:xfrm>
          <a:prstGeom prst="rect">
            <a:avLst/>
          </a:prstGeom>
        </p:spPr>
      </p:pic>
      <p:sp>
        <p:nvSpPr>
          <p:cNvPr id="16" name="Text 11">
            <a:extLst>
              <a:ext uri="{FF2B5EF4-FFF2-40B4-BE49-F238E27FC236}">
                <a16:creationId xmlns:a16="http://schemas.microsoft.com/office/drawing/2014/main" id="{FE19FAC7-6FCB-0AC7-114B-ED3D74F10F7D}"/>
              </a:ext>
            </a:extLst>
          </p:cNvPr>
          <p:cNvSpPr>
            <a:spLocks noGrp="1"/>
          </p:cNvSpPr>
          <p:nvPr/>
        </p:nvSpPr>
        <p:spPr>
          <a:xfrm>
            <a:off x="1463040" y="3584448"/>
            <a:ext cx="69494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>
                <a:solidFill>
                  <a:srgbClr val="34D399"/>
                </a:solidFill>
                <a:latin typeface="Trebuchet MS"/>
                <a:ea typeface="Trebuchet MS"/>
                <a:cs typeface="Trebuchet MS"/>
              </a:rPr>
              <a:t>Fundamentals compound</a:t>
            </a:r>
            <a:endParaRPr sz="170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A7237543-0B1B-05A1-AADA-5500F8999973}"/>
              </a:ext>
            </a:extLst>
          </p:cNvPr>
          <p:cNvSpPr>
            <a:spLocks noGrp="1"/>
          </p:cNvSpPr>
          <p:nvPr/>
        </p:nvSpPr>
        <p:spPr>
          <a:xfrm>
            <a:off x="1463040" y="3977640"/>
            <a:ext cx="69494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Testing, reviewing, reasoning about correctness — these habits are more valuable with AI, not less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23311404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3EC04A9-C6BC-C7BE-6442-2A46C066E2B9}"/>
              </a:ext>
            </a:extLst>
          </p:cNvPr>
          <p:cNvSpPr>
            <a:spLocks noGrp="1"/>
          </p:cNvSpPr>
          <p:nvPr/>
        </p:nvSpPr>
        <p:spPr>
          <a:xfrm>
            <a:off x="3474720" y="182880"/>
            <a:ext cx="5486400" cy="4572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 algn="r">
              <a:buNone/>
            </a:pPr>
            <a:r>
              <a:rPr sz="23000" b="1">
                <a:solidFill>
                  <a:srgbClr val="0B1E34"/>
                </a:solidFill>
                <a:latin typeface="Trebuchet MS"/>
                <a:ea typeface="Trebuchet MS"/>
                <a:cs typeface="Trebuchet MS"/>
              </a:rPr>
              <a:t>08</a:t>
            </a:r>
            <a:endParaRPr sz="230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03E18DE-2199-A372-92FC-4BA2B2EDBAA9}"/>
              </a:ext>
            </a:extLst>
          </p:cNvPr>
          <p:cNvSpPr>
            <a:spLocks noGrp="1"/>
          </p:cNvSpPr>
          <p:nvPr/>
        </p:nvSpPr>
        <p:spPr>
          <a:xfrm>
            <a:off x="502920" y="64008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0A2C50"/>
          </a:solidFill>
          <a:ln w="12700">
            <a:solidFill>
              <a:srgbClr val="0A2C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084497D-3B24-C9F0-BA61-C0D517ABE021}"/>
              </a:ext>
            </a:extLst>
          </p:cNvPr>
          <p:cNvSpPr>
            <a:spLocks noGrp="1"/>
          </p:cNvSpPr>
          <p:nvPr/>
        </p:nvSpPr>
        <p:spPr>
          <a:xfrm>
            <a:off x="502920" y="640080"/>
            <a:ext cx="128016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 spc="300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PART 08</a:t>
            </a:r>
            <a:endParaRPr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6C5982F-292B-3D3A-D579-E3906875BF7A}"/>
              </a:ext>
            </a:extLst>
          </p:cNvPr>
          <p:cNvSpPr>
            <a:spLocks noGrp="1"/>
          </p:cNvSpPr>
          <p:nvPr/>
        </p:nvSpPr>
        <p:spPr>
          <a:xfrm>
            <a:off x="502920" y="1234440"/>
            <a:ext cx="777240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46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Stuff Worth Stealing</a:t>
            </a:r>
            <a:endParaRPr sz="46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A327D97-BFB1-F940-AE02-5175F246F135}"/>
              </a:ext>
            </a:extLst>
          </p:cNvPr>
          <p:cNvSpPr>
            <a:spLocks noGrp="1"/>
          </p:cNvSpPr>
          <p:nvPr/>
        </p:nvSpPr>
        <p:spPr>
          <a:xfrm>
            <a:off x="502920" y="2423160"/>
            <a:ext cx="64008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500">
                <a:solidFill>
                  <a:srgbClr val="6B8FAD"/>
                </a:solidFill>
                <a:latin typeface="Calibri"/>
                <a:ea typeface="Calibri"/>
                <a:cs typeface="Calibri"/>
              </a:rPr>
              <a:t>Tools, sites, and resources you should actually try</a:t>
            </a:r>
            <a:endParaRPr sz="15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1CB4AD7-97F3-B605-A36A-1F90DD9849BA}"/>
              </a:ext>
            </a:extLst>
          </p:cNvPr>
          <p:cNvSpPr>
            <a:spLocks noGrp="1"/>
          </p:cNvSpPr>
          <p:nvPr/>
        </p:nvSpPr>
        <p:spPr>
          <a:xfrm>
            <a:off x="457200" y="3703320"/>
            <a:ext cx="868680" cy="868680"/>
          </a:xfrm>
          <a:prstGeom prst="ellipse">
            <a:avLst/>
          </a:prstGeom>
          <a:solidFill>
            <a:srgbClr val="0A2C50"/>
          </a:solidFill>
          <a:ln w="12700">
            <a:solidFill>
              <a:srgbClr val="0A2C5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Graphic 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12064" y="3758184"/>
            <a:ext cx="758952" cy="75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0371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C671484-E6DA-11AF-C60C-14914342C579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2026 sprint: Where to Go Next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FBAFB86-1DAA-5BB6-48E0-B51697CF7CA5}"/>
              </a:ext>
            </a:extLst>
          </p:cNvPr>
          <p:cNvSpPr>
            <a:spLocks noGrp="1"/>
          </p:cNvSpPr>
          <p:nvPr/>
        </p:nvSpPr>
        <p:spPr>
          <a:xfrm>
            <a:off x="502920" y="1307592"/>
            <a:ext cx="548640" cy="548640"/>
          </a:xfrm>
          <a:prstGeom prst="ellipse">
            <a:avLst/>
          </a:prstGeom>
          <a:solidFill>
            <a:srgbClr val="0A2C50"/>
          </a:solidFill>
          <a:ln w="12700">
            <a:solidFill>
              <a:srgbClr val="0A2C5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48" y="1399032"/>
            <a:ext cx="365760" cy="36576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8AF7542F-F9BA-A4FA-03D9-3750B7BDCAA9}"/>
              </a:ext>
            </a:extLst>
          </p:cNvPr>
          <p:cNvSpPr>
            <a:spLocks noGrp="1"/>
          </p:cNvSpPr>
          <p:nvPr/>
        </p:nvSpPr>
        <p:spPr>
          <a:xfrm>
            <a:off x="1207008" y="1143000"/>
            <a:ext cx="38404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Docker Model Runner docs</a:t>
            </a:r>
            <a:endParaRPr sz="1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AF6B88-F7C6-9E02-7902-651C8E1B53FF}"/>
              </a:ext>
            </a:extLst>
          </p:cNvPr>
          <p:cNvSpPr>
            <a:spLocks noGrp="1"/>
          </p:cNvSpPr>
          <p:nvPr/>
        </p:nvSpPr>
        <p:spPr>
          <a:xfrm>
            <a:off x="1207008" y="1472184"/>
            <a:ext cx="74523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Experiment with other models locally — try a 7B model with the same prompts</a:t>
            </a:r>
            <a:endParaRPr sz="11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1105D45-7DA7-3C34-86F6-81DB04FEBE03}"/>
              </a:ext>
            </a:extLst>
          </p:cNvPr>
          <p:cNvSpPr>
            <a:spLocks noGrp="1"/>
          </p:cNvSpPr>
          <p:nvPr/>
        </p:nvSpPr>
        <p:spPr>
          <a:xfrm>
            <a:off x="1207008" y="1783080"/>
            <a:ext cx="74523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B8FAD"/>
                </a:solidFill>
                <a:latin typeface="Consolas"/>
                <a:ea typeface="Consolas"/>
                <a:cs typeface="Consolas"/>
              </a:rPr>
              <a:t>docs.docker.com/desktop/features/model-runner</a:t>
            </a:r>
            <a:endParaRPr sz="9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474209D9-12E1-630F-039C-3771A4D6DD3E}"/>
              </a:ext>
            </a:extLst>
          </p:cNvPr>
          <p:cNvSpPr>
            <a:spLocks noGrp="1"/>
          </p:cNvSpPr>
          <p:nvPr/>
        </p:nvSpPr>
        <p:spPr>
          <a:xfrm>
            <a:off x="502920" y="2203704"/>
            <a:ext cx="548640" cy="548640"/>
          </a:xfrm>
          <a:prstGeom prst="ellipse">
            <a:avLst/>
          </a:prstGeom>
          <a:solidFill>
            <a:srgbClr val="0A2C50"/>
          </a:solidFill>
          <a:ln w="12700">
            <a:solidFill>
              <a:srgbClr val="0A2C5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4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48" y="2296033"/>
            <a:ext cx="363982" cy="363982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66662DA1-FB56-A6D1-C9C8-EC182F55D2C7}"/>
              </a:ext>
            </a:extLst>
          </p:cNvPr>
          <p:cNvSpPr>
            <a:spLocks noGrp="1"/>
          </p:cNvSpPr>
          <p:nvPr/>
        </p:nvSpPr>
        <p:spPr>
          <a:xfrm>
            <a:off x="1207008" y="2039112"/>
            <a:ext cx="38404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34D399"/>
                </a:solidFill>
                <a:latin typeface="Calibri"/>
                <a:ea typeface="Calibri"/>
                <a:cs typeface="Calibri"/>
              </a:rPr>
              <a:t>Prompt Engineering guides</a:t>
            </a:r>
            <a:endParaRPr sz="140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0A51923D-CBF2-FFCC-A67D-D263ECCE9158}"/>
              </a:ext>
            </a:extLst>
          </p:cNvPr>
          <p:cNvSpPr>
            <a:spLocks noGrp="1"/>
          </p:cNvSpPr>
          <p:nvPr/>
        </p:nvSpPr>
        <p:spPr>
          <a:xfrm>
            <a:off x="1207008" y="2368296"/>
            <a:ext cx="74523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Anthropic and OpenAI both publish excellent, free guides — start with Anthropic's</a:t>
            </a:r>
            <a:endParaRPr sz="11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745B5205-47E5-0083-5706-BD079DDDD5A2}"/>
              </a:ext>
            </a:extLst>
          </p:cNvPr>
          <p:cNvSpPr>
            <a:spLocks noGrp="1"/>
          </p:cNvSpPr>
          <p:nvPr/>
        </p:nvSpPr>
        <p:spPr>
          <a:xfrm>
            <a:off x="1207008" y="2679192"/>
            <a:ext cx="74523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B8FAD"/>
                </a:solidFill>
                <a:latin typeface="Consolas"/>
                <a:ea typeface="Consolas"/>
                <a:cs typeface="Consolas"/>
              </a:rPr>
              <a:t>docs.anthropic.com/en/docs/build-with-claude/prompt-engineering</a:t>
            </a:r>
            <a:endParaRPr sz="90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364DB329-2D6E-CF27-901F-E260A4DAC753}"/>
              </a:ext>
            </a:extLst>
          </p:cNvPr>
          <p:cNvSpPr>
            <a:spLocks noGrp="1"/>
          </p:cNvSpPr>
          <p:nvPr/>
        </p:nvSpPr>
        <p:spPr>
          <a:xfrm>
            <a:off x="502920" y="3099816"/>
            <a:ext cx="548640" cy="548640"/>
          </a:xfrm>
          <a:prstGeom prst="ellipse">
            <a:avLst/>
          </a:prstGeom>
          <a:solidFill>
            <a:srgbClr val="0A2C50"/>
          </a:solidFill>
          <a:ln w="12700">
            <a:solidFill>
              <a:srgbClr val="0A2C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5D635117-90C9-5220-DA94-90C1444E6599}"/>
              </a:ext>
            </a:extLst>
          </p:cNvPr>
          <p:cNvSpPr>
            <a:spLocks noGrp="1"/>
          </p:cNvSpPr>
          <p:nvPr/>
        </p:nvSpPr>
        <p:spPr>
          <a:xfrm>
            <a:off x="1207008" y="2935224"/>
            <a:ext cx="38404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A78BFA"/>
                </a:solidFill>
                <a:latin typeface="Calibri"/>
                <a:ea typeface="Calibri"/>
                <a:cs typeface="Calibri"/>
              </a:rPr>
              <a:t>Dive into mathematics</a:t>
            </a:r>
            <a:endParaRPr sz="140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2B40A6AF-E963-89A6-9125-C14CBE003B82}"/>
              </a:ext>
            </a:extLst>
          </p:cNvPr>
          <p:cNvSpPr>
            <a:spLocks noGrp="1"/>
          </p:cNvSpPr>
          <p:nvPr/>
        </p:nvSpPr>
        <p:spPr>
          <a:xfrm>
            <a:off x="1207008" y="3264408"/>
            <a:ext cx="74523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Some interesting videos to look at:</a:t>
            </a:r>
            <a:endParaRPr sz="110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B3FD0D2C-B36C-2FBC-E06B-B81297441A14}"/>
              </a:ext>
            </a:extLst>
          </p:cNvPr>
          <p:cNvSpPr>
            <a:spLocks noGrp="1"/>
          </p:cNvSpPr>
          <p:nvPr/>
        </p:nvSpPr>
        <p:spPr>
          <a:xfrm>
            <a:off x="1207008" y="3575304"/>
            <a:ext cx="74523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900">
                <a:solidFill>
                  <a:srgbClr val="6B8FAD"/>
                </a:solidFill>
                <a:latin typeface="Consolas"/>
                <a:ea typeface="Consolas"/>
                <a:cs typeface="Consolas"/>
                <a:hlinkClick r:id="rId5"/>
              </a:rPr>
              <a:t>https://youtube.com/playlist?list=PLZHQObOWTQDNU6R1_67000Dx_ZCJB-3pi</a:t>
            </a:r>
            <a:r>
              <a:rPr sz="900">
                <a:solidFill>
                  <a:srgbClr val="6B8FAD"/>
                </a:solidFill>
                <a:latin typeface="Consolas"/>
                <a:ea typeface="Consolas"/>
                <a:cs typeface="Consolas"/>
              </a:rPr>
              <a:t> A playlist by 3Blue1Brown with visualizations</a:t>
            </a:r>
          </a:p>
          <a:p>
            <a:r>
              <a:rPr sz="900">
                <a:solidFill>
                  <a:srgbClr val="6B8FAD"/>
                </a:solidFill>
                <a:latin typeface="Consolas"/>
                <a:ea typeface="Consolas"/>
                <a:cs typeface="Consolas"/>
                <a:hlinkClick r:id="rId6"/>
              </a:rPr>
              <a:t>https://www.youtube.com/watch?v=7xTGNNLPyMI</a:t>
            </a:r>
            <a:r>
              <a:rPr sz="900">
                <a:solidFill>
                  <a:srgbClr val="6B8FAD"/>
                </a:solidFill>
                <a:latin typeface="Consolas"/>
                <a:ea typeface="Consolas"/>
                <a:cs typeface="Consolas"/>
              </a:rPr>
              <a:t> a very deep dive into specifics by Andrej Karpathy</a:t>
            </a:r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276220AA-BDB7-9585-537C-6FAD647AC3EC}"/>
              </a:ext>
            </a:extLst>
          </p:cNvPr>
          <p:cNvSpPr>
            <a:spLocks noGrp="1"/>
          </p:cNvSpPr>
          <p:nvPr/>
        </p:nvSpPr>
        <p:spPr>
          <a:xfrm>
            <a:off x="502920" y="3995928"/>
            <a:ext cx="548640" cy="548640"/>
          </a:xfrm>
          <a:prstGeom prst="ellipse">
            <a:avLst/>
          </a:prstGeom>
          <a:solidFill>
            <a:srgbClr val="0A2C50"/>
          </a:solidFill>
          <a:ln w="12700">
            <a:solidFill>
              <a:srgbClr val="0A2C5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3" name="Imag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248" y="4064103"/>
            <a:ext cx="365760" cy="365760"/>
          </a:xfrm>
          <a:prstGeom prst="rect">
            <a:avLst/>
          </a:prstGeom>
        </p:spPr>
      </p:pic>
      <p:sp>
        <p:nvSpPr>
          <p:cNvPr id="20" name="Text 14">
            <a:extLst>
              <a:ext uri="{FF2B5EF4-FFF2-40B4-BE49-F238E27FC236}">
                <a16:creationId xmlns:a16="http://schemas.microsoft.com/office/drawing/2014/main" id="{0FEA406F-177F-F021-1359-568A0680E04F}"/>
              </a:ext>
            </a:extLst>
          </p:cNvPr>
          <p:cNvSpPr>
            <a:spLocks noGrp="1"/>
          </p:cNvSpPr>
          <p:nvPr/>
        </p:nvSpPr>
        <p:spPr>
          <a:xfrm>
            <a:off x="1207008" y="3831336"/>
            <a:ext cx="38404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FBBF24"/>
                </a:solidFill>
                <a:latin typeface="Calibri"/>
                <a:ea typeface="Calibri"/>
                <a:cs typeface="Calibri"/>
              </a:rPr>
              <a:t>Explore tool use &amp; agents</a:t>
            </a:r>
            <a:endParaRPr sz="140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2F55419E-8966-8744-9CC0-B7233745AE1C}"/>
              </a:ext>
            </a:extLst>
          </p:cNvPr>
          <p:cNvSpPr>
            <a:spLocks noGrp="1"/>
          </p:cNvSpPr>
          <p:nvPr/>
        </p:nvSpPr>
        <p:spPr>
          <a:xfrm>
            <a:off x="1207008" y="4160520"/>
            <a:ext cx="74523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LangChain and LlamaIndex have good introductory tutorials — focus on the loop design</a:t>
            </a:r>
            <a:endParaRPr sz="110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4B4936B3-D8A8-D43C-9D5D-BB52A6CE3214}"/>
              </a:ext>
            </a:extLst>
          </p:cNvPr>
          <p:cNvSpPr>
            <a:spLocks noGrp="1"/>
          </p:cNvSpPr>
          <p:nvPr/>
        </p:nvSpPr>
        <p:spPr>
          <a:xfrm>
            <a:off x="1207008" y="4471416"/>
            <a:ext cx="74523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B8FAD"/>
                </a:solidFill>
                <a:latin typeface="Consolas"/>
                <a:ea typeface="Consolas"/>
                <a:cs typeface="Consolas"/>
              </a:rPr>
              <a:t>python.langchain.com/docs/tutorials</a:t>
            </a:r>
          </a:p>
          <a:p>
            <a:r>
              <a:rPr sz="900">
                <a:solidFill>
                  <a:srgbClr val="6B8FAD"/>
                </a:solidFill>
                <a:latin typeface="Consolas"/>
                <a:ea typeface="Consolas"/>
                <a:cs typeface="Consolas"/>
              </a:rPr>
              <a:t>docs.langchain.com/oss/javascript/langchain/overview</a:t>
            </a:r>
          </a:p>
        </p:txBody>
      </p:sp>
      <p:pic>
        <p:nvPicPr>
          <p:cNvPr id="47" name="Image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248" y="3191256"/>
            <a:ext cx="36576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0671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C671484-E6DA-11AF-C60C-14914342C579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Stuff Worth Stealing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FBAFB86-1DAA-5BB6-48E0-B51697CF7CA5}"/>
              </a:ext>
            </a:extLst>
          </p:cNvPr>
          <p:cNvSpPr>
            <a:spLocks noGrp="1"/>
          </p:cNvSpPr>
          <p:nvPr/>
        </p:nvSpPr>
        <p:spPr>
          <a:xfrm>
            <a:off x="502920" y="1307592"/>
            <a:ext cx="548640" cy="548640"/>
          </a:xfrm>
          <a:prstGeom prst="ellipse">
            <a:avLst/>
          </a:prstGeom>
          <a:solidFill>
            <a:srgbClr val="0A2C50"/>
          </a:solidFill>
          <a:ln w="12700">
            <a:solidFill>
              <a:srgbClr val="0A2C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AF7542F-F9BA-A4FA-03D9-3750B7BDCAA9}"/>
              </a:ext>
            </a:extLst>
          </p:cNvPr>
          <p:cNvSpPr>
            <a:spLocks noGrp="1"/>
          </p:cNvSpPr>
          <p:nvPr/>
        </p:nvSpPr>
        <p:spPr>
          <a:xfrm>
            <a:off x="1207008" y="1143000"/>
            <a:ext cx="38404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Hugging Face</a:t>
            </a:r>
            <a:endParaRPr sz="1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AF6B88-F7C6-9E02-7902-651C8E1B53FF}"/>
              </a:ext>
            </a:extLst>
          </p:cNvPr>
          <p:cNvSpPr>
            <a:spLocks noGrp="1"/>
          </p:cNvSpPr>
          <p:nvPr/>
        </p:nvSpPr>
        <p:spPr>
          <a:xfrm>
            <a:off x="1207008" y="1472184"/>
            <a:ext cx="74523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Explore models, datasets, Spaces, and practical machine-learning documentation.</a:t>
            </a:r>
            <a:endParaRPr sz="11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1105D45-7DA7-3C34-86F6-81DB04FEBE03}"/>
              </a:ext>
            </a:extLst>
          </p:cNvPr>
          <p:cNvSpPr>
            <a:spLocks noGrp="1"/>
          </p:cNvSpPr>
          <p:nvPr/>
        </p:nvSpPr>
        <p:spPr>
          <a:xfrm>
            <a:off x="1207008" y="1783080"/>
            <a:ext cx="74523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B8FAD"/>
                </a:solidFill>
                <a:latin typeface="Consolas"/>
                <a:ea typeface="Consolas"/>
                <a:cs typeface="Consolas"/>
              </a:rPr>
              <a:t>huggingface.co</a:t>
            </a:r>
            <a:endParaRPr sz="9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474209D9-12E1-630F-039C-3771A4D6DD3E}"/>
              </a:ext>
            </a:extLst>
          </p:cNvPr>
          <p:cNvSpPr>
            <a:spLocks noGrp="1"/>
          </p:cNvSpPr>
          <p:nvPr/>
        </p:nvSpPr>
        <p:spPr>
          <a:xfrm>
            <a:off x="502920" y="2203704"/>
            <a:ext cx="548640" cy="548640"/>
          </a:xfrm>
          <a:prstGeom prst="ellipse">
            <a:avLst/>
          </a:prstGeom>
          <a:solidFill>
            <a:srgbClr val="0A2C50"/>
          </a:solidFill>
          <a:ln w="12700">
            <a:solidFill>
              <a:srgbClr val="0A2C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66662DA1-FB56-A6D1-C9C8-EC182F55D2C7}"/>
              </a:ext>
            </a:extLst>
          </p:cNvPr>
          <p:cNvSpPr>
            <a:spLocks noGrp="1"/>
          </p:cNvSpPr>
          <p:nvPr/>
        </p:nvSpPr>
        <p:spPr>
          <a:xfrm>
            <a:off x="1207008" y="2039112"/>
            <a:ext cx="38404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34D399"/>
                </a:solidFill>
                <a:latin typeface="Calibri"/>
                <a:ea typeface="Calibri"/>
                <a:cs typeface="Calibri"/>
              </a:rPr>
              <a:t>Matt Pocock: AI coding skills</a:t>
            </a:r>
            <a:endParaRPr sz="140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0A51923D-CBF2-FFCC-A67D-D263ECCE9158}"/>
              </a:ext>
            </a:extLst>
          </p:cNvPr>
          <p:cNvSpPr>
            <a:spLocks noGrp="1"/>
          </p:cNvSpPr>
          <p:nvPr/>
        </p:nvSpPr>
        <p:spPr>
          <a:xfrm>
            <a:off x="1207008" y="2368296"/>
            <a:ext cx="74523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A popular developer workflow for planning, implementation, testing, and code review.</a:t>
            </a:r>
            <a:endParaRPr sz="11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745B5205-47E5-0083-5706-BD079DDDD5A2}"/>
              </a:ext>
            </a:extLst>
          </p:cNvPr>
          <p:cNvSpPr>
            <a:spLocks noGrp="1"/>
          </p:cNvSpPr>
          <p:nvPr/>
        </p:nvSpPr>
        <p:spPr>
          <a:xfrm>
            <a:off x="1207008" y="2679192"/>
            <a:ext cx="74523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B8FAD"/>
                </a:solidFill>
                <a:latin typeface="Consolas"/>
                <a:ea typeface="Consolas"/>
                <a:cs typeface="Consolas"/>
              </a:rPr>
              <a:t>Video: youtube.com/watch?v=M6mYodf0dJM    Skills: aihero.dev/skills</a:t>
            </a:r>
            <a:endParaRPr sz="90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364DB329-2D6E-CF27-901F-E260A4DAC753}"/>
              </a:ext>
            </a:extLst>
          </p:cNvPr>
          <p:cNvSpPr>
            <a:spLocks noGrp="1"/>
          </p:cNvSpPr>
          <p:nvPr/>
        </p:nvSpPr>
        <p:spPr>
          <a:xfrm>
            <a:off x="502920" y="3099816"/>
            <a:ext cx="548640" cy="548640"/>
          </a:xfrm>
          <a:prstGeom prst="ellipse">
            <a:avLst/>
          </a:prstGeom>
          <a:solidFill>
            <a:srgbClr val="0A2C50"/>
          </a:solidFill>
          <a:ln w="12700">
            <a:solidFill>
              <a:srgbClr val="0A2C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5D635117-90C9-5220-DA94-90C1444E6599}"/>
              </a:ext>
            </a:extLst>
          </p:cNvPr>
          <p:cNvSpPr>
            <a:spLocks noGrp="1"/>
          </p:cNvSpPr>
          <p:nvPr/>
        </p:nvSpPr>
        <p:spPr>
          <a:xfrm>
            <a:off x="1207008" y="2935224"/>
            <a:ext cx="38404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A78BFA"/>
                </a:solidFill>
                <a:latin typeface="Calibri"/>
                <a:ea typeface="Calibri"/>
                <a:cs typeface="Calibri"/>
              </a:rPr>
              <a:t>GPT mathematics, clearly explained</a:t>
            </a:r>
            <a:endParaRPr sz="140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2B40A6AF-E963-89A6-9125-C14CBE003B82}"/>
              </a:ext>
            </a:extLst>
          </p:cNvPr>
          <p:cNvSpPr>
            <a:spLocks noGrp="1"/>
          </p:cNvSpPr>
          <p:nvPr/>
        </p:nvSpPr>
        <p:spPr>
          <a:xfrm>
            <a:off x="1207008" y="3264408"/>
            <a:ext cx="74523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A visual explanation of decoder-only Transformers and the mathematics behind GPT.</a:t>
            </a:r>
            <a:endParaRPr sz="110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B3FD0D2C-B36C-2FBC-E06B-B81297441A14}"/>
              </a:ext>
            </a:extLst>
          </p:cNvPr>
          <p:cNvSpPr>
            <a:spLocks noGrp="1"/>
          </p:cNvSpPr>
          <p:nvPr/>
        </p:nvSpPr>
        <p:spPr>
          <a:xfrm>
            <a:off x="1207008" y="3575304"/>
            <a:ext cx="74523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900">
                <a:solidFill>
                  <a:srgbClr val="6B8FAD"/>
                </a:solidFill>
                <a:latin typeface="Consolas"/>
                <a:ea typeface="Consolas"/>
                <a:cs typeface="Consolas"/>
                <a:hlinkClick r:id="rId3"/>
              </a:rPr>
              <a:t>youtube.com/watch?v=bQ5BoolX9Ag</a:t>
            </a:r>
          </a:p>
          <a:p>
            <a:endParaRPr sz="900">
              <a:solidFill>
                <a:srgbClr val="6B8FAD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276220AA-BDB7-9585-537C-6FAD647AC3EC}"/>
              </a:ext>
            </a:extLst>
          </p:cNvPr>
          <p:cNvSpPr>
            <a:spLocks noGrp="1"/>
          </p:cNvSpPr>
          <p:nvPr/>
        </p:nvSpPr>
        <p:spPr>
          <a:xfrm>
            <a:off x="502920" y="3995928"/>
            <a:ext cx="548640" cy="548640"/>
          </a:xfrm>
          <a:prstGeom prst="ellipse">
            <a:avLst/>
          </a:prstGeom>
          <a:solidFill>
            <a:srgbClr val="0A2C50"/>
          </a:solidFill>
          <a:ln w="12700">
            <a:solidFill>
              <a:srgbClr val="0A2C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0FEA406F-177F-F021-1359-568A0680E04F}"/>
              </a:ext>
            </a:extLst>
          </p:cNvPr>
          <p:cNvSpPr>
            <a:spLocks noGrp="1"/>
          </p:cNvSpPr>
          <p:nvPr/>
        </p:nvSpPr>
        <p:spPr>
          <a:xfrm>
            <a:off x="1207008" y="3831336"/>
            <a:ext cx="38404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FBBF24"/>
                </a:solidFill>
                <a:latin typeface="Calibri"/>
                <a:ea typeface="Calibri"/>
                <a:cs typeface="Calibri"/>
              </a:rPr>
              <a:t>Windsurf / Devin Desktop</a:t>
            </a:r>
            <a:endParaRPr sz="140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2F55419E-8966-8744-9CC0-B7233745AE1C}"/>
              </a:ext>
            </a:extLst>
          </p:cNvPr>
          <p:cNvSpPr>
            <a:spLocks noGrp="1"/>
          </p:cNvSpPr>
          <p:nvPr/>
        </p:nvSpPr>
        <p:spPr>
          <a:xfrm>
            <a:off x="1207008" y="4160520"/>
            <a:ext cx="74523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My favourite IDE so far for coding with AI.</a:t>
            </a:r>
            <a:endParaRPr sz="110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4B4936B3-D8A8-D43C-9D5D-BB52A6CE3214}"/>
              </a:ext>
            </a:extLst>
          </p:cNvPr>
          <p:cNvSpPr>
            <a:spLocks noGrp="1"/>
          </p:cNvSpPr>
          <p:nvPr/>
        </p:nvSpPr>
        <p:spPr>
          <a:xfrm>
            <a:off x="1207008" y="4471416"/>
            <a:ext cx="74523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B8FAD"/>
                </a:solidFill>
                <a:latin typeface="Consolas"/>
                <a:ea typeface="Consolas"/>
                <a:cs typeface="Consolas"/>
              </a:rPr>
              <a:t>windsurf.com  (now redirects to devin.ai/desktop)</a:t>
            </a:r>
          </a:p>
          <a:p>
            <a:endParaRPr sz="900">
              <a:solidFill>
                <a:srgbClr val="6B8FAD"/>
              </a:solidFill>
              <a:latin typeface="Consolas"/>
              <a:ea typeface="Consolas"/>
              <a:cs typeface="Consolas"/>
            </a:endParaRPr>
          </a:p>
        </p:txBody>
      </p:sp>
      <p:pic>
        <p:nvPicPr>
          <p:cNvPr id="44" name="Graphic 4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95248" y="1399032"/>
            <a:ext cx="365760" cy="365760"/>
          </a:xfrm>
          <a:prstGeom prst="rect">
            <a:avLst/>
          </a:prstGeom>
        </p:spPr>
      </p:pic>
      <p:pic>
        <p:nvPicPr>
          <p:cNvPr id="45" name="Graphic 4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595248" y="2296033"/>
            <a:ext cx="363982" cy="363982"/>
          </a:xfrm>
          <a:prstGeom prst="rect">
            <a:avLst/>
          </a:prstGeom>
        </p:spPr>
      </p:pic>
      <p:pic>
        <p:nvPicPr>
          <p:cNvPr id="46" name="Graphic 4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595248" y="3191256"/>
            <a:ext cx="365760" cy="365760"/>
          </a:xfrm>
          <a:prstGeom prst="rect">
            <a:avLst/>
          </a:prstGeom>
        </p:spPr>
      </p:pic>
      <p:pic>
        <p:nvPicPr>
          <p:cNvPr id="47" name="Graphic 4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595248" y="4064103"/>
            <a:ext cx="36576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0671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D0A6FF-038D-498F-AE94-6064DAA9257B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Two Things to Keep</a:t>
            </a:r>
            <a:endParaRPr sz="30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B02435D-BE43-4523-8D3D-128CC027C7A4}"/>
              </a:ext>
            </a:extLst>
          </p:cNvPr>
          <p:cNvSpPr>
            <a:spLocks noGrp="1"/>
          </p:cNvSpPr>
          <p:nvPr/>
        </p:nvSpPr>
        <p:spPr>
          <a:xfrm>
            <a:off x="457200" y="109728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777B136-CCDF-45FE-A9CD-4DA5D618F887}"/>
              </a:ext>
            </a:extLst>
          </p:cNvPr>
          <p:cNvSpPr>
            <a:spLocks noGrp="1"/>
          </p:cNvSpPr>
          <p:nvPr/>
        </p:nvSpPr>
        <p:spPr>
          <a:xfrm>
            <a:off x="457200" y="1097280"/>
            <a:ext cx="91440" cy="1737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DF29865-3535-4AC8-80D9-020B12BA8BDC}"/>
              </a:ext>
            </a:extLst>
          </p:cNvPr>
          <p:cNvSpPr>
            <a:spLocks noGrp="1"/>
          </p:cNvSpPr>
          <p:nvPr/>
        </p:nvSpPr>
        <p:spPr>
          <a:xfrm>
            <a:off x="731520" y="1207008"/>
            <a:ext cx="76809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000" b="1">
                <a:solidFill>
                  <a:srgbClr val="38BDF8"/>
                </a:solidFill>
                <a:latin typeface="Trebuchet MS"/>
                <a:ea typeface="Trebuchet MS"/>
                <a:cs typeface="Trebuchet MS"/>
              </a:rPr>
              <a:t>Context shapes continuation.</a:t>
            </a:r>
            <a:endParaRPr sz="2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6E38FA0-557F-4F61-905F-F4591E708E45}"/>
              </a:ext>
            </a:extLst>
          </p:cNvPr>
          <p:cNvSpPr>
            <a:spLocks noGrp="1"/>
          </p:cNvSpPr>
          <p:nvPr/>
        </p:nvSpPr>
        <p:spPr>
          <a:xfrm>
            <a:off x="731520" y="1847088"/>
            <a:ext cx="7680960" cy="89611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3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This explains everything: why prompting works, why the model hallucinates, why structured prompts help, why system prompts matter. It is one mental model for the whole field.</a:t>
            </a:r>
            <a:endParaRPr sz="13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3794B1F-9E07-4E8B-985C-5F4445621D91}"/>
              </a:ext>
            </a:extLst>
          </p:cNvPr>
          <p:cNvSpPr>
            <a:spLocks noGrp="1"/>
          </p:cNvSpPr>
          <p:nvPr/>
        </p:nvSpPr>
        <p:spPr>
          <a:xfrm>
            <a:off x="457200" y="301752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3CEC4CD-DBAC-4F20-8D29-41F63D2CEEBB}"/>
              </a:ext>
            </a:extLst>
          </p:cNvPr>
          <p:cNvSpPr>
            <a:spLocks noGrp="1"/>
          </p:cNvSpPr>
          <p:nvPr/>
        </p:nvSpPr>
        <p:spPr>
          <a:xfrm>
            <a:off x="457200" y="3017520"/>
            <a:ext cx="91440" cy="17373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90FEA5E-94C4-4B52-9723-F7D334A588BA}"/>
              </a:ext>
            </a:extLst>
          </p:cNvPr>
          <p:cNvSpPr>
            <a:spLocks noGrp="1"/>
          </p:cNvSpPr>
          <p:nvPr/>
        </p:nvSpPr>
        <p:spPr>
          <a:xfrm>
            <a:off x="731520" y="3127248"/>
            <a:ext cx="76809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000" b="1">
                <a:solidFill>
                  <a:srgbClr val="FBBF24"/>
                </a:solidFill>
                <a:latin typeface="Trebuchet MS"/>
                <a:ea typeface="Trebuchet MS"/>
                <a:cs typeface="Trebuchet MS"/>
              </a:rPr>
              <a:t>AI makes you faster.</a:t>
            </a:r>
            <a:endParaRPr sz="2000"/>
          </a:p>
          <a:p>
            <a:pPr marL="0" indent="0">
              <a:buNone/>
            </a:pPr>
            <a:r>
              <a:rPr sz="2000" b="1">
                <a:solidFill>
                  <a:srgbClr val="FBBF24"/>
                </a:solidFill>
                <a:latin typeface="Trebuchet MS"/>
                <a:ea typeface="Trebuchet MS"/>
                <a:cs typeface="Trebuchet MS"/>
              </a:rPr>
              <a:t>Engineering practices make that speed safe.</a:t>
            </a:r>
            <a:endParaRPr sz="20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70899BB-4DC3-481C-AB97-3F40CB2F41C8}"/>
              </a:ext>
            </a:extLst>
          </p:cNvPr>
          <p:cNvSpPr>
            <a:spLocks noGrp="1"/>
          </p:cNvSpPr>
          <p:nvPr/>
        </p:nvSpPr>
        <p:spPr>
          <a:xfrm>
            <a:off x="731520" y="3767328"/>
            <a:ext cx="7680960" cy="89611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300">
                <a:solidFill>
                  <a:srgbClr val="F0F6FC"/>
                </a:solidFill>
                <a:latin typeface="Calibri"/>
                <a:ea typeface="Calibri"/>
                <a:cs typeface="Calibri"/>
              </a:rPr>
              <a:t>Review generated code. Test outputs. Validate schemas. Design for failure. These habits are part of using AI well.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50092222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F97DE6B-6C74-493F-85FF-57082C24DCFA}"/>
              </a:ext>
            </a:extLst>
          </p:cNvPr>
          <p:cNvSpPr>
            <a:spLocks noGrp="1"/>
          </p:cNvSpPr>
          <p:nvPr/>
        </p:nvSpPr>
        <p:spPr>
          <a:xfrm>
            <a:off x="1371600" y="457200"/>
            <a:ext cx="6400800" cy="4572000"/>
          </a:xfrm>
          <a:prstGeom prst="ellipse">
            <a:avLst/>
          </a:prstGeom>
          <a:solidFill>
            <a:srgbClr val="0C2D52">
              <a:alpha val="60000"/>
            </a:srgbClr>
          </a:solidFill>
          <a:ln w="12700">
            <a:solidFill>
              <a:srgbClr val="0C2D5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594360"/>
            <a:ext cx="1005840" cy="10058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10C94859-F629-4BF1-8C3F-7AA18B9004F0}"/>
              </a:ext>
            </a:extLst>
          </p:cNvPr>
          <p:cNvSpPr>
            <a:spLocks noGrp="1"/>
          </p:cNvSpPr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6000" b="1">
                <a:solidFill>
                  <a:srgbClr val="F0F6FC"/>
                </a:solidFill>
                <a:latin typeface="Trebuchet MS"/>
                <a:ea typeface="Trebuchet MS"/>
                <a:cs typeface="Trebuchet MS"/>
              </a:rPr>
              <a:t>Questions?</a:t>
            </a:r>
            <a:endParaRPr sz="60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368E7B2-A332-4DF4-91DD-DA89DC4CBE83}"/>
              </a:ext>
            </a:extLst>
          </p:cNvPr>
          <p:cNvSpPr>
            <a:spLocks noGrp="1"/>
          </p:cNvSpPr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800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Thank you. Go build something.</a:t>
            </a:r>
            <a:endParaRPr sz="18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3A809FBC-C680-4076-8F90-1A816AE62BB9}"/>
              </a:ext>
            </a:extLst>
          </p:cNvPr>
          <p:cNvSpPr>
            <a:spLocks noGrp="1"/>
          </p:cNvSpPr>
          <p:nvPr/>
        </p:nvSpPr>
        <p:spPr>
          <a:xfrm>
            <a:off x="4114800" y="3520440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8A5072DE-6890-4732-8B53-95DAAE6A1575}"/>
              </a:ext>
            </a:extLst>
          </p:cNvPr>
          <p:cNvSpPr>
            <a:spLocks noGrp="1"/>
          </p:cNvSpPr>
          <p:nvPr/>
        </p:nvSpPr>
        <p:spPr>
          <a:xfrm>
            <a:off x="4572000" y="352044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C0489302-F337-4DE5-B706-9DA61573B48E}"/>
              </a:ext>
            </a:extLst>
          </p:cNvPr>
          <p:cNvSpPr>
            <a:spLocks noGrp="1"/>
          </p:cNvSpPr>
          <p:nvPr/>
        </p:nvSpPr>
        <p:spPr>
          <a:xfrm>
            <a:off x="5029200" y="352044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72712305"/>
      </p:ext>
    </p:extLst>
  </p:cSld>
  <p:clrMapOvr>
    <a:masterClrMapping/>
  </p:clrMapOvr>
</p:sld>
</file>

<file path=ppt/theme/theme1.xml><?xml version="1.0" encoding="utf-8"?>
<a:theme xmlns:a="http://schemas.openxmlformats.org/drawingml/2006/main" name="Workshop_Sty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orkshop_Sty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2538</TotalTime>
  <Words>9176</Words>
  <Application>Microsoft Macintosh PowerPoint</Application>
  <DocSecurity>0</DocSecurity>
  <PresentationFormat>On-screen Show (16:9)</PresentationFormat>
  <Paragraphs>796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9" baseType="lpstr">
      <vt:lpstr>Arial</vt:lpstr>
      <vt:lpstr>Calibri</vt:lpstr>
      <vt:lpstr>Consolas</vt:lpstr>
      <vt:lpstr>Trebuchet MS</vt:lpstr>
      <vt:lpstr>Workshop_Style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Justas Buzaitis</cp:lastModifiedBy>
  <cp:revision>5</cp:revision>
  <dcterms:created xsi:type="dcterms:W3CDTF">2026-09-23T11:25:09Z</dcterms:created>
  <dcterms:modified xsi:type="dcterms:W3CDTF">2026-09-25T06:26:00Z</dcterms:modified>
</cp:coreProperties>
</file>